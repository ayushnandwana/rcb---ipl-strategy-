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6" r:id="rId16"/>
    <p:sldId id="270" r:id="rId17"/>
    <p:sldId id="271" r:id="rId18"/>
    <p:sldId id="272" r:id="rId19"/>
    <p:sldId id="273" r:id="rId20"/>
    <p:sldId id="274" r:id="rId21"/>
    <p:sldId id="27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78EE84-3779-463A-917A-AAF493DB82F9}" v="280" dt="2026-01-01T11:40:51.677"/>
    <p1510:client id="{EC9E209D-F24E-40D4-8883-EAA6BC612F29}" v="354" dt="2026-01-02T05:17:19.4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26F8702-5F54-4CCB-85AE-532CD67E4F5B}"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734580C4-4138-41D1-B5BC-E3487E6E7759}">
      <dgm:prSet/>
      <dgm:spPr/>
      <dgm:t>
        <a:bodyPr/>
        <a:lstStyle/>
        <a:p>
          <a:r>
            <a:rPr lang="en-US" b="1"/>
            <a:t>1. Win Percentage</a:t>
          </a:r>
          <a:endParaRPr lang="en-US"/>
        </a:p>
      </dgm:t>
    </dgm:pt>
    <dgm:pt modelId="{3143C9A6-25CF-4AAF-8F4B-76B59CB5B415}" type="parTrans" cxnId="{B41DC93A-2F9F-4665-B8AC-599024AE2930}">
      <dgm:prSet/>
      <dgm:spPr/>
      <dgm:t>
        <a:bodyPr/>
        <a:lstStyle/>
        <a:p>
          <a:endParaRPr lang="en-US"/>
        </a:p>
      </dgm:t>
    </dgm:pt>
    <dgm:pt modelId="{E7F01F2D-829F-43CE-9C07-9A4CCF802F57}" type="sibTrans" cxnId="{B41DC93A-2F9F-4665-B8AC-599024AE2930}">
      <dgm:prSet/>
      <dgm:spPr/>
      <dgm:t>
        <a:bodyPr/>
        <a:lstStyle/>
        <a:p>
          <a:endParaRPr lang="en-US"/>
        </a:p>
      </dgm:t>
    </dgm:pt>
    <dgm:pt modelId="{78F48030-71D1-4918-A1CE-FFFBC2297C67}">
      <dgm:prSet/>
      <dgm:spPr/>
      <dgm:t>
        <a:bodyPr/>
        <a:lstStyle/>
        <a:p>
          <a:r>
            <a:rPr lang="en-US"/>
            <a:t>Measures overall success rate across seasons</a:t>
          </a:r>
        </a:p>
      </dgm:t>
    </dgm:pt>
    <dgm:pt modelId="{E437FEC9-06E3-49FA-B7F3-2953B958B9D7}" type="parTrans" cxnId="{3EA1A54F-A00C-4B15-9F0D-ED4970835D70}">
      <dgm:prSet/>
      <dgm:spPr/>
      <dgm:t>
        <a:bodyPr/>
        <a:lstStyle/>
        <a:p>
          <a:endParaRPr lang="en-US"/>
        </a:p>
      </dgm:t>
    </dgm:pt>
    <dgm:pt modelId="{96285241-D381-4ED6-96EA-3BFFB0F07C68}" type="sibTrans" cxnId="{3EA1A54F-A00C-4B15-9F0D-ED4970835D70}">
      <dgm:prSet/>
      <dgm:spPr/>
      <dgm:t>
        <a:bodyPr/>
        <a:lstStyle/>
        <a:p>
          <a:endParaRPr lang="en-US"/>
        </a:p>
      </dgm:t>
    </dgm:pt>
    <dgm:pt modelId="{A1B1EC58-81DE-4BF0-8D8C-3AE4480546DE}">
      <dgm:prSet/>
      <dgm:spPr/>
      <dgm:t>
        <a:bodyPr/>
        <a:lstStyle/>
        <a:p>
          <a:r>
            <a:rPr lang="en-US"/>
            <a:t>(Matches Won / Matches Played) × 100</a:t>
          </a:r>
        </a:p>
      </dgm:t>
    </dgm:pt>
    <dgm:pt modelId="{A3302F02-0C12-4249-83C1-C2E0C44E2148}" type="parTrans" cxnId="{7A3FA899-48A8-4103-9319-D33611CEA408}">
      <dgm:prSet/>
      <dgm:spPr/>
      <dgm:t>
        <a:bodyPr/>
        <a:lstStyle/>
        <a:p>
          <a:endParaRPr lang="en-US"/>
        </a:p>
      </dgm:t>
    </dgm:pt>
    <dgm:pt modelId="{9BDFEF3F-94F2-4ECF-BC02-AFF010AAB84C}" type="sibTrans" cxnId="{7A3FA899-48A8-4103-9319-D33611CEA408}">
      <dgm:prSet/>
      <dgm:spPr/>
      <dgm:t>
        <a:bodyPr/>
        <a:lstStyle/>
        <a:p>
          <a:endParaRPr lang="en-US"/>
        </a:p>
      </dgm:t>
    </dgm:pt>
    <dgm:pt modelId="{162E6029-D1B7-4609-9622-B52B2C62A5CB}">
      <dgm:prSet/>
      <dgm:spPr/>
      <dgm:t>
        <a:bodyPr/>
        <a:lstStyle/>
        <a:p>
          <a:r>
            <a:rPr lang="en-US" b="1"/>
            <a:t>2. Average Runs per Match</a:t>
          </a:r>
          <a:endParaRPr lang="en-US"/>
        </a:p>
      </dgm:t>
    </dgm:pt>
    <dgm:pt modelId="{D9270FE2-6355-4D0C-98A8-BBBD6861B143}" type="parTrans" cxnId="{F1742E18-F3A8-46F3-9DAF-F571DA1DFAF8}">
      <dgm:prSet/>
      <dgm:spPr/>
      <dgm:t>
        <a:bodyPr/>
        <a:lstStyle/>
        <a:p>
          <a:endParaRPr lang="en-US"/>
        </a:p>
      </dgm:t>
    </dgm:pt>
    <dgm:pt modelId="{E23188FB-78DF-49E4-B72A-282AB66A66AB}" type="sibTrans" cxnId="{F1742E18-F3A8-46F3-9DAF-F571DA1DFAF8}">
      <dgm:prSet/>
      <dgm:spPr/>
      <dgm:t>
        <a:bodyPr/>
        <a:lstStyle/>
        <a:p>
          <a:endParaRPr lang="en-US"/>
        </a:p>
      </dgm:t>
    </dgm:pt>
    <dgm:pt modelId="{38E824EA-6126-4494-B8BE-D78E97F25445}">
      <dgm:prSet/>
      <dgm:spPr/>
      <dgm:t>
        <a:bodyPr/>
        <a:lstStyle/>
        <a:p>
          <a:r>
            <a:rPr lang="en-US"/>
            <a:t>Measures team's scoring consistency</a:t>
          </a:r>
        </a:p>
      </dgm:t>
    </dgm:pt>
    <dgm:pt modelId="{0620C0F0-C134-42B3-AD54-BA018AB86087}" type="parTrans" cxnId="{587F5E3F-4B54-4F9F-983E-F2D513C178A8}">
      <dgm:prSet/>
      <dgm:spPr/>
      <dgm:t>
        <a:bodyPr/>
        <a:lstStyle/>
        <a:p>
          <a:endParaRPr lang="en-US"/>
        </a:p>
      </dgm:t>
    </dgm:pt>
    <dgm:pt modelId="{FD7D6B9E-3BCA-48DE-9F9C-BDD11BDDA6EC}" type="sibTrans" cxnId="{587F5E3F-4B54-4F9F-983E-F2D513C178A8}">
      <dgm:prSet/>
      <dgm:spPr/>
      <dgm:t>
        <a:bodyPr/>
        <a:lstStyle/>
        <a:p>
          <a:endParaRPr lang="en-US"/>
        </a:p>
      </dgm:t>
    </dgm:pt>
    <dgm:pt modelId="{63457293-98C6-4D77-9994-EE1B9C4DD1ED}">
      <dgm:prSet/>
      <dgm:spPr/>
      <dgm:t>
        <a:bodyPr/>
        <a:lstStyle/>
        <a:p>
          <a:r>
            <a:rPr lang="en-US"/>
            <a:t>Total Runs Scored / Total Matches Played</a:t>
          </a:r>
        </a:p>
      </dgm:t>
    </dgm:pt>
    <dgm:pt modelId="{75422F86-EAF1-4056-A74B-F854087B118E}" type="parTrans" cxnId="{CDEE0B9B-4768-48CB-BA3A-F1DE737A4CE1}">
      <dgm:prSet/>
      <dgm:spPr/>
      <dgm:t>
        <a:bodyPr/>
        <a:lstStyle/>
        <a:p>
          <a:endParaRPr lang="en-US"/>
        </a:p>
      </dgm:t>
    </dgm:pt>
    <dgm:pt modelId="{BD98CAA9-150E-4DD8-9DDB-F253F65D6217}" type="sibTrans" cxnId="{CDEE0B9B-4768-48CB-BA3A-F1DE737A4CE1}">
      <dgm:prSet/>
      <dgm:spPr/>
      <dgm:t>
        <a:bodyPr/>
        <a:lstStyle/>
        <a:p>
          <a:endParaRPr lang="en-US"/>
        </a:p>
      </dgm:t>
    </dgm:pt>
    <dgm:pt modelId="{7AF8A56F-85F3-4EC0-97C0-E48B6317D215}">
      <dgm:prSet/>
      <dgm:spPr/>
      <dgm:t>
        <a:bodyPr/>
        <a:lstStyle/>
        <a:p>
          <a:r>
            <a:rPr lang="en-US" b="1"/>
            <a:t>3. Average Wickets per Match</a:t>
          </a:r>
          <a:endParaRPr lang="en-US"/>
        </a:p>
      </dgm:t>
    </dgm:pt>
    <dgm:pt modelId="{E757E2F5-CEC8-4BE0-B927-A4B4817651C6}" type="parTrans" cxnId="{F2FDFE41-4D01-4138-A982-236BA204ADA0}">
      <dgm:prSet/>
      <dgm:spPr/>
      <dgm:t>
        <a:bodyPr/>
        <a:lstStyle/>
        <a:p>
          <a:endParaRPr lang="en-US"/>
        </a:p>
      </dgm:t>
    </dgm:pt>
    <dgm:pt modelId="{6811E9AD-3713-4D31-9A37-7050375A650A}" type="sibTrans" cxnId="{F2FDFE41-4D01-4138-A982-236BA204ADA0}">
      <dgm:prSet/>
      <dgm:spPr/>
      <dgm:t>
        <a:bodyPr/>
        <a:lstStyle/>
        <a:p>
          <a:endParaRPr lang="en-US"/>
        </a:p>
      </dgm:t>
    </dgm:pt>
    <dgm:pt modelId="{01937FDC-82EC-4004-82D8-2A870E375668}">
      <dgm:prSet/>
      <dgm:spPr/>
      <dgm:t>
        <a:bodyPr/>
        <a:lstStyle/>
        <a:p>
          <a:r>
            <a:rPr lang="en-US"/>
            <a:t>Shows bowling strength of team</a:t>
          </a:r>
        </a:p>
      </dgm:t>
    </dgm:pt>
    <dgm:pt modelId="{B4D595D5-C5E2-41BE-9A2A-E3726AF49F02}" type="parTrans" cxnId="{08F42C2C-5D88-4D48-A61D-3F06FD12651C}">
      <dgm:prSet/>
      <dgm:spPr/>
      <dgm:t>
        <a:bodyPr/>
        <a:lstStyle/>
        <a:p>
          <a:endParaRPr lang="en-US"/>
        </a:p>
      </dgm:t>
    </dgm:pt>
    <dgm:pt modelId="{28EE5064-97ED-4701-B698-D82120158B1E}" type="sibTrans" cxnId="{08F42C2C-5D88-4D48-A61D-3F06FD12651C}">
      <dgm:prSet/>
      <dgm:spPr/>
      <dgm:t>
        <a:bodyPr/>
        <a:lstStyle/>
        <a:p>
          <a:endParaRPr lang="en-US"/>
        </a:p>
      </dgm:t>
    </dgm:pt>
    <dgm:pt modelId="{725D2C87-F451-4F4E-8CE4-26755D81AC55}">
      <dgm:prSet/>
      <dgm:spPr/>
      <dgm:t>
        <a:bodyPr/>
        <a:lstStyle/>
        <a:p>
          <a:r>
            <a:rPr lang="en-US"/>
            <a:t>Total Wickets Taken / Total Matches Played</a:t>
          </a:r>
        </a:p>
      </dgm:t>
    </dgm:pt>
    <dgm:pt modelId="{1C86677E-BF42-4EAF-BE47-454BB8304ABD}" type="parTrans" cxnId="{9609560C-73DD-42F6-A39B-158648A2DEE8}">
      <dgm:prSet/>
      <dgm:spPr/>
      <dgm:t>
        <a:bodyPr/>
        <a:lstStyle/>
        <a:p>
          <a:endParaRPr lang="en-US"/>
        </a:p>
      </dgm:t>
    </dgm:pt>
    <dgm:pt modelId="{08DE188B-010D-4DBE-B2BA-66E89DE25EBA}" type="sibTrans" cxnId="{9609560C-73DD-42F6-A39B-158648A2DEE8}">
      <dgm:prSet/>
      <dgm:spPr/>
      <dgm:t>
        <a:bodyPr/>
        <a:lstStyle/>
        <a:p>
          <a:endParaRPr lang="en-US"/>
        </a:p>
      </dgm:t>
    </dgm:pt>
    <dgm:pt modelId="{30A86812-3C70-4E6A-B39F-0C93034878BD}">
      <dgm:prSet/>
      <dgm:spPr/>
      <dgm:t>
        <a:bodyPr/>
        <a:lstStyle/>
        <a:p>
          <a:r>
            <a:rPr lang="en-US" b="1"/>
            <a:t>4. Run Rate</a:t>
          </a:r>
          <a:endParaRPr lang="en-US"/>
        </a:p>
      </dgm:t>
    </dgm:pt>
    <dgm:pt modelId="{38B3DD3E-F0A6-4081-9A0D-131719AF232A}" type="parTrans" cxnId="{1A0BA76D-8B0D-44E7-BF97-968E88C5AA71}">
      <dgm:prSet/>
      <dgm:spPr/>
      <dgm:t>
        <a:bodyPr/>
        <a:lstStyle/>
        <a:p>
          <a:endParaRPr lang="en-US"/>
        </a:p>
      </dgm:t>
    </dgm:pt>
    <dgm:pt modelId="{B2B9D6D1-008F-4B1D-9200-60FBBE67D288}" type="sibTrans" cxnId="{1A0BA76D-8B0D-44E7-BF97-968E88C5AA71}">
      <dgm:prSet/>
      <dgm:spPr/>
      <dgm:t>
        <a:bodyPr/>
        <a:lstStyle/>
        <a:p>
          <a:endParaRPr lang="en-US"/>
        </a:p>
      </dgm:t>
    </dgm:pt>
    <dgm:pt modelId="{C4536321-0EC2-498C-A5E9-1EFA98A681A8}">
      <dgm:prSet/>
      <dgm:spPr/>
      <dgm:t>
        <a:bodyPr/>
        <a:lstStyle/>
        <a:p>
          <a:r>
            <a:rPr lang="en-US"/>
            <a:t>Measures scoring speed across matches</a:t>
          </a:r>
        </a:p>
      </dgm:t>
    </dgm:pt>
    <dgm:pt modelId="{2360FC56-24FF-4F52-9AB4-E68E344E9092}" type="parTrans" cxnId="{8B0D9046-AE93-4EBD-8506-B89552BDDBFD}">
      <dgm:prSet/>
      <dgm:spPr/>
      <dgm:t>
        <a:bodyPr/>
        <a:lstStyle/>
        <a:p>
          <a:endParaRPr lang="en-US"/>
        </a:p>
      </dgm:t>
    </dgm:pt>
    <dgm:pt modelId="{5AC0C5B2-6F30-4AA6-A267-A50858F00501}" type="sibTrans" cxnId="{8B0D9046-AE93-4EBD-8506-B89552BDDBFD}">
      <dgm:prSet/>
      <dgm:spPr/>
      <dgm:t>
        <a:bodyPr/>
        <a:lstStyle/>
        <a:p>
          <a:endParaRPr lang="en-US"/>
        </a:p>
      </dgm:t>
    </dgm:pt>
    <dgm:pt modelId="{3D2844FA-2313-4CA9-9D51-50F476E7C9E8}">
      <dgm:prSet/>
      <dgm:spPr/>
      <dgm:t>
        <a:bodyPr/>
        <a:lstStyle/>
        <a:p>
          <a:r>
            <a:rPr lang="en-US"/>
            <a:t>Total Runs Scored / Total Overs Faced</a:t>
          </a:r>
        </a:p>
      </dgm:t>
    </dgm:pt>
    <dgm:pt modelId="{E6A4BB26-88C5-43AA-9605-01239BD60B2C}" type="parTrans" cxnId="{E506F104-F67D-4B24-B6D2-6E0637557036}">
      <dgm:prSet/>
      <dgm:spPr/>
      <dgm:t>
        <a:bodyPr/>
        <a:lstStyle/>
        <a:p>
          <a:endParaRPr lang="en-US"/>
        </a:p>
      </dgm:t>
    </dgm:pt>
    <dgm:pt modelId="{468A85D4-D617-41A5-8229-F6F26FFCAB55}" type="sibTrans" cxnId="{E506F104-F67D-4B24-B6D2-6E0637557036}">
      <dgm:prSet/>
      <dgm:spPr/>
      <dgm:t>
        <a:bodyPr/>
        <a:lstStyle/>
        <a:p>
          <a:endParaRPr lang="en-US"/>
        </a:p>
      </dgm:t>
    </dgm:pt>
    <dgm:pt modelId="{7D77A12B-5F40-41EB-86AD-EB7646D7CD21}">
      <dgm:prSet/>
      <dgm:spPr/>
      <dgm:t>
        <a:bodyPr/>
        <a:lstStyle/>
        <a:p>
          <a:r>
            <a:rPr lang="en-US" b="1"/>
            <a:t>5. Toss Impact KPI</a:t>
          </a:r>
          <a:endParaRPr lang="en-US"/>
        </a:p>
      </dgm:t>
    </dgm:pt>
    <dgm:pt modelId="{C1C86E1A-ED2F-42C6-ACF4-8D940D7EA0A3}" type="parTrans" cxnId="{76FCF48B-30FE-40B2-A65A-773DF1F86B0C}">
      <dgm:prSet/>
      <dgm:spPr/>
      <dgm:t>
        <a:bodyPr/>
        <a:lstStyle/>
        <a:p>
          <a:endParaRPr lang="en-US"/>
        </a:p>
      </dgm:t>
    </dgm:pt>
    <dgm:pt modelId="{AD692948-A103-4AD5-91F5-9AFF3555815E}" type="sibTrans" cxnId="{76FCF48B-30FE-40B2-A65A-773DF1F86B0C}">
      <dgm:prSet/>
      <dgm:spPr/>
      <dgm:t>
        <a:bodyPr/>
        <a:lstStyle/>
        <a:p>
          <a:endParaRPr lang="en-US"/>
        </a:p>
      </dgm:t>
    </dgm:pt>
    <dgm:pt modelId="{B7C5FDEE-5CC4-4B29-970B-82F1C622AD41}">
      <dgm:prSet/>
      <dgm:spPr/>
      <dgm:t>
        <a:bodyPr/>
        <a:lstStyle/>
        <a:p>
          <a:r>
            <a:rPr lang="en-US"/>
            <a:t>Win % after toss decision (bat/field)</a:t>
          </a:r>
        </a:p>
      </dgm:t>
    </dgm:pt>
    <dgm:pt modelId="{16B2F796-A772-408A-B55F-54B105B7CFC5}" type="parTrans" cxnId="{8BC02A32-F519-45CC-9DE4-CD0F2F1AC21B}">
      <dgm:prSet/>
      <dgm:spPr/>
      <dgm:t>
        <a:bodyPr/>
        <a:lstStyle/>
        <a:p>
          <a:endParaRPr lang="en-US"/>
        </a:p>
      </dgm:t>
    </dgm:pt>
    <dgm:pt modelId="{2516643F-7F5C-4603-B5BF-3F4876A7B568}" type="sibTrans" cxnId="{8BC02A32-F519-45CC-9DE4-CD0F2F1AC21B}">
      <dgm:prSet/>
      <dgm:spPr/>
      <dgm:t>
        <a:bodyPr/>
        <a:lstStyle/>
        <a:p>
          <a:endParaRPr lang="en-US"/>
        </a:p>
      </dgm:t>
    </dgm:pt>
    <dgm:pt modelId="{FC4EC42F-9CD1-48BD-AC03-7C548F4B0FA5}">
      <dgm:prSet/>
      <dgm:spPr/>
      <dgm:t>
        <a:bodyPr/>
        <a:lstStyle/>
        <a:p>
          <a:r>
            <a:rPr lang="en-US"/>
            <a:t>(Wins After Decision / Matches with That Decision) × 100</a:t>
          </a:r>
        </a:p>
      </dgm:t>
    </dgm:pt>
    <dgm:pt modelId="{4E38EE2D-B0F3-4AA8-8F3E-FABDEE21A56F}" type="parTrans" cxnId="{249917F6-9CDF-4B50-9105-3E636674D91E}">
      <dgm:prSet/>
      <dgm:spPr/>
      <dgm:t>
        <a:bodyPr/>
        <a:lstStyle/>
        <a:p>
          <a:endParaRPr lang="en-US"/>
        </a:p>
      </dgm:t>
    </dgm:pt>
    <dgm:pt modelId="{EA6BAAC1-AAEA-429C-8A2A-F0F281A7B789}" type="sibTrans" cxnId="{249917F6-9CDF-4B50-9105-3E636674D91E}">
      <dgm:prSet/>
      <dgm:spPr/>
      <dgm:t>
        <a:bodyPr/>
        <a:lstStyle/>
        <a:p>
          <a:endParaRPr lang="en-US"/>
        </a:p>
      </dgm:t>
    </dgm:pt>
    <dgm:pt modelId="{F84C1A82-7CE3-4DD7-BAD6-F58FEDF3AD69}" type="pres">
      <dgm:prSet presAssocID="{926F8702-5F54-4CCB-85AE-532CD67E4F5B}" presName="vert0" presStyleCnt="0">
        <dgm:presLayoutVars>
          <dgm:dir/>
          <dgm:animOne val="branch"/>
          <dgm:animLvl val="lvl"/>
        </dgm:presLayoutVars>
      </dgm:prSet>
      <dgm:spPr/>
    </dgm:pt>
    <dgm:pt modelId="{12B7DCF3-B7BF-41A4-904D-ECD404E8A882}" type="pres">
      <dgm:prSet presAssocID="{734580C4-4138-41D1-B5BC-E3487E6E7759}" presName="thickLine" presStyleLbl="alignNode1" presStyleIdx="0" presStyleCnt="15"/>
      <dgm:spPr/>
    </dgm:pt>
    <dgm:pt modelId="{E5FA2DD0-779E-4EB2-97D7-B2A1EC460CA1}" type="pres">
      <dgm:prSet presAssocID="{734580C4-4138-41D1-B5BC-E3487E6E7759}" presName="horz1" presStyleCnt="0"/>
      <dgm:spPr/>
    </dgm:pt>
    <dgm:pt modelId="{4B041F8C-6769-403D-B329-86A563364D9D}" type="pres">
      <dgm:prSet presAssocID="{734580C4-4138-41D1-B5BC-E3487E6E7759}" presName="tx1" presStyleLbl="revTx" presStyleIdx="0" presStyleCnt="15"/>
      <dgm:spPr/>
    </dgm:pt>
    <dgm:pt modelId="{7928E78F-A7BC-4FD2-B37F-F7B1E0586601}" type="pres">
      <dgm:prSet presAssocID="{734580C4-4138-41D1-B5BC-E3487E6E7759}" presName="vert1" presStyleCnt="0"/>
      <dgm:spPr/>
    </dgm:pt>
    <dgm:pt modelId="{0F80017A-1D83-4DD7-A33A-FB6B5DE32BDD}" type="pres">
      <dgm:prSet presAssocID="{78F48030-71D1-4918-A1CE-FFFBC2297C67}" presName="thickLine" presStyleLbl="alignNode1" presStyleIdx="1" presStyleCnt="15"/>
      <dgm:spPr/>
    </dgm:pt>
    <dgm:pt modelId="{6DA9BFDB-6A5F-419B-8FF6-5A6E63AF0771}" type="pres">
      <dgm:prSet presAssocID="{78F48030-71D1-4918-A1CE-FFFBC2297C67}" presName="horz1" presStyleCnt="0"/>
      <dgm:spPr/>
    </dgm:pt>
    <dgm:pt modelId="{EF9CC4F8-60F2-4974-9FF9-496F6A02CF32}" type="pres">
      <dgm:prSet presAssocID="{78F48030-71D1-4918-A1CE-FFFBC2297C67}" presName="tx1" presStyleLbl="revTx" presStyleIdx="1" presStyleCnt="15"/>
      <dgm:spPr/>
    </dgm:pt>
    <dgm:pt modelId="{CC25402F-D976-40EC-B0C4-8679180C1011}" type="pres">
      <dgm:prSet presAssocID="{78F48030-71D1-4918-A1CE-FFFBC2297C67}" presName="vert1" presStyleCnt="0"/>
      <dgm:spPr/>
    </dgm:pt>
    <dgm:pt modelId="{626DCB96-C4F6-41FC-880E-9A0265C88418}" type="pres">
      <dgm:prSet presAssocID="{A1B1EC58-81DE-4BF0-8D8C-3AE4480546DE}" presName="thickLine" presStyleLbl="alignNode1" presStyleIdx="2" presStyleCnt="15"/>
      <dgm:spPr/>
    </dgm:pt>
    <dgm:pt modelId="{554377E8-EC28-466F-BF14-77A8A95BD8A2}" type="pres">
      <dgm:prSet presAssocID="{A1B1EC58-81DE-4BF0-8D8C-3AE4480546DE}" presName="horz1" presStyleCnt="0"/>
      <dgm:spPr/>
    </dgm:pt>
    <dgm:pt modelId="{302C9D0E-2E4C-4B3E-A36C-13A882627049}" type="pres">
      <dgm:prSet presAssocID="{A1B1EC58-81DE-4BF0-8D8C-3AE4480546DE}" presName="tx1" presStyleLbl="revTx" presStyleIdx="2" presStyleCnt="15"/>
      <dgm:spPr/>
    </dgm:pt>
    <dgm:pt modelId="{9C467E40-0D20-43CC-8F6F-AF8CEFF90011}" type="pres">
      <dgm:prSet presAssocID="{A1B1EC58-81DE-4BF0-8D8C-3AE4480546DE}" presName="vert1" presStyleCnt="0"/>
      <dgm:spPr/>
    </dgm:pt>
    <dgm:pt modelId="{EAD0F39A-8B7C-4DEE-AA26-154CCCFCE811}" type="pres">
      <dgm:prSet presAssocID="{162E6029-D1B7-4609-9622-B52B2C62A5CB}" presName="thickLine" presStyleLbl="alignNode1" presStyleIdx="3" presStyleCnt="15"/>
      <dgm:spPr/>
    </dgm:pt>
    <dgm:pt modelId="{88844A9A-99EA-433F-ACA1-ECB986CDB37A}" type="pres">
      <dgm:prSet presAssocID="{162E6029-D1B7-4609-9622-B52B2C62A5CB}" presName="horz1" presStyleCnt="0"/>
      <dgm:spPr/>
    </dgm:pt>
    <dgm:pt modelId="{21987726-48D9-464E-9E48-89E26F2767A6}" type="pres">
      <dgm:prSet presAssocID="{162E6029-D1B7-4609-9622-B52B2C62A5CB}" presName="tx1" presStyleLbl="revTx" presStyleIdx="3" presStyleCnt="15"/>
      <dgm:spPr/>
    </dgm:pt>
    <dgm:pt modelId="{CCC6F425-991E-4135-8467-778428B30DD0}" type="pres">
      <dgm:prSet presAssocID="{162E6029-D1B7-4609-9622-B52B2C62A5CB}" presName="vert1" presStyleCnt="0"/>
      <dgm:spPr/>
    </dgm:pt>
    <dgm:pt modelId="{3315282E-F326-45FC-91B2-2DF537628CCE}" type="pres">
      <dgm:prSet presAssocID="{38E824EA-6126-4494-B8BE-D78E97F25445}" presName="thickLine" presStyleLbl="alignNode1" presStyleIdx="4" presStyleCnt="15"/>
      <dgm:spPr/>
    </dgm:pt>
    <dgm:pt modelId="{5B2CCAB3-E565-4B70-AA11-BAED7BBAE430}" type="pres">
      <dgm:prSet presAssocID="{38E824EA-6126-4494-B8BE-D78E97F25445}" presName="horz1" presStyleCnt="0"/>
      <dgm:spPr/>
    </dgm:pt>
    <dgm:pt modelId="{1A88A93B-D893-42B8-BFC1-CCBDFCB5CEAC}" type="pres">
      <dgm:prSet presAssocID="{38E824EA-6126-4494-B8BE-D78E97F25445}" presName="tx1" presStyleLbl="revTx" presStyleIdx="4" presStyleCnt="15"/>
      <dgm:spPr/>
    </dgm:pt>
    <dgm:pt modelId="{A0F19427-0DB7-4A27-9A09-4B0C01982279}" type="pres">
      <dgm:prSet presAssocID="{38E824EA-6126-4494-B8BE-D78E97F25445}" presName="vert1" presStyleCnt="0"/>
      <dgm:spPr/>
    </dgm:pt>
    <dgm:pt modelId="{C4EFF61C-8B57-42CB-BFA1-1287D090C0AE}" type="pres">
      <dgm:prSet presAssocID="{63457293-98C6-4D77-9994-EE1B9C4DD1ED}" presName="thickLine" presStyleLbl="alignNode1" presStyleIdx="5" presStyleCnt="15"/>
      <dgm:spPr/>
    </dgm:pt>
    <dgm:pt modelId="{CC4A3B08-D783-4CFE-8727-84549F62C410}" type="pres">
      <dgm:prSet presAssocID="{63457293-98C6-4D77-9994-EE1B9C4DD1ED}" presName="horz1" presStyleCnt="0"/>
      <dgm:spPr/>
    </dgm:pt>
    <dgm:pt modelId="{22614CCE-470D-482F-8E5B-ED75A2549B19}" type="pres">
      <dgm:prSet presAssocID="{63457293-98C6-4D77-9994-EE1B9C4DD1ED}" presName="tx1" presStyleLbl="revTx" presStyleIdx="5" presStyleCnt="15"/>
      <dgm:spPr/>
    </dgm:pt>
    <dgm:pt modelId="{746361ED-5326-42AA-BB21-0254DC88F252}" type="pres">
      <dgm:prSet presAssocID="{63457293-98C6-4D77-9994-EE1B9C4DD1ED}" presName="vert1" presStyleCnt="0"/>
      <dgm:spPr/>
    </dgm:pt>
    <dgm:pt modelId="{D5FAE557-9ABB-4461-82DC-BC3A84419987}" type="pres">
      <dgm:prSet presAssocID="{7AF8A56F-85F3-4EC0-97C0-E48B6317D215}" presName="thickLine" presStyleLbl="alignNode1" presStyleIdx="6" presStyleCnt="15"/>
      <dgm:spPr/>
    </dgm:pt>
    <dgm:pt modelId="{12BB6E3A-0F53-4574-A56C-D9BBDA67DE7A}" type="pres">
      <dgm:prSet presAssocID="{7AF8A56F-85F3-4EC0-97C0-E48B6317D215}" presName="horz1" presStyleCnt="0"/>
      <dgm:spPr/>
    </dgm:pt>
    <dgm:pt modelId="{02DF14D4-A55C-4010-A22D-7A7773C28BDF}" type="pres">
      <dgm:prSet presAssocID="{7AF8A56F-85F3-4EC0-97C0-E48B6317D215}" presName="tx1" presStyleLbl="revTx" presStyleIdx="6" presStyleCnt="15"/>
      <dgm:spPr/>
    </dgm:pt>
    <dgm:pt modelId="{5B3DCD90-1496-4ADB-B9D8-F34A4EAFC08D}" type="pres">
      <dgm:prSet presAssocID="{7AF8A56F-85F3-4EC0-97C0-E48B6317D215}" presName="vert1" presStyleCnt="0"/>
      <dgm:spPr/>
    </dgm:pt>
    <dgm:pt modelId="{05BD9E70-38F8-408D-B0FA-6B54BB5E6322}" type="pres">
      <dgm:prSet presAssocID="{01937FDC-82EC-4004-82D8-2A870E375668}" presName="thickLine" presStyleLbl="alignNode1" presStyleIdx="7" presStyleCnt="15"/>
      <dgm:spPr/>
    </dgm:pt>
    <dgm:pt modelId="{489D470C-AEA0-4606-A2DD-7B424B3D2D2A}" type="pres">
      <dgm:prSet presAssocID="{01937FDC-82EC-4004-82D8-2A870E375668}" presName="horz1" presStyleCnt="0"/>
      <dgm:spPr/>
    </dgm:pt>
    <dgm:pt modelId="{A823DCE9-B6D3-4868-A0D9-8F6DFFCC6E71}" type="pres">
      <dgm:prSet presAssocID="{01937FDC-82EC-4004-82D8-2A870E375668}" presName="tx1" presStyleLbl="revTx" presStyleIdx="7" presStyleCnt="15"/>
      <dgm:spPr/>
    </dgm:pt>
    <dgm:pt modelId="{A0582366-4E88-43DD-A1D2-0D399937F0DF}" type="pres">
      <dgm:prSet presAssocID="{01937FDC-82EC-4004-82D8-2A870E375668}" presName="vert1" presStyleCnt="0"/>
      <dgm:spPr/>
    </dgm:pt>
    <dgm:pt modelId="{53041A99-D69F-4845-BF00-D7B9D5A833C8}" type="pres">
      <dgm:prSet presAssocID="{725D2C87-F451-4F4E-8CE4-26755D81AC55}" presName="thickLine" presStyleLbl="alignNode1" presStyleIdx="8" presStyleCnt="15"/>
      <dgm:spPr/>
    </dgm:pt>
    <dgm:pt modelId="{8AD0BF2B-C1F0-41C6-B430-880824464F43}" type="pres">
      <dgm:prSet presAssocID="{725D2C87-F451-4F4E-8CE4-26755D81AC55}" presName="horz1" presStyleCnt="0"/>
      <dgm:spPr/>
    </dgm:pt>
    <dgm:pt modelId="{76E758D3-3E46-4D9B-92C8-0428A137AA3F}" type="pres">
      <dgm:prSet presAssocID="{725D2C87-F451-4F4E-8CE4-26755D81AC55}" presName="tx1" presStyleLbl="revTx" presStyleIdx="8" presStyleCnt="15"/>
      <dgm:spPr/>
    </dgm:pt>
    <dgm:pt modelId="{9A3ED65C-2C33-425E-A697-C3F6C597826A}" type="pres">
      <dgm:prSet presAssocID="{725D2C87-F451-4F4E-8CE4-26755D81AC55}" presName="vert1" presStyleCnt="0"/>
      <dgm:spPr/>
    </dgm:pt>
    <dgm:pt modelId="{C27469F3-82DA-4583-873B-82CD0D9048C4}" type="pres">
      <dgm:prSet presAssocID="{30A86812-3C70-4E6A-B39F-0C93034878BD}" presName="thickLine" presStyleLbl="alignNode1" presStyleIdx="9" presStyleCnt="15"/>
      <dgm:spPr/>
    </dgm:pt>
    <dgm:pt modelId="{9194782C-6D6F-4BE4-8767-928194D15344}" type="pres">
      <dgm:prSet presAssocID="{30A86812-3C70-4E6A-B39F-0C93034878BD}" presName="horz1" presStyleCnt="0"/>
      <dgm:spPr/>
    </dgm:pt>
    <dgm:pt modelId="{DF4FBEF8-7878-4BE8-BA24-0437CFB46C42}" type="pres">
      <dgm:prSet presAssocID="{30A86812-3C70-4E6A-B39F-0C93034878BD}" presName="tx1" presStyleLbl="revTx" presStyleIdx="9" presStyleCnt="15"/>
      <dgm:spPr/>
    </dgm:pt>
    <dgm:pt modelId="{BF6FF1EF-7AB2-49A9-9DA8-C9D8E5B0F94D}" type="pres">
      <dgm:prSet presAssocID="{30A86812-3C70-4E6A-B39F-0C93034878BD}" presName="vert1" presStyleCnt="0"/>
      <dgm:spPr/>
    </dgm:pt>
    <dgm:pt modelId="{C1FD676E-A66F-4C1D-B4AC-1551C844B68B}" type="pres">
      <dgm:prSet presAssocID="{C4536321-0EC2-498C-A5E9-1EFA98A681A8}" presName="thickLine" presStyleLbl="alignNode1" presStyleIdx="10" presStyleCnt="15"/>
      <dgm:spPr/>
    </dgm:pt>
    <dgm:pt modelId="{3C6778B9-D203-4839-8F3C-54E41A0B6D6A}" type="pres">
      <dgm:prSet presAssocID="{C4536321-0EC2-498C-A5E9-1EFA98A681A8}" presName="horz1" presStyleCnt="0"/>
      <dgm:spPr/>
    </dgm:pt>
    <dgm:pt modelId="{5BEDAC8F-CA92-4AF1-BCE1-45CC50D5061C}" type="pres">
      <dgm:prSet presAssocID="{C4536321-0EC2-498C-A5E9-1EFA98A681A8}" presName="tx1" presStyleLbl="revTx" presStyleIdx="10" presStyleCnt="15"/>
      <dgm:spPr/>
    </dgm:pt>
    <dgm:pt modelId="{B1F6CF88-20AF-41A3-B935-EE74A9A1F499}" type="pres">
      <dgm:prSet presAssocID="{C4536321-0EC2-498C-A5E9-1EFA98A681A8}" presName="vert1" presStyleCnt="0"/>
      <dgm:spPr/>
    </dgm:pt>
    <dgm:pt modelId="{9A1F2D3A-D578-4266-B33F-3B73C3656803}" type="pres">
      <dgm:prSet presAssocID="{3D2844FA-2313-4CA9-9D51-50F476E7C9E8}" presName="thickLine" presStyleLbl="alignNode1" presStyleIdx="11" presStyleCnt="15"/>
      <dgm:spPr/>
    </dgm:pt>
    <dgm:pt modelId="{027DFB5E-74FD-4543-815B-CE76FE454C56}" type="pres">
      <dgm:prSet presAssocID="{3D2844FA-2313-4CA9-9D51-50F476E7C9E8}" presName="horz1" presStyleCnt="0"/>
      <dgm:spPr/>
    </dgm:pt>
    <dgm:pt modelId="{643BEE87-A3DC-4A25-8316-93C2B1AD74CE}" type="pres">
      <dgm:prSet presAssocID="{3D2844FA-2313-4CA9-9D51-50F476E7C9E8}" presName="tx1" presStyleLbl="revTx" presStyleIdx="11" presStyleCnt="15"/>
      <dgm:spPr/>
    </dgm:pt>
    <dgm:pt modelId="{397186AE-DD1F-4AB9-AF7D-25E4028CC003}" type="pres">
      <dgm:prSet presAssocID="{3D2844FA-2313-4CA9-9D51-50F476E7C9E8}" presName="vert1" presStyleCnt="0"/>
      <dgm:spPr/>
    </dgm:pt>
    <dgm:pt modelId="{65B3389D-F8F2-4220-8ABB-E3A320ECBD31}" type="pres">
      <dgm:prSet presAssocID="{7D77A12B-5F40-41EB-86AD-EB7646D7CD21}" presName="thickLine" presStyleLbl="alignNode1" presStyleIdx="12" presStyleCnt="15"/>
      <dgm:spPr/>
    </dgm:pt>
    <dgm:pt modelId="{A6C6C2EB-DA12-4471-B4F8-0649669F23D7}" type="pres">
      <dgm:prSet presAssocID="{7D77A12B-5F40-41EB-86AD-EB7646D7CD21}" presName="horz1" presStyleCnt="0"/>
      <dgm:spPr/>
    </dgm:pt>
    <dgm:pt modelId="{E5F92CF9-CE1C-496C-9C78-CAD9AB625E4E}" type="pres">
      <dgm:prSet presAssocID="{7D77A12B-5F40-41EB-86AD-EB7646D7CD21}" presName="tx1" presStyleLbl="revTx" presStyleIdx="12" presStyleCnt="15"/>
      <dgm:spPr/>
    </dgm:pt>
    <dgm:pt modelId="{538F2481-5897-4B6E-9D3B-904C5E41B7E4}" type="pres">
      <dgm:prSet presAssocID="{7D77A12B-5F40-41EB-86AD-EB7646D7CD21}" presName="vert1" presStyleCnt="0"/>
      <dgm:spPr/>
    </dgm:pt>
    <dgm:pt modelId="{CE7B74E2-370D-4087-B760-E92EB9EB432F}" type="pres">
      <dgm:prSet presAssocID="{B7C5FDEE-5CC4-4B29-970B-82F1C622AD41}" presName="thickLine" presStyleLbl="alignNode1" presStyleIdx="13" presStyleCnt="15"/>
      <dgm:spPr/>
    </dgm:pt>
    <dgm:pt modelId="{69B911DC-635F-4AB5-BBA9-FE0412506A6E}" type="pres">
      <dgm:prSet presAssocID="{B7C5FDEE-5CC4-4B29-970B-82F1C622AD41}" presName="horz1" presStyleCnt="0"/>
      <dgm:spPr/>
    </dgm:pt>
    <dgm:pt modelId="{8355E01B-66BB-4643-AAC9-37F860D05139}" type="pres">
      <dgm:prSet presAssocID="{B7C5FDEE-5CC4-4B29-970B-82F1C622AD41}" presName="tx1" presStyleLbl="revTx" presStyleIdx="13" presStyleCnt="15"/>
      <dgm:spPr/>
    </dgm:pt>
    <dgm:pt modelId="{71672647-DBA5-4465-AE50-A2438E83B5B2}" type="pres">
      <dgm:prSet presAssocID="{B7C5FDEE-5CC4-4B29-970B-82F1C622AD41}" presName="vert1" presStyleCnt="0"/>
      <dgm:spPr/>
    </dgm:pt>
    <dgm:pt modelId="{D78C66C2-DBDF-4682-AC1E-99E5C2DD6E3E}" type="pres">
      <dgm:prSet presAssocID="{FC4EC42F-9CD1-48BD-AC03-7C548F4B0FA5}" presName="thickLine" presStyleLbl="alignNode1" presStyleIdx="14" presStyleCnt="15"/>
      <dgm:spPr/>
    </dgm:pt>
    <dgm:pt modelId="{1473468C-2BDA-4B69-9CD1-E7BBF628FACB}" type="pres">
      <dgm:prSet presAssocID="{FC4EC42F-9CD1-48BD-AC03-7C548F4B0FA5}" presName="horz1" presStyleCnt="0"/>
      <dgm:spPr/>
    </dgm:pt>
    <dgm:pt modelId="{BB617552-9DD8-4709-926D-D10B5C87C473}" type="pres">
      <dgm:prSet presAssocID="{FC4EC42F-9CD1-48BD-AC03-7C548F4B0FA5}" presName="tx1" presStyleLbl="revTx" presStyleIdx="14" presStyleCnt="15"/>
      <dgm:spPr/>
    </dgm:pt>
    <dgm:pt modelId="{04BF2ECD-AB3A-4820-9C23-95CE30FE40FE}" type="pres">
      <dgm:prSet presAssocID="{FC4EC42F-9CD1-48BD-AC03-7C548F4B0FA5}" presName="vert1" presStyleCnt="0"/>
      <dgm:spPr/>
    </dgm:pt>
  </dgm:ptLst>
  <dgm:cxnLst>
    <dgm:cxn modelId="{E506F104-F67D-4B24-B6D2-6E0637557036}" srcId="{926F8702-5F54-4CCB-85AE-532CD67E4F5B}" destId="{3D2844FA-2313-4CA9-9D51-50F476E7C9E8}" srcOrd="11" destOrd="0" parTransId="{E6A4BB26-88C5-43AA-9605-01239BD60B2C}" sibTransId="{468A85D4-D617-41A5-8229-F6F26FFCAB55}"/>
    <dgm:cxn modelId="{0D956B05-72C4-4EA8-BFFC-427A35A2788C}" type="presOf" srcId="{725D2C87-F451-4F4E-8CE4-26755D81AC55}" destId="{76E758D3-3E46-4D9B-92C8-0428A137AA3F}" srcOrd="0" destOrd="0" presId="urn:microsoft.com/office/officeart/2008/layout/LinedList"/>
    <dgm:cxn modelId="{9609560C-73DD-42F6-A39B-158648A2DEE8}" srcId="{926F8702-5F54-4CCB-85AE-532CD67E4F5B}" destId="{725D2C87-F451-4F4E-8CE4-26755D81AC55}" srcOrd="8" destOrd="0" parTransId="{1C86677E-BF42-4EAF-BE47-454BB8304ABD}" sibTransId="{08DE188B-010D-4DBE-B2BA-66E89DE25EBA}"/>
    <dgm:cxn modelId="{F1742E18-F3A8-46F3-9DAF-F571DA1DFAF8}" srcId="{926F8702-5F54-4CCB-85AE-532CD67E4F5B}" destId="{162E6029-D1B7-4609-9622-B52B2C62A5CB}" srcOrd="3" destOrd="0" parTransId="{D9270FE2-6355-4D0C-98A8-BBBD6861B143}" sibTransId="{E23188FB-78DF-49E4-B72A-282AB66A66AB}"/>
    <dgm:cxn modelId="{08F42C2C-5D88-4D48-A61D-3F06FD12651C}" srcId="{926F8702-5F54-4CCB-85AE-532CD67E4F5B}" destId="{01937FDC-82EC-4004-82D8-2A870E375668}" srcOrd="7" destOrd="0" parTransId="{B4D595D5-C5E2-41BE-9A2A-E3726AF49F02}" sibTransId="{28EE5064-97ED-4701-B698-D82120158B1E}"/>
    <dgm:cxn modelId="{32212F2D-576F-4E10-94EA-924276E3D370}" type="presOf" srcId="{B7C5FDEE-5CC4-4B29-970B-82F1C622AD41}" destId="{8355E01B-66BB-4643-AAC9-37F860D05139}" srcOrd="0" destOrd="0" presId="urn:microsoft.com/office/officeart/2008/layout/LinedList"/>
    <dgm:cxn modelId="{8BC02A32-F519-45CC-9DE4-CD0F2F1AC21B}" srcId="{926F8702-5F54-4CCB-85AE-532CD67E4F5B}" destId="{B7C5FDEE-5CC4-4B29-970B-82F1C622AD41}" srcOrd="13" destOrd="0" parTransId="{16B2F796-A772-408A-B55F-54B105B7CFC5}" sibTransId="{2516643F-7F5C-4603-B5BF-3F4876A7B568}"/>
    <dgm:cxn modelId="{BB75E536-7E55-45D1-AF56-A092B6A3C35F}" type="presOf" srcId="{38E824EA-6126-4494-B8BE-D78E97F25445}" destId="{1A88A93B-D893-42B8-BFC1-CCBDFCB5CEAC}" srcOrd="0" destOrd="0" presId="urn:microsoft.com/office/officeart/2008/layout/LinedList"/>
    <dgm:cxn modelId="{B41DC93A-2F9F-4665-B8AC-599024AE2930}" srcId="{926F8702-5F54-4CCB-85AE-532CD67E4F5B}" destId="{734580C4-4138-41D1-B5BC-E3487E6E7759}" srcOrd="0" destOrd="0" parTransId="{3143C9A6-25CF-4AAF-8F4B-76B59CB5B415}" sibTransId="{E7F01F2D-829F-43CE-9C07-9A4CCF802F57}"/>
    <dgm:cxn modelId="{587F5E3F-4B54-4F9F-983E-F2D513C178A8}" srcId="{926F8702-5F54-4CCB-85AE-532CD67E4F5B}" destId="{38E824EA-6126-4494-B8BE-D78E97F25445}" srcOrd="4" destOrd="0" parTransId="{0620C0F0-C134-42B3-AD54-BA018AB86087}" sibTransId="{FD7D6B9E-3BCA-48DE-9F9C-BDD11BDDA6EC}"/>
    <dgm:cxn modelId="{F2FDFE41-4D01-4138-A982-236BA204ADA0}" srcId="{926F8702-5F54-4CCB-85AE-532CD67E4F5B}" destId="{7AF8A56F-85F3-4EC0-97C0-E48B6317D215}" srcOrd="6" destOrd="0" parTransId="{E757E2F5-CEC8-4BE0-B927-A4B4817651C6}" sibTransId="{6811E9AD-3713-4D31-9A37-7050375A650A}"/>
    <dgm:cxn modelId="{4BCED243-9C5C-4007-B473-C57F9DF8988C}" type="presOf" srcId="{01937FDC-82EC-4004-82D8-2A870E375668}" destId="{A823DCE9-B6D3-4868-A0D9-8F6DFFCC6E71}" srcOrd="0" destOrd="0" presId="urn:microsoft.com/office/officeart/2008/layout/LinedList"/>
    <dgm:cxn modelId="{61709B45-3950-4813-97DD-63CCDB2BEC28}" type="presOf" srcId="{78F48030-71D1-4918-A1CE-FFFBC2297C67}" destId="{EF9CC4F8-60F2-4974-9FF9-496F6A02CF32}" srcOrd="0" destOrd="0" presId="urn:microsoft.com/office/officeart/2008/layout/LinedList"/>
    <dgm:cxn modelId="{8B0D9046-AE93-4EBD-8506-B89552BDDBFD}" srcId="{926F8702-5F54-4CCB-85AE-532CD67E4F5B}" destId="{C4536321-0EC2-498C-A5E9-1EFA98A681A8}" srcOrd="10" destOrd="0" parTransId="{2360FC56-24FF-4F52-9AB4-E68E344E9092}" sibTransId="{5AC0C5B2-6F30-4AA6-A267-A50858F00501}"/>
    <dgm:cxn modelId="{5864934C-312A-4804-A78B-4EE2A9949A68}" type="presOf" srcId="{A1B1EC58-81DE-4BF0-8D8C-3AE4480546DE}" destId="{302C9D0E-2E4C-4B3E-A36C-13A882627049}" srcOrd="0" destOrd="0" presId="urn:microsoft.com/office/officeart/2008/layout/LinedList"/>
    <dgm:cxn modelId="{1A0BA76D-8B0D-44E7-BF97-968E88C5AA71}" srcId="{926F8702-5F54-4CCB-85AE-532CD67E4F5B}" destId="{30A86812-3C70-4E6A-B39F-0C93034878BD}" srcOrd="9" destOrd="0" parTransId="{38B3DD3E-F0A6-4081-9A0D-131719AF232A}" sibTransId="{B2B9D6D1-008F-4B1D-9200-60FBBE67D288}"/>
    <dgm:cxn modelId="{7EA5EA4E-AA91-4DDD-A14C-6BD8007DA38D}" type="presOf" srcId="{7AF8A56F-85F3-4EC0-97C0-E48B6317D215}" destId="{02DF14D4-A55C-4010-A22D-7A7773C28BDF}" srcOrd="0" destOrd="0" presId="urn:microsoft.com/office/officeart/2008/layout/LinedList"/>
    <dgm:cxn modelId="{3EA1A54F-A00C-4B15-9F0D-ED4970835D70}" srcId="{926F8702-5F54-4CCB-85AE-532CD67E4F5B}" destId="{78F48030-71D1-4918-A1CE-FFFBC2297C67}" srcOrd="1" destOrd="0" parTransId="{E437FEC9-06E3-49FA-B7F3-2953B958B9D7}" sibTransId="{96285241-D381-4ED6-96EA-3BFFB0F07C68}"/>
    <dgm:cxn modelId="{C2C02B85-ADA1-4203-BA52-C9617BFFB1D9}" type="presOf" srcId="{162E6029-D1B7-4609-9622-B52B2C62A5CB}" destId="{21987726-48D9-464E-9E48-89E26F2767A6}" srcOrd="0" destOrd="0" presId="urn:microsoft.com/office/officeart/2008/layout/LinedList"/>
    <dgm:cxn modelId="{82E3C086-250D-425F-B617-F168B265A3DE}" type="presOf" srcId="{3D2844FA-2313-4CA9-9D51-50F476E7C9E8}" destId="{643BEE87-A3DC-4A25-8316-93C2B1AD74CE}" srcOrd="0" destOrd="0" presId="urn:microsoft.com/office/officeart/2008/layout/LinedList"/>
    <dgm:cxn modelId="{76FCF48B-30FE-40B2-A65A-773DF1F86B0C}" srcId="{926F8702-5F54-4CCB-85AE-532CD67E4F5B}" destId="{7D77A12B-5F40-41EB-86AD-EB7646D7CD21}" srcOrd="12" destOrd="0" parTransId="{C1C86E1A-ED2F-42C6-ACF4-8D940D7EA0A3}" sibTransId="{AD692948-A103-4AD5-91F5-9AFF3555815E}"/>
    <dgm:cxn modelId="{7A3FA899-48A8-4103-9319-D33611CEA408}" srcId="{926F8702-5F54-4CCB-85AE-532CD67E4F5B}" destId="{A1B1EC58-81DE-4BF0-8D8C-3AE4480546DE}" srcOrd="2" destOrd="0" parTransId="{A3302F02-0C12-4249-83C1-C2E0C44E2148}" sibTransId="{9BDFEF3F-94F2-4ECF-BC02-AFF010AAB84C}"/>
    <dgm:cxn modelId="{CDEE0B9B-4768-48CB-BA3A-F1DE737A4CE1}" srcId="{926F8702-5F54-4CCB-85AE-532CD67E4F5B}" destId="{63457293-98C6-4D77-9994-EE1B9C4DD1ED}" srcOrd="5" destOrd="0" parTransId="{75422F86-EAF1-4056-A74B-F854087B118E}" sibTransId="{BD98CAA9-150E-4DD8-9DDB-F253F65D6217}"/>
    <dgm:cxn modelId="{25CC57A3-65F5-46C9-A6A3-6BF16AA0C338}" type="presOf" srcId="{FC4EC42F-9CD1-48BD-AC03-7C548F4B0FA5}" destId="{BB617552-9DD8-4709-926D-D10B5C87C473}" srcOrd="0" destOrd="0" presId="urn:microsoft.com/office/officeart/2008/layout/LinedList"/>
    <dgm:cxn modelId="{1F1D0BBE-250A-4519-BBF4-BFD4B48A8FBE}" type="presOf" srcId="{C4536321-0EC2-498C-A5E9-1EFA98A681A8}" destId="{5BEDAC8F-CA92-4AF1-BCE1-45CC50D5061C}" srcOrd="0" destOrd="0" presId="urn:microsoft.com/office/officeart/2008/layout/LinedList"/>
    <dgm:cxn modelId="{9ED820C4-4A52-4215-B749-805291D014B5}" type="presOf" srcId="{734580C4-4138-41D1-B5BC-E3487E6E7759}" destId="{4B041F8C-6769-403D-B329-86A563364D9D}" srcOrd="0" destOrd="0" presId="urn:microsoft.com/office/officeart/2008/layout/LinedList"/>
    <dgm:cxn modelId="{37F70CC5-C8ED-422D-A83E-C572A0BCC95A}" type="presOf" srcId="{7D77A12B-5F40-41EB-86AD-EB7646D7CD21}" destId="{E5F92CF9-CE1C-496C-9C78-CAD9AB625E4E}" srcOrd="0" destOrd="0" presId="urn:microsoft.com/office/officeart/2008/layout/LinedList"/>
    <dgm:cxn modelId="{D3C3F4C7-8E13-40EF-B07B-FB8B90DFEFAD}" type="presOf" srcId="{63457293-98C6-4D77-9994-EE1B9C4DD1ED}" destId="{22614CCE-470D-482F-8E5B-ED75A2549B19}" srcOrd="0" destOrd="0" presId="urn:microsoft.com/office/officeart/2008/layout/LinedList"/>
    <dgm:cxn modelId="{3BE6DBE4-2E54-47F0-A1DD-BE7A7F4D4021}" type="presOf" srcId="{926F8702-5F54-4CCB-85AE-532CD67E4F5B}" destId="{F84C1A82-7CE3-4DD7-BAD6-F58FEDF3AD69}" srcOrd="0" destOrd="0" presId="urn:microsoft.com/office/officeart/2008/layout/LinedList"/>
    <dgm:cxn modelId="{717A11F1-1E35-4BF9-9289-F590A4662C8D}" type="presOf" srcId="{30A86812-3C70-4E6A-B39F-0C93034878BD}" destId="{DF4FBEF8-7878-4BE8-BA24-0437CFB46C42}" srcOrd="0" destOrd="0" presId="urn:microsoft.com/office/officeart/2008/layout/LinedList"/>
    <dgm:cxn modelId="{249917F6-9CDF-4B50-9105-3E636674D91E}" srcId="{926F8702-5F54-4CCB-85AE-532CD67E4F5B}" destId="{FC4EC42F-9CD1-48BD-AC03-7C548F4B0FA5}" srcOrd="14" destOrd="0" parTransId="{4E38EE2D-B0F3-4AA8-8F3E-FABDEE21A56F}" sibTransId="{EA6BAAC1-AAEA-429C-8A2A-F0F281A7B789}"/>
    <dgm:cxn modelId="{5973FA9C-40C6-4AB0-A79D-E3F3584F7F81}" type="presParOf" srcId="{F84C1A82-7CE3-4DD7-BAD6-F58FEDF3AD69}" destId="{12B7DCF3-B7BF-41A4-904D-ECD404E8A882}" srcOrd="0" destOrd="0" presId="urn:microsoft.com/office/officeart/2008/layout/LinedList"/>
    <dgm:cxn modelId="{4F9338ED-34FA-44CE-A6A7-D6C61ECDEECC}" type="presParOf" srcId="{F84C1A82-7CE3-4DD7-BAD6-F58FEDF3AD69}" destId="{E5FA2DD0-779E-4EB2-97D7-B2A1EC460CA1}" srcOrd="1" destOrd="0" presId="urn:microsoft.com/office/officeart/2008/layout/LinedList"/>
    <dgm:cxn modelId="{CA8A59E2-D6ED-4646-9B7D-3B4C5D167470}" type="presParOf" srcId="{E5FA2DD0-779E-4EB2-97D7-B2A1EC460CA1}" destId="{4B041F8C-6769-403D-B329-86A563364D9D}" srcOrd="0" destOrd="0" presId="urn:microsoft.com/office/officeart/2008/layout/LinedList"/>
    <dgm:cxn modelId="{61719974-BF01-425B-9E36-F28FDC0CCE09}" type="presParOf" srcId="{E5FA2DD0-779E-4EB2-97D7-B2A1EC460CA1}" destId="{7928E78F-A7BC-4FD2-B37F-F7B1E0586601}" srcOrd="1" destOrd="0" presId="urn:microsoft.com/office/officeart/2008/layout/LinedList"/>
    <dgm:cxn modelId="{7D35F6E6-3785-4EB5-B770-AC63DA95EFCE}" type="presParOf" srcId="{F84C1A82-7CE3-4DD7-BAD6-F58FEDF3AD69}" destId="{0F80017A-1D83-4DD7-A33A-FB6B5DE32BDD}" srcOrd="2" destOrd="0" presId="urn:microsoft.com/office/officeart/2008/layout/LinedList"/>
    <dgm:cxn modelId="{8188A574-F91B-4A5E-A992-B995726773F4}" type="presParOf" srcId="{F84C1A82-7CE3-4DD7-BAD6-F58FEDF3AD69}" destId="{6DA9BFDB-6A5F-419B-8FF6-5A6E63AF0771}" srcOrd="3" destOrd="0" presId="urn:microsoft.com/office/officeart/2008/layout/LinedList"/>
    <dgm:cxn modelId="{AE13BAED-BFBB-4C4C-BEE3-2A6290F6DB16}" type="presParOf" srcId="{6DA9BFDB-6A5F-419B-8FF6-5A6E63AF0771}" destId="{EF9CC4F8-60F2-4974-9FF9-496F6A02CF32}" srcOrd="0" destOrd="0" presId="urn:microsoft.com/office/officeart/2008/layout/LinedList"/>
    <dgm:cxn modelId="{9BD1C77A-697C-4418-8908-E637BB75886A}" type="presParOf" srcId="{6DA9BFDB-6A5F-419B-8FF6-5A6E63AF0771}" destId="{CC25402F-D976-40EC-B0C4-8679180C1011}" srcOrd="1" destOrd="0" presId="urn:microsoft.com/office/officeart/2008/layout/LinedList"/>
    <dgm:cxn modelId="{37982ED5-5A1F-44D7-BD7F-8139DBF360CB}" type="presParOf" srcId="{F84C1A82-7CE3-4DD7-BAD6-F58FEDF3AD69}" destId="{626DCB96-C4F6-41FC-880E-9A0265C88418}" srcOrd="4" destOrd="0" presId="urn:microsoft.com/office/officeart/2008/layout/LinedList"/>
    <dgm:cxn modelId="{DD91FB88-CC55-4294-AA30-BDC959132640}" type="presParOf" srcId="{F84C1A82-7CE3-4DD7-BAD6-F58FEDF3AD69}" destId="{554377E8-EC28-466F-BF14-77A8A95BD8A2}" srcOrd="5" destOrd="0" presId="urn:microsoft.com/office/officeart/2008/layout/LinedList"/>
    <dgm:cxn modelId="{11DB8F0D-85E5-41A1-ADE6-770C3F99948A}" type="presParOf" srcId="{554377E8-EC28-466F-BF14-77A8A95BD8A2}" destId="{302C9D0E-2E4C-4B3E-A36C-13A882627049}" srcOrd="0" destOrd="0" presId="urn:microsoft.com/office/officeart/2008/layout/LinedList"/>
    <dgm:cxn modelId="{8712D41A-594F-436E-AA73-339F958FE382}" type="presParOf" srcId="{554377E8-EC28-466F-BF14-77A8A95BD8A2}" destId="{9C467E40-0D20-43CC-8F6F-AF8CEFF90011}" srcOrd="1" destOrd="0" presId="urn:microsoft.com/office/officeart/2008/layout/LinedList"/>
    <dgm:cxn modelId="{611E37B8-F968-469B-8C09-745B038F97B5}" type="presParOf" srcId="{F84C1A82-7CE3-4DD7-BAD6-F58FEDF3AD69}" destId="{EAD0F39A-8B7C-4DEE-AA26-154CCCFCE811}" srcOrd="6" destOrd="0" presId="urn:microsoft.com/office/officeart/2008/layout/LinedList"/>
    <dgm:cxn modelId="{7959A55F-8DE0-49AF-9BE0-A1313AC3555B}" type="presParOf" srcId="{F84C1A82-7CE3-4DD7-BAD6-F58FEDF3AD69}" destId="{88844A9A-99EA-433F-ACA1-ECB986CDB37A}" srcOrd="7" destOrd="0" presId="urn:microsoft.com/office/officeart/2008/layout/LinedList"/>
    <dgm:cxn modelId="{9AF3238A-367F-42D8-8B6B-68665AE5E0AE}" type="presParOf" srcId="{88844A9A-99EA-433F-ACA1-ECB986CDB37A}" destId="{21987726-48D9-464E-9E48-89E26F2767A6}" srcOrd="0" destOrd="0" presId="urn:microsoft.com/office/officeart/2008/layout/LinedList"/>
    <dgm:cxn modelId="{369543A7-DD64-4711-A83A-C929565D6B66}" type="presParOf" srcId="{88844A9A-99EA-433F-ACA1-ECB986CDB37A}" destId="{CCC6F425-991E-4135-8467-778428B30DD0}" srcOrd="1" destOrd="0" presId="urn:microsoft.com/office/officeart/2008/layout/LinedList"/>
    <dgm:cxn modelId="{EB933137-3076-44F4-9C73-B90EFE830BD5}" type="presParOf" srcId="{F84C1A82-7CE3-4DD7-BAD6-F58FEDF3AD69}" destId="{3315282E-F326-45FC-91B2-2DF537628CCE}" srcOrd="8" destOrd="0" presId="urn:microsoft.com/office/officeart/2008/layout/LinedList"/>
    <dgm:cxn modelId="{42B4B41A-4F71-409C-92FD-5CE014D5767D}" type="presParOf" srcId="{F84C1A82-7CE3-4DD7-BAD6-F58FEDF3AD69}" destId="{5B2CCAB3-E565-4B70-AA11-BAED7BBAE430}" srcOrd="9" destOrd="0" presId="urn:microsoft.com/office/officeart/2008/layout/LinedList"/>
    <dgm:cxn modelId="{F222030B-08BB-4CB2-9BA2-C9DE46C6E504}" type="presParOf" srcId="{5B2CCAB3-E565-4B70-AA11-BAED7BBAE430}" destId="{1A88A93B-D893-42B8-BFC1-CCBDFCB5CEAC}" srcOrd="0" destOrd="0" presId="urn:microsoft.com/office/officeart/2008/layout/LinedList"/>
    <dgm:cxn modelId="{D5A8B10F-89F9-49C3-8AFD-905072F2FE25}" type="presParOf" srcId="{5B2CCAB3-E565-4B70-AA11-BAED7BBAE430}" destId="{A0F19427-0DB7-4A27-9A09-4B0C01982279}" srcOrd="1" destOrd="0" presId="urn:microsoft.com/office/officeart/2008/layout/LinedList"/>
    <dgm:cxn modelId="{85CAA033-06B9-4582-B322-2BC73CA718C3}" type="presParOf" srcId="{F84C1A82-7CE3-4DD7-BAD6-F58FEDF3AD69}" destId="{C4EFF61C-8B57-42CB-BFA1-1287D090C0AE}" srcOrd="10" destOrd="0" presId="urn:microsoft.com/office/officeart/2008/layout/LinedList"/>
    <dgm:cxn modelId="{42439321-2927-493A-8757-2AAD3E3E3579}" type="presParOf" srcId="{F84C1A82-7CE3-4DD7-BAD6-F58FEDF3AD69}" destId="{CC4A3B08-D783-4CFE-8727-84549F62C410}" srcOrd="11" destOrd="0" presId="urn:microsoft.com/office/officeart/2008/layout/LinedList"/>
    <dgm:cxn modelId="{A41FCD95-E4F9-4EA6-A3BB-FBC15C056153}" type="presParOf" srcId="{CC4A3B08-D783-4CFE-8727-84549F62C410}" destId="{22614CCE-470D-482F-8E5B-ED75A2549B19}" srcOrd="0" destOrd="0" presId="urn:microsoft.com/office/officeart/2008/layout/LinedList"/>
    <dgm:cxn modelId="{D6024CB8-6841-4698-A611-6B37FE5D297B}" type="presParOf" srcId="{CC4A3B08-D783-4CFE-8727-84549F62C410}" destId="{746361ED-5326-42AA-BB21-0254DC88F252}" srcOrd="1" destOrd="0" presId="urn:microsoft.com/office/officeart/2008/layout/LinedList"/>
    <dgm:cxn modelId="{AA4BC55E-692D-41AA-ABD4-BF331FF04236}" type="presParOf" srcId="{F84C1A82-7CE3-4DD7-BAD6-F58FEDF3AD69}" destId="{D5FAE557-9ABB-4461-82DC-BC3A84419987}" srcOrd="12" destOrd="0" presId="urn:microsoft.com/office/officeart/2008/layout/LinedList"/>
    <dgm:cxn modelId="{4DDA2E52-3D1A-43C3-8600-204612FF23DA}" type="presParOf" srcId="{F84C1A82-7CE3-4DD7-BAD6-F58FEDF3AD69}" destId="{12BB6E3A-0F53-4574-A56C-D9BBDA67DE7A}" srcOrd="13" destOrd="0" presId="urn:microsoft.com/office/officeart/2008/layout/LinedList"/>
    <dgm:cxn modelId="{5A991790-468A-4B99-8FB5-2A94AE8C333A}" type="presParOf" srcId="{12BB6E3A-0F53-4574-A56C-D9BBDA67DE7A}" destId="{02DF14D4-A55C-4010-A22D-7A7773C28BDF}" srcOrd="0" destOrd="0" presId="urn:microsoft.com/office/officeart/2008/layout/LinedList"/>
    <dgm:cxn modelId="{20B94C9C-3DC2-4914-BA92-D08BDAC69531}" type="presParOf" srcId="{12BB6E3A-0F53-4574-A56C-D9BBDA67DE7A}" destId="{5B3DCD90-1496-4ADB-B9D8-F34A4EAFC08D}" srcOrd="1" destOrd="0" presId="urn:microsoft.com/office/officeart/2008/layout/LinedList"/>
    <dgm:cxn modelId="{30E49113-D50E-4631-A7DC-E9B6A56BA689}" type="presParOf" srcId="{F84C1A82-7CE3-4DD7-BAD6-F58FEDF3AD69}" destId="{05BD9E70-38F8-408D-B0FA-6B54BB5E6322}" srcOrd="14" destOrd="0" presId="urn:microsoft.com/office/officeart/2008/layout/LinedList"/>
    <dgm:cxn modelId="{FC690EDA-BC28-4D39-9AC8-E30791ADEF3C}" type="presParOf" srcId="{F84C1A82-7CE3-4DD7-BAD6-F58FEDF3AD69}" destId="{489D470C-AEA0-4606-A2DD-7B424B3D2D2A}" srcOrd="15" destOrd="0" presId="urn:microsoft.com/office/officeart/2008/layout/LinedList"/>
    <dgm:cxn modelId="{81BE16AD-C060-4BCD-866E-B179DED8BE19}" type="presParOf" srcId="{489D470C-AEA0-4606-A2DD-7B424B3D2D2A}" destId="{A823DCE9-B6D3-4868-A0D9-8F6DFFCC6E71}" srcOrd="0" destOrd="0" presId="urn:microsoft.com/office/officeart/2008/layout/LinedList"/>
    <dgm:cxn modelId="{07C33674-A90D-4B3C-AE0B-65914DC9ABAF}" type="presParOf" srcId="{489D470C-AEA0-4606-A2DD-7B424B3D2D2A}" destId="{A0582366-4E88-43DD-A1D2-0D399937F0DF}" srcOrd="1" destOrd="0" presId="urn:microsoft.com/office/officeart/2008/layout/LinedList"/>
    <dgm:cxn modelId="{86968DD0-C9CD-466F-A0D6-CA3683CC20C2}" type="presParOf" srcId="{F84C1A82-7CE3-4DD7-BAD6-F58FEDF3AD69}" destId="{53041A99-D69F-4845-BF00-D7B9D5A833C8}" srcOrd="16" destOrd="0" presId="urn:microsoft.com/office/officeart/2008/layout/LinedList"/>
    <dgm:cxn modelId="{0677BE23-86BC-4C7A-89A5-7444052A69C4}" type="presParOf" srcId="{F84C1A82-7CE3-4DD7-BAD6-F58FEDF3AD69}" destId="{8AD0BF2B-C1F0-41C6-B430-880824464F43}" srcOrd="17" destOrd="0" presId="urn:microsoft.com/office/officeart/2008/layout/LinedList"/>
    <dgm:cxn modelId="{C678DF68-691D-4B3C-B1A6-5A8E237B9CFC}" type="presParOf" srcId="{8AD0BF2B-C1F0-41C6-B430-880824464F43}" destId="{76E758D3-3E46-4D9B-92C8-0428A137AA3F}" srcOrd="0" destOrd="0" presId="urn:microsoft.com/office/officeart/2008/layout/LinedList"/>
    <dgm:cxn modelId="{BBD3858D-F93C-4FCB-A258-3D48DD505335}" type="presParOf" srcId="{8AD0BF2B-C1F0-41C6-B430-880824464F43}" destId="{9A3ED65C-2C33-425E-A697-C3F6C597826A}" srcOrd="1" destOrd="0" presId="urn:microsoft.com/office/officeart/2008/layout/LinedList"/>
    <dgm:cxn modelId="{576C41AA-3D0D-4C30-AEBC-F3F014E01F20}" type="presParOf" srcId="{F84C1A82-7CE3-4DD7-BAD6-F58FEDF3AD69}" destId="{C27469F3-82DA-4583-873B-82CD0D9048C4}" srcOrd="18" destOrd="0" presId="urn:microsoft.com/office/officeart/2008/layout/LinedList"/>
    <dgm:cxn modelId="{CF2304F5-C47B-4716-B858-E35D91BC7B6E}" type="presParOf" srcId="{F84C1A82-7CE3-4DD7-BAD6-F58FEDF3AD69}" destId="{9194782C-6D6F-4BE4-8767-928194D15344}" srcOrd="19" destOrd="0" presId="urn:microsoft.com/office/officeart/2008/layout/LinedList"/>
    <dgm:cxn modelId="{DC5EED2D-CE9E-4BDD-A2A1-D5A55C322C4E}" type="presParOf" srcId="{9194782C-6D6F-4BE4-8767-928194D15344}" destId="{DF4FBEF8-7878-4BE8-BA24-0437CFB46C42}" srcOrd="0" destOrd="0" presId="urn:microsoft.com/office/officeart/2008/layout/LinedList"/>
    <dgm:cxn modelId="{8037256F-C187-4D29-9A59-50D631C706B3}" type="presParOf" srcId="{9194782C-6D6F-4BE4-8767-928194D15344}" destId="{BF6FF1EF-7AB2-49A9-9DA8-C9D8E5B0F94D}" srcOrd="1" destOrd="0" presId="urn:microsoft.com/office/officeart/2008/layout/LinedList"/>
    <dgm:cxn modelId="{DBA25F9B-57D1-4B3E-8CC0-F5A9AE4757E7}" type="presParOf" srcId="{F84C1A82-7CE3-4DD7-BAD6-F58FEDF3AD69}" destId="{C1FD676E-A66F-4C1D-B4AC-1551C844B68B}" srcOrd="20" destOrd="0" presId="urn:microsoft.com/office/officeart/2008/layout/LinedList"/>
    <dgm:cxn modelId="{CCC2E1B1-EA8A-4331-8E44-8C4CDAE8AFB2}" type="presParOf" srcId="{F84C1A82-7CE3-4DD7-BAD6-F58FEDF3AD69}" destId="{3C6778B9-D203-4839-8F3C-54E41A0B6D6A}" srcOrd="21" destOrd="0" presId="urn:microsoft.com/office/officeart/2008/layout/LinedList"/>
    <dgm:cxn modelId="{0B30820D-439F-426D-9EC9-114DDF4ABFE9}" type="presParOf" srcId="{3C6778B9-D203-4839-8F3C-54E41A0B6D6A}" destId="{5BEDAC8F-CA92-4AF1-BCE1-45CC50D5061C}" srcOrd="0" destOrd="0" presId="urn:microsoft.com/office/officeart/2008/layout/LinedList"/>
    <dgm:cxn modelId="{9D221F48-CEC0-46CD-8403-3CAF4FE1C1E2}" type="presParOf" srcId="{3C6778B9-D203-4839-8F3C-54E41A0B6D6A}" destId="{B1F6CF88-20AF-41A3-B935-EE74A9A1F499}" srcOrd="1" destOrd="0" presId="urn:microsoft.com/office/officeart/2008/layout/LinedList"/>
    <dgm:cxn modelId="{BD8711C6-D90B-42D6-AB47-E91561160DE4}" type="presParOf" srcId="{F84C1A82-7CE3-4DD7-BAD6-F58FEDF3AD69}" destId="{9A1F2D3A-D578-4266-B33F-3B73C3656803}" srcOrd="22" destOrd="0" presId="urn:microsoft.com/office/officeart/2008/layout/LinedList"/>
    <dgm:cxn modelId="{DAE03337-CFD0-4693-A743-0B7D83E038AC}" type="presParOf" srcId="{F84C1A82-7CE3-4DD7-BAD6-F58FEDF3AD69}" destId="{027DFB5E-74FD-4543-815B-CE76FE454C56}" srcOrd="23" destOrd="0" presId="urn:microsoft.com/office/officeart/2008/layout/LinedList"/>
    <dgm:cxn modelId="{25EB63FD-94BF-4205-98CA-194B7194504D}" type="presParOf" srcId="{027DFB5E-74FD-4543-815B-CE76FE454C56}" destId="{643BEE87-A3DC-4A25-8316-93C2B1AD74CE}" srcOrd="0" destOrd="0" presId="urn:microsoft.com/office/officeart/2008/layout/LinedList"/>
    <dgm:cxn modelId="{53CE43ED-D6A7-4EF7-AA51-4C7CA2A7EA6B}" type="presParOf" srcId="{027DFB5E-74FD-4543-815B-CE76FE454C56}" destId="{397186AE-DD1F-4AB9-AF7D-25E4028CC003}" srcOrd="1" destOrd="0" presId="urn:microsoft.com/office/officeart/2008/layout/LinedList"/>
    <dgm:cxn modelId="{2CAC7B92-08A3-4A9F-A103-55347C18EC05}" type="presParOf" srcId="{F84C1A82-7CE3-4DD7-BAD6-F58FEDF3AD69}" destId="{65B3389D-F8F2-4220-8ABB-E3A320ECBD31}" srcOrd="24" destOrd="0" presId="urn:microsoft.com/office/officeart/2008/layout/LinedList"/>
    <dgm:cxn modelId="{8882407D-83E3-41B2-88D3-FAD5EC35C90F}" type="presParOf" srcId="{F84C1A82-7CE3-4DD7-BAD6-F58FEDF3AD69}" destId="{A6C6C2EB-DA12-4471-B4F8-0649669F23D7}" srcOrd="25" destOrd="0" presId="urn:microsoft.com/office/officeart/2008/layout/LinedList"/>
    <dgm:cxn modelId="{2130E217-274F-427B-BA25-9C02D76B36CD}" type="presParOf" srcId="{A6C6C2EB-DA12-4471-B4F8-0649669F23D7}" destId="{E5F92CF9-CE1C-496C-9C78-CAD9AB625E4E}" srcOrd="0" destOrd="0" presId="urn:microsoft.com/office/officeart/2008/layout/LinedList"/>
    <dgm:cxn modelId="{1EE8B89A-9FE7-4F6C-8C36-0ED1C7309F44}" type="presParOf" srcId="{A6C6C2EB-DA12-4471-B4F8-0649669F23D7}" destId="{538F2481-5897-4B6E-9D3B-904C5E41B7E4}" srcOrd="1" destOrd="0" presId="urn:microsoft.com/office/officeart/2008/layout/LinedList"/>
    <dgm:cxn modelId="{DDB7DDD1-648A-46BA-B264-33300BD245D2}" type="presParOf" srcId="{F84C1A82-7CE3-4DD7-BAD6-F58FEDF3AD69}" destId="{CE7B74E2-370D-4087-B760-E92EB9EB432F}" srcOrd="26" destOrd="0" presId="urn:microsoft.com/office/officeart/2008/layout/LinedList"/>
    <dgm:cxn modelId="{9EBB8EF0-8DE1-4F57-8E03-72B589972BAC}" type="presParOf" srcId="{F84C1A82-7CE3-4DD7-BAD6-F58FEDF3AD69}" destId="{69B911DC-635F-4AB5-BBA9-FE0412506A6E}" srcOrd="27" destOrd="0" presId="urn:microsoft.com/office/officeart/2008/layout/LinedList"/>
    <dgm:cxn modelId="{19EF152D-2175-4D57-8436-96EBB2523BED}" type="presParOf" srcId="{69B911DC-635F-4AB5-BBA9-FE0412506A6E}" destId="{8355E01B-66BB-4643-AAC9-37F860D05139}" srcOrd="0" destOrd="0" presId="urn:microsoft.com/office/officeart/2008/layout/LinedList"/>
    <dgm:cxn modelId="{E7EB429F-F6DF-4FB2-98BD-547CD465AE61}" type="presParOf" srcId="{69B911DC-635F-4AB5-BBA9-FE0412506A6E}" destId="{71672647-DBA5-4465-AE50-A2438E83B5B2}" srcOrd="1" destOrd="0" presId="urn:microsoft.com/office/officeart/2008/layout/LinedList"/>
    <dgm:cxn modelId="{38096147-C36C-44C0-A19F-5F5BF220D882}" type="presParOf" srcId="{F84C1A82-7CE3-4DD7-BAD6-F58FEDF3AD69}" destId="{D78C66C2-DBDF-4682-AC1E-99E5C2DD6E3E}" srcOrd="28" destOrd="0" presId="urn:microsoft.com/office/officeart/2008/layout/LinedList"/>
    <dgm:cxn modelId="{B6886121-48A1-445F-AC42-6656C7ADB8F2}" type="presParOf" srcId="{F84C1A82-7CE3-4DD7-BAD6-F58FEDF3AD69}" destId="{1473468C-2BDA-4B69-9CD1-E7BBF628FACB}" srcOrd="29" destOrd="0" presId="urn:microsoft.com/office/officeart/2008/layout/LinedList"/>
    <dgm:cxn modelId="{926FD0E3-A422-457D-B7D5-617349050814}" type="presParOf" srcId="{1473468C-2BDA-4B69-9CD1-E7BBF628FACB}" destId="{BB617552-9DD8-4709-926D-D10B5C87C473}" srcOrd="0" destOrd="0" presId="urn:microsoft.com/office/officeart/2008/layout/LinedList"/>
    <dgm:cxn modelId="{DFD92E52-8C7E-48E8-876B-D4516CEF3E91}" type="presParOf" srcId="{1473468C-2BDA-4B69-9CD1-E7BBF628FACB}" destId="{04BF2ECD-AB3A-4820-9C23-95CE30FE40FE}"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B7DCF3-B7BF-41A4-904D-ECD404E8A882}">
      <dsp:nvSpPr>
        <dsp:cNvPr id="0" name=""/>
        <dsp:cNvSpPr/>
      </dsp:nvSpPr>
      <dsp:spPr>
        <a:xfrm>
          <a:off x="0" y="498"/>
          <a:ext cx="610913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B041F8C-6769-403D-B329-86A563364D9D}">
      <dsp:nvSpPr>
        <dsp:cNvPr id="0" name=""/>
        <dsp:cNvSpPr/>
      </dsp:nvSpPr>
      <dsp:spPr>
        <a:xfrm>
          <a:off x="0" y="498"/>
          <a:ext cx="6109130" cy="271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a:t>1. Win Percentage</a:t>
          </a:r>
          <a:endParaRPr lang="en-US" sz="1200" kern="1200"/>
        </a:p>
      </dsp:txBody>
      <dsp:txXfrm>
        <a:off x="0" y="498"/>
        <a:ext cx="6109130" cy="271974"/>
      </dsp:txXfrm>
    </dsp:sp>
    <dsp:sp modelId="{0F80017A-1D83-4DD7-A33A-FB6B5DE32BDD}">
      <dsp:nvSpPr>
        <dsp:cNvPr id="0" name=""/>
        <dsp:cNvSpPr/>
      </dsp:nvSpPr>
      <dsp:spPr>
        <a:xfrm>
          <a:off x="0" y="272472"/>
          <a:ext cx="6109130" cy="0"/>
        </a:xfrm>
        <a:prstGeom prst="line">
          <a:avLst/>
        </a:prstGeom>
        <a:solidFill>
          <a:schemeClr val="accent2">
            <a:hueOff val="-265381"/>
            <a:satOff val="-247"/>
            <a:lumOff val="392"/>
            <a:alphaOff val="0"/>
          </a:schemeClr>
        </a:solidFill>
        <a:ln w="12700" cap="flat" cmpd="sng" algn="ctr">
          <a:solidFill>
            <a:schemeClr val="accent2">
              <a:hueOff val="-265381"/>
              <a:satOff val="-247"/>
              <a:lumOff val="39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F9CC4F8-60F2-4974-9FF9-496F6A02CF32}">
      <dsp:nvSpPr>
        <dsp:cNvPr id="0" name=""/>
        <dsp:cNvSpPr/>
      </dsp:nvSpPr>
      <dsp:spPr>
        <a:xfrm>
          <a:off x="0" y="272472"/>
          <a:ext cx="6109130" cy="271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Measures overall success rate across seasons</a:t>
          </a:r>
        </a:p>
      </dsp:txBody>
      <dsp:txXfrm>
        <a:off x="0" y="272472"/>
        <a:ext cx="6109130" cy="271974"/>
      </dsp:txXfrm>
    </dsp:sp>
    <dsp:sp modelId="{626DCB96-C4F6-41FC-880E-9A0265C88418}">
      <dsp:nvSpPr>
        <dsp:cNvPr id="0" name=""/>
        <dsp:cNvSpPr/>
      </dsp:nvSpPr>
      <dsp:spPr>
        <a:xfrm>
          <a:off x="0" y="544447"/>
          <a:ext cx="6109130" cy="0"/>
        </a:xfrm>
        <a:prstGeom prst="line">
          <a:avLst/>
        </a:prstGeom>
        <a:solidFill>
          <a:schemeClr val="accent2">
            <a:hueOff val="-530762"/>
            <a:satOff val="-495"/>
            <a:lumOff val="784"/>
            <a:alphaOff val="0"/>
          </a:schemeClr>
        </a:solidFill>
        <a:ln w="12700" cap="flat" cmpd="sng" algn="ctr">
          <a:solidFill>
            <a:schemeClr val="accent2">
              <a:hueOff val="-530762"/>
              <a:satOff val="-495"/>
              <a:lumOff val="78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02C9D0E-2E4C-4B3E-A36C-13A882627049}">
      <dsp:nvSpPr>
        <dsp:cNvPr id="0" name=""/>
        <dsp:cNvSpPr/>
      </dsp:nvSpPr>
      <dsp:spPr>
        <a:xfrm>
          <a:off x="0" y="544447"/>
          <a:ext cx="6109130" cy="271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(Matches Won / Matches Played) × 100</a:t>
          </a:r>
        </a:p>
      </dsp:txBody>
      <dsp:txXfrm>
        <a:off x="0" y="544447"/>
        <a:ext cx="6109130" cy="271974"/>
      </dsp:txXfrm>
    </dsp:sp>
    <dsp:sp modelId="{EAD0F39A-8B7C-4DEE-AA26-154CCCFCE811}">
      <dsp:nvSpPr>
        <dsp:cNvPr id="0" name=""/>
        <dsp:cNvSpPr/>
      </dsp:nvSpPr>
      <dsp:spPr>
        <a:xfrm>
          <a:off x="0" y="816421"/>
          <a:ext cx="6109130" cy="0"/>
        </a:xfrm>
        <a:prstGeom prst="line">
          <a:avLst/>
        </a:prstGeom>
        <a:solidFill>
          <a:schemeClr val="accent2">
            <a:hueOff val="-796142"/>
            <a:satOff val="-742"/>
            <a:lumOff val="1176"/>
            <a:alphaOff val="0"/>
          </a:schemeClr>
        </a:solidFill>
        <a:ln w="12700" cap="flat" cmpd="sng" algn="ctr">
          <a:solidFill>
            <a:schemeClr val="accent2">
              <a:hueOff val="-796142"/>
              <a:satOff val="-742"/>
              <a:lumOff val="117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987726-48D9-464E-9E48-89E26F2767A6}">
      <dsp:nvSpPr>
        <dsp:cNvPr id="0" name=""/>
        <dsp:cNvSpPr/>
      </dsp:nvSpPr>
      <dsp:spPr>
        <a:xfrm>
          <a:off x="0" y="816421"/>
          <a:ext cx="6109130" cy="271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a:t>2. Average Runs per Match</a:t>
          </a:r>
          <a:endParaRPr lang="en-US" sz="1200" kern="1200"/>
        </a:p>
      </dsp:txBody>
      <dsp:txXfrm>
        <a:off x="0" y="816421"/>
        <a:ext cx="6109130" cy="271974"/>
      </dsp:txXfrm>
    </dsp:sp>
    <dsp:sp modelId="{3315282E-F326-45FC-91B2-2DF537628CCE}">
      <dsp:nvSpPr>
        <dsp:cNvPr id="0" name=""/>
        <dsp:cNvSpPr/>
      </dsp:nvSpPr>
      <dsp:spPr>
        <a:xfrm>
          <a:off x="0" y="1088395"/>
          <a:ext cx="6109130" cy="0"/>
        </a:xfrm>
        <a:prstGeom prst="line">
          <a:avLst/>
        </a:prstGeom>
        <a:solidFill>
          <a:schemeClr val="accent2">
            <a:hueOff val="-1061523"/>
            <a:satOff val="-990"/>
            <a:lumOff val="1569"/>
            <a:alphaOff val="0"/>
          </a:schemeClr>
        </a:solidFill>
        <a:ln w="12700" cap="flat" cmpd="sng" algn="ctr">
          <a:solidFill>
            <a:schemeClr val="accent2">
              <a:hueOff val="-1061523"/>
              <a:satOff val="-990"/>
              <a:lumOff val="156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A88A93B-D893-42B8-BFC1-CCBDFCB5CEAC}">
      <dsp:nvSpPr>
        <dsp:cNvPr id="0" name=""/>
        <dsp:cNvSpPr/>
      </dsp:nvSpPr>
      <dsp:spPr>
        <a:xfrm>
          <a:off x="0" y="1088395"/>
          <a:ext cx="6109130" cy="271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Measures team's scoring consistency</a:t>
          </a:r>
        </a:p>
      </dsp:txBody>
      <dsp:txXfrm>
        <a:off x="0" y="1088395"/>
        <a:ext cx="6109130" cy="271974"/>
      </dsp:txXfrm>
    </dsp:sp>
    <dsp:sp modelId="{C4EFF61C-8B57-42CB-BFA1-1287D090C0AE}">
      <dsp:nvSpPr>
        <dsp:cNvPr id="0" name=""/>
        <dsp:cNvSpPr/>
      </dsp:nvSpPr>
      <dsp:spPr>
        <a:xfrm>
          <a:off x="0" y="1360370"/>
          <a:ext cx="6109130" cy="0"/>
        </a:xfrm>
        <a:prstGeom prst="line">
          <a:avLst/>
        </a:prstGeom>
        <a:solidFill>
          <a:schemeClr val="accent2">
            <a:hueOff val="-1326904"/>
            <a:satOff val="-1237"/>
            <a:lumOff val="1961"/>
            <a:alphaOff val="0"/>
          </a:schemeClr>
        </a:solidFill>
        <a:ln w="12700" cap="flat" cmpd="sng" algn="ctr">
          <a:solidFill>
            <a:schemeClr val="accent2">
              <a:hueOff val="-1326904"/>
              <a:satOff val="-1237"/>
              <a:lumOff val="196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614CCE-470D-482F-8E5B-ED75A2549B19}">
      <dsp:nvSpPr>
        <dsp:cNvPr id="0" name=""/>
        <dsp:cNvSpPr/>
      </dsp:nvSpPr>
      <dsp:spPr>
        <a:xfrm>
          <a:off x="0" y="1360370"/>
          <a:ext cx="6109130" cy="271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Total Runs Scored / Total Matches Played</a:t>
          </a:r>
        </a:p>
      </dsp:txBody>
      <dsp:txXfrm>
        <a:off x="0" y="1360370"/>
        <a:ext cx="6109130" cy="271974"/>
      </dsp:txXfrm>
    </dsp:sp>
    <dsp:sp modelId="{D5FAE557-9ABB-4461-82DC-BC3A84419987}">
      <dsp:nvSpPr>
        <dsp:cNvPr id="0" name=""/>
        <dsp:cNvSpPr/>
      </dsp:nvSpPr>
      <dsp:spPr>
        <a:xfrm>
          <a:off x="0" y="1632344"/>
          <a:ext cx="6109130" cy="0"/>
        </a:xfrm>
        <a:prstGeom prst="line">
          <a:avLst/>
        </a:prstGeom>
        <a:solidFill>
          <a:schemeClr val="accent2">
            <a:hueOff val="-1592285"/>
            <a:satOff val="-1485"/>
            <a:lumOff val="2353"/>
            <a:alphaOff val="0"/>
          </a:schemeClr>
        </a:solidFill>
        <a:ln w="12700" cap="flat" cmpd="sng" algn="ctr">
          <a:solidFill>
            <a:schemeClr val="accent2">
              <a:hueOff val="-1592285"/>
              <a:satOff val="-1485"/>
              <a:lumOff val="235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2DF14D4-A55C-4010-A22D-7A7773C28BDF}">
      <dsp:nvSpPr>
        <dsp:cNvPr id="0" name=""/>
        <dsp:cNvSpPr/>
      </dsp:nvSpPr>
      <dsp:spPr>
        <a:xfrm>
          <a:off x="0" y="1632344"/>
          <a:ext cx="6109130" cy="271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a:t>3. Average Wickets per Match</a:t>
          </a:r>
          <a:endParaRPr lang="en-US" sz="1200" kern="1200"/>
        </a:p>
      </dsp:txBody>
      <dsp:txXfrm>
        <a:off x="0" y="1632344"/>
        <a:ext cx="6109130" cy="271974"/>
      </dsp:txXfrm>
    </dsp:sp>
    <dsp:sp modelId="{05BD9E70-38F8-408D-B0FA-6B54BB5E6322}">
      <dsp:nvSpPr>
        <dsp:cNvPr id="0" name=""/>
        <dsp:cNvSpPr/>
      </dsp:nvSpPr>
      <dsp:spPr>
        <a:xfrm>
          <a:off x="0" y="1904319"/>
          <a:ext cx="6109130" cy="0"/>
        </a:xfrm>
        <a:prstGeom prst="line">
          <a:avLst/>
        </a:prstGeom>
        <a:solidFill>
          <a:schemeClr val="accent2">
            <a:hueOff val="-1857666"/>
            <a:satOff val="-1732"/>
            <a:lumOff val="2745"/>
            <a:alphaOff val="0"/>
          </a:schemeClr>
        </a:solidFill>
        <a:ln w="12700" cap="flat" cmpd="sng" algn="ctr">
          <a:solidFill>
            <a:schemeClr val="accent2">
              <a:hueOff val="-1857666"/>
              <a:satOff val="-1732"/>
              <a:lumOff val="274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23DCE9-B6D3-4868-A0D9-8F6DFFCC6E71}">
      <dsp:nvSpPr>
        <dsp:cNvPr id="0" name=""/>
        <dsp:cNvSpPr/>
      </dsp:nvSpPr>
      <dsp:spPr>
        <a:xfrm>
          <a:off x="0" y="1904319"/>
          <a:ext cx="6109130" cy="271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Shows bowling strength of team</a:t>
          </a:r>
        </a:p>
      </dsp:txBody>
      <dsp:txXfrm>
        <a:off x="0" y="1904319"/>
        <a:ext cx="6109130" cy="271974"/>
      </dsp:txXfrm>
    </dsp:sp>
    <dsp:sp modelId="{53041A99-D69F-4845-BF00-D7B9D5A833C8}">
      <dsp:nvSpPr>
        <dsp:cNvPr id="0" name=""/>
        <dsp:cNvSpPr/>
      </dsp:nvSpPr>
      <dsp:spPr>
        <a:xfrm>
          <a:off x="0" y="2176293"/>
          <a:ext cx="6109130" cy="0"/>
        </a:xfrm>
        <a:prstGeom prst="line">
          <a:avLst/>
        </a:prstGeom>
        <a:solidFill>
          <a:schemeClr val="accent2">
            <a:hueOff val="-2123047"/>
            <a:satOff val="-1979"/>
            <a:lumOff val="3137"/>
            <a:alphaOff val="0"/>
          </a:schemeClr>
        </a:solidFill>
        <a:ln w="12700" cap="flat" cmpd="sng" algn="ctr">
          <a:solidFill>
            <a:schemeClr val="accent2">
              <a:hueOff val="-2123047"/>
              <a:satOff val="-1979"/>
              <a:lumOff val="313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6E758D3-3E46-4D9B-92C8-0428A137AA3F}">
      <dsp:nvSpPr>
        <dsp:cNvPr id="0" name=""/>
        <dsp:cNvSpPr/>
      </dsp:nvSpPr>
      <dsp:spPr>
        <a:xfrm>
          <a:off x="0" y="2176293"/>
          <a:ext cx="6109130" cy="271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Total Wickets Taken / Total Matches Played</a:t>
          </a:r>
        </a:p>
      </dsp:txBody>
      <dsp:txXfrm>
        <a:off x="0" y="2176293"/>
        <a:ext cx="6109130" cy="271974"/>
      </dsp:txXfrm>
    </dsp:sp>
    <dsp:sp modelId="{C27469F3-82DA-4583-873B-82CD0D9048C4}">
      <dsp:nvSpPr>
        <dsp:cNvPr id="0" name=""/>
        <dsp:cNvSpPr/>
      </dsp:nvSpPr>
      <dsp:spPr>
        <a:xfrm>
          <a:off x="0" y="2448268"/>
          <a:ext cx="6109130" cy="0"/>
        </a:xfrm>
        <a:prstGeom prst="line">
          <a:avLst/>
        </a:prstGeom>
        <a:solidFill>
          <a:schemeClr val="accent2">
            <a:hueOff val="-2388427"/>
            <a:satOff val="-2227"/>
            <a:lumOff val="3529"/>
            <a:alphaOff val="0"/>
          </a:schemeClr>
        </a:solidFill>
        <a:ln w="12700" cap="flat" cmpd="sng" algn="ctr">
          <a:solidFill>
            <a:schemeClr val="accent2">
              <a:hueOff val="-2388427"/>
              <a:satOff val="-2227"/>
              <a:lumOff val="352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F4FBEF8-7878-4BE8-BA24-0437CFB46C42}">
      <dsp:nvSpPr>
        <dsp:cNvPr id="0" name=""/>
        <dsp:cNvSpPr/>
      </dsp:nvSpPr>
      <dsp:spPr>
        <a:xfrm>
          <a:off x="0" y="2448268"/>
          <a:ext cx="6109130" cy="271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a:t>4. Run Rate</a:t>
          </a:r>
          <a:endParaRPr lang="en-US" sz="1200" kern="1200"/>
        </a:p>
      </dsp:txBody>
      <dsp:txXfrm>
        <a:off x="0" y="2448268"/>
        <a:ext cx="6109130" cy="271974"/>
      </dsp:txXfrm>
    </dsp:sp>
    <dsp:sp modelId="{C1FD676E-A66F-4C1D-B4AC-1551C844B68B}">
      <dsp:nvSpPr>
        <dsp:cNvPr id="0" name=""/>
        <dsp:cNvSpPr/>
      </dsp:nvSpPr>
      <dsp:spPr>
        <a:xfrm>
          <a:off x="0" y="2720242"/>
          <a:ext cx="6109130" cy="0"/>
        </a:xfrm>
        <a:prstGeom prst="line">
          <a:avLst/>
        </a:prstGeom>
        <a:solidFill>
          <a:schemeClr val="accent2">
            <a:hueOff val="-2653808"/>
            <a:satOff val="-2474"/>
            <a:lumOff val="3921"/>
            <a:alphaOff val="0"/>
          </a:schemeClr>
        </a:solidFill>
        <a:ln w="12700" cap="flat" cmpd="sng" algn="ctr">
          <a:solidFill>
            <a:schemeClr val="accent2">
              <a:hueOff val="-2653808"/>
              <a:satOff val="-2474"/>
              <a:lumOff val="392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BEDAC8F-CA92-4AF1-BCE1-45CC50D5061C}">
      <dsp:nvSpPr>
        <dsp:cNvPr id="0" name=""/>
        <dsp:cNvSpPr/>
      </dsp:nvSpPr>
      <dsp:spPr>
        <a:xfrm>
          <a:off x="0" y="2720242"/>
          <a:ext cx="6109130" cy="271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Measures scoring speed across matches</a:t>
          </a:r>
        </a:p>
      </dsp:txBody>
      <dsp:txXfrm>
        <a:off x="0" y="2720242"/>
        <a:ext cx="6109130" cy="271974"/>
      </dsp:txXfrm>
    </dsp:sp>
    <dsp:sp modelId="{9A1F2D3A-D578-4266-B33F-3B73C3656803}">
      <dsp:nvSpPr>
        <dsp:cNvPr id="0" name=""/>
        <dsp:cNvSpPr/>
      </dsp:nvSpPr>
      <dsp:spPr>
        <a:xfrm>
          <a:off x="0" y="2992217"/>
          <a:ext cx="6109130" cy="0"/>
        </a:xfrm>
        <a:prstGeom prst="line">
          <a:avLst/>
        </a:prstGeom>
        <a:solidFill>
          <a:schemeClr val="accent2">
            <a:hueOff val="-2919189"/>
            <a:satOff val="-2722"/>
            <a:lumOff val="4314"/>
            <a:alphaOff val="0"/>
          </a:schemeClr>
        </a:solidFill>
        <a:ln w="12700" cap="flat" cmpd="sng" algn="ctr">
          <a:solidFill>
            <a:schemeClr val="accent2">
              <a:hueOff val="-2919189"/>
              <a:satOff val="-2722"/>
              <a:lumOff val="431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43BEE87-A3DC-4A25-8316-93C2B1AD74CE}">
      <dsp:nvSpPr>
        <dsp:cNvPr id="0" name=""/>
        <dsp:cNvSpPr/>
      </dsp:nvSpPr>
      <dsp:spPr>
        <a:xfrm>
          <a:off x="0" y="2992217"/>
          <a:ext cx="6109130" cy="271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Total Runs Scored / Total Overs Faced</a:t>
          </a:r>
        </a:p>
      </dsp:txBody>
      <dsp:txXfrm>
        <a:off x="0" y="2992217"/>
        <a:ext cx="6109130" cy="271974"/>
      </dsp:txXfrm>
    </dsp:sp>
    <dsp:sp modelId="{65B3389D-F8F2-4220-8ABB-E3A320ECBD31}">
      <dsp:nvSpPr>
        <dsp:cNvPr id="0" name=""/>
        <dsp:cNvSpPr/>
      </dsp:nvSpPr>
      <dsp:spPr>
        <a:xfrm>
          <a:off x="0" y="3264191"/>
          <a:ext cx="6109130" cy="0"/>
        </a:xfrm>
        <a:prstGeom prst="line">
          <a:avLst/>
        </a:prstGeom>
        <a:solidFill>
          <a:schemeClr val="accent2">
            <a:hueOff val="-3184570"/>
            <a:satOff val="-2969"/>
            <a:lumOff val="4706"/>
            <a:alphaOff val="0"/>
          </a:schemeClr>
        </a:solidFill>
        <a:ln w="12700" cap="flat" cmpd="sng" algn="ctr">
          <a:solidFill>
            <a:schemeClr val="accent2">
              <a:hueOff val="-3184570"/>
              <a:satOff val="-2969"/>
              <a:lumOff val="470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5F92CF9-CE1C-496C-9C78-CAD9AB625E4E}">
      <dsp:nvSpPr>
        <dsp:cNvPr id="0" name=""/>
        <dsp:cNvSpPr/>
      </dsp:nvSpPr>
      <dsp:spPr>
        <a:xfrm>
          <a:off x="0" y="3264191"/>
          <a:ext cx="6109130" cy="271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a:t>5. Toss Impact KPI</a:t>
          </a:r>
          <a:endParaRPr lang="en-US" sz="1200" kern="1200"/>
        </a:p>
      </dsp:txBody>
      <dsp:txXfrm>
        <a:off x="0" y="3264191"/>
        <a:ext cx="6109130" cy="271974"/>
      </dsp:txXfrm>
    </dsp:sp>
    <dsp:sp modelId="{CE7B74E2-370D-4087-B760-E92EB9EB432F}">
      <dsp:nvSpPr>
        <dsp:cNvPr id="0" name=""/>
        <dsp:cNvSpPr/>
      </dsp:nvSpPr>
      <dsp:spPr>
        <a:xfrm>
          <a:off x="0" y="3536165"/>
          <a:ext cx="6109130" cy="0"/>
        </a:xfrm>
        <a:prstGeom prst="line">
          <a:avLst/>
        </a:prstGeom>
        <a:solidFill>
          <a:schemeClr val="accent2">
            <a:hueOff val="-3449950"/>
            <a:satOff val="-3217"/>
            <a:lumOff val="5098"/>
            <a:alphaOff val="0"/>
          </a:schemeClr>
        </a:solidFill>
        <a:ln w="12700" cap="flat" cmpd="sng" algn="ctr">
          <a:solidFill>
            <a:schemeClr val="accent2">
              <a:hueOff val="-3449950"/>
              <a:satOff val="-3217"/>
              <a:lumOff val="509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355E01B-66BB-4643-AAC9-37F860D05139}">
      <dsp:nvSpPr>
        <dsp:cNvPr id="0" name=""/>
        <dsp:cNvSpPr/>
      </dsp:nvSpPr>
      <dsp:spPr>
        <a:xfrm>
          <a:off x="0" y="3536165"/>
          <a:ext cx="6109130" cy="271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Win % after toss decision (bat/field)</a:t>
          </a:r>
        </a:p>
      </dsp:txBody>
      <dsp:txXfrm>
        <a:off x="0" y="3536165"/>
        <a:ext cx="6109130" cy="271974"/>
      </dsp:txXfrm>
    </dsp:sp>
    <dsp:sp modelId="{D78C66C2-DBDF-4682-AC1E-99E5C2DD6E3E}">
      <dsp:nvSpPr>
        <dsp:cNvPr id="0" name=""/>
        <dsp:cNvSpPr/>
      </dsp:nvSpPr>
      <dsp:spPr>
        <a:xfrm>
          <a:off x="0" y="3808140"/>
          <a:ext cx="6109130" cy="0"/>
        </a:xfrm>
        <a:prstGeom prst="line">
          <a:avLst/>
        </a:prstGeom>
        <a:solidFill>
          <a:schemeClr val="accent2">
            <a:hueOff val="-3715331"/>
            <a:satOff val="-3464"/>
            <a:lumOff val="5490"/>
            <a:alphaOff val="0"/>
          </a:schemeClr>
        </a:solidFill>
        <a:ln w="12700" cap="flat" cmpd="sng" algn="ctr">
          <a:solidFill>
            <a:schemeClr val="accent2">
              <a:hueOff val="-3715331"/>
              <a:satOff val="-3464"/>
              <a:lumOff val="549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B617552-9DD8-4709-926D-D10B5C87C473}">
      <dsp:nvSpPr>
        <dsp:cNvPr id="0" name=""/>
        <dsp:cNvSpPr/>
      </dsp:nvSpPr>
      <dsp:spPr>
        <a:xfrm>
          <a:off x="0" y="3808140"/>
          <a:ext cx="6109130" cy="271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a:t>(Wins After Decision / Matches with That Decision) × 100</a:t>
          </a:r>
        </a:p>
      </dsp:txBody>
      <dsp:txXfrm>
        <a:off x="0" y="3808140"/>
        <a:ext cx="6109130" cy="271974"/>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48D7368D-31D9-8101-473D-CD39E706FD22}"/>
              </a:ext>
              <a:ext uri="{C183D7F6-B498-43B3-948B-1728B52AA6E4}">
                <adec:decorative xmlns:adec="http://schemas.microsoft.com/office/drawing/2017/decorative" val="1"/>
              </a:ext>
            </a:extLst>
          </p:cNvPr>
          <p:cNvSpPr/>
          <p:nvPr/>
        </p:nvSpPr>
        <p:spPr>
          <a:xfrm>
            <a:off x="5796401" y="3378954"/>
            <a:ext cx="6394567" cy="3479046"/>
          </a:xfrm>
          <a:custGeom>
            <a:avLst/>
            <a:gdLst>
              <a:gd name="connsiteX0" fmla="*/ 5171297 w 6394567"/>
              <a:gd name="connsiteY0" fmla="*/ 284 h 3479046"/>
              <a:gd name="connsiteX1" fmla="*/ 6394290 w 6394567"/>
              <a:gd name="connsiteY1" fmla="*/ 430072 h 3479046"/>
              <a:gd name="connsiteX2" fmla="*/ 6394567 w 6394567"/>
              <a:gd name="connsiteY2" fmla="*/ 430316 h 3479046"/>
              <a:gd name="connsiteX3" fmla="*/ 6394567 w 6394567"/>
              <a:gd name="connsiteY3" fmla="*/ 3479046 h 3479046"/>
              <a:gd name="connsiteX4" fmla="*/ 0 w 6394567"/>
              <a:gd name="connsiteY4" fmla="*/ 3479046 h 3479046"/>
              <a:gd name="connsiteX5" fmla="*/ 3916974 w 6394567"/>
              <a:gd name="connsiteY5" fmla="*/ 405504 h 3479046"/>
              <a:gd name="connsiteX6" fmla="*/ 3959456 w 6394567"/>
              <a:gd name="connsiteY6" fmla="*/ 373857 h 3479046"/>
              <a:gd name="connsiteX7" fmla="*/ 5052215 w 6394567"/>
              <a:gd name="connsiteY7" fmla="*/ 1756 h 3479046"/>
              <a:gd name="connsiteX8" fmla="*/ 5171297 w 6394567"/>
              <a:gd name="connsiteY8" fmla="*/ 284 h 3479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94567" h="3479046">
                <a:moveTo>
                  <a:pt x="5171297" y="284"/>
                </a:moveTo>
                <a:cubicBezTo>
                  <a:pt x="5607674" y="7531"/>
                  <a:pt x="6039042" y="153650"/>
                  <a:pt x="6394290" y="430072"/>
                </a:cubicBezTo>
                <a:lnTo>
                  <a:pt x="6394567" y="430316"/>
                </a:lnTo>
                <a:lnTo>
                  <a:pt x="6394567" y="3479046"/>
                </a:lnTo>
                <a:lnTo>
                  <a:pt x="0" y="3479046"/>
                </a:lnTo>
                <a:lnTo>
                  <a:pt x="3916974" y="405504"/>
                </a:lnTo>
                <a:lnTo>
                  <a:pt x="3959456" y="373857"/>
                </a:lnTo>
                <a:cubicBezTo>
                  <a:pt x="4291086" y="139664"/>
                  <a:pt x="4671097" y="17528"/>
                  <a:pt x="5052215" y="1756"/>
                </a:cubicBezTo>
                <a:cubicBezTo>
                  <a:pt x="5091916" y="114"/>
                  <a:pt x="5131627" y="-375"/>
                  <a:pt x="5171297" y="284"/>
                </a:cubicBezTo>
                <a:close/>
              </a:path>
            </a:pathLst>
          </a:custGeom>
          <a:gradFill>
            <a:gsLst>
              <a:gs pos="39000">
                <a:schemeClr val="bg2"/>
              </a:gs>
              <a:gs pos="100000">
                <a:schemeClr val="accent1">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FF32C74-82F4-2A29-889B-EF23CEE6AA4F}"/>
              </a:ext>
            </a:extLst>
          </p:cNvPr>
          <p:cNvSpPr>
            <a:spLocks noGrp="1"/>
          </p:cNvSpPr>
          <p:nvPr>
            <p:ph type="ctrTitle"/>
          </p:nvPr>
        </p:nvSpPr>
        <p:spPr>
          <a:xfrm>
            <a:off x="1066801" y="1122363"/>
            <a:ext cx="6211185" cy="2305246"/>
          </a:xfrm>
        </p:spPr>
        <p:txBody>
          <a:bodyPr anchor="b">
            <a:normAutofit/>
          </a:bodyPr>
          <a:lstStyle>
            <a:lvl1pPr algn="l">
              <a:lnSpc>
                <a:spcPct val="100000"/>
              </a:lnSpc>
              <a:defRPr sz="3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4ACADD6-278F-604C-8A38-BBBAFC6754E8}"/>
              </a:ext>
            </a:extLst>
          </p:cNvPr>
          <p:cNvSpPr>
            <a:spLocks noGrp="1"/>
          </p:cNvSpPr>
          <p:nvPr>
            <p:ph type="subTitle" idx="1"/>
          </p:nvPr>
        </p:nvSpPr>
        <p:spPr>
          <a:xfrm>
            <a:off x="1066802" y="3549048"/>
            <a:ext cx="5029198" cy="1956278"/>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DC43946B-3F5A-C916-B62B-8D5938EA8285}"/>
              </a:ext>
            </a:extLst>
          </p:cNvPr>
          <p:cNvSpPr>
            <a:spLocks noGrp="1"/>
          </p:cNvSpPr>
          <p:nvPr>
            <p:ph type="dt" sz="half" idx="10"/>
          </p:nvPr>
        </p:nvSpPr>
        <p:spPr/>
        <p:txBody>
          <a:bodyPr/>
          <a:lstStyle/>
          <a:p>
            <a:fld id="{1E351CED-465B-40B5-ADCE-957C918F227B}" type="datetimeFigureOut">
              <a:rPr lang="en-US" smtClean="0"/>
              <a:t>1/1/2026</a:t>
            </a:fld>
            <a:endParaRPr lang="en-US"/>
          </a:p>
        </p:txBody>
      </p:sp>
      <p:sp>
        <p:nvSpPr>
          <p:cNvPr id="5" name="Footer Placeholder 4">
            <a:extLst>
              <a:ext uri="{FF2B5EF4-FFF2-40B4-BE49-F238E27FC236}">
                <a16:creationId xmlns:a16="http://schemas.microsoft.com/office/drawing/2014/main" id="{5986539F-2DB8-FCDA-C884-9C3CD29B8C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DAA7B3-5D3B-D493-8F6F-1FEBB8576D62}"/>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31490019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A4769-9A55-AF9B-4CE4-DFA07E711CF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CE45D9E-DBB4-B890-88D5-B4C03599EC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AE15260-1C0B-A965-3114-D7C40D18BDF4}"/>
              </a:ext>
            </a:extLst>
          </p:cNvPr>
          <p:cNvSpPr>
            <a:spLocks noGrp="1"/>
          </p:cNvSpPr>
          <p:nvPr>
            <p:ph type="dt" sz="half" idx="10"/>
          </p:nvPr>
        </p:nvSpPr>
        <p:spPr/>
        <p:txBody>
          <a:bodyPr/>
          <a:lstStyle/>
          <a:p>
            <a:fld id="{1E351CED-465B-40B5-ADCE-957C918F227B}" type="datetimeFigureOut">
              <a:rPr lang="en-US" smtClean="0"/>
              <a:t>1/1/2026</a:t>
            </a:fld>
            <a:endParaRPr lang="en-US"/>
          </a:p>
        </p:txBody>
      </p:sp>
      <p:sp>
        <p:nvSpPr>
          <p:cNvPr id="5" name="Footer Placeholder 4">
            <a:extLst>
              <a:ext uri="{FF2B5EF4-FFF2-40B4-BE49-F238E27FC236}">
                <a16:creationId xmlns:a16="http://schemas.microsoft.com/office/drawing/2014/main" id="{19AAF4D1-0334-3F24-69B4-06C7BD7426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8BA76D-3B8B-429D-9B32-54D6A6297C0A}"/>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36269985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D8D9C414-4A2F-78AF-ED60-6130D4C563B3}"/>
              </a:ext>
            </a:extLst>
          </p:cNvPr>
          <p:cNvSpPr/>
          <p:nvPr/>
        </p:nvSpPr>
        <p:spPr>
          <a:xfrm>
            <a:off x="6284115" y="3378954"/>
            <a:ext cx="5907885" cy="3479046"/>
          </a:xfrm>
          <a:custGeom>
            <a:avLst/>
            <a:gdLst>
              <a:gd name="connsiteX0" fmla="*/ 5171297 w 5907885"/>
              <a:gd name="connsiteY0" fmla="*/ 284 h 3479046"/>
              <a:gd name="connsiteX1" fmla="*/ 5813217 w 5907885"/>
              <a:gd name="connsiteY1" fmla="*/ 114238 h 3479046"/>
              <a:gd name="connsiteX2" fmla="*/ 5907885 w 5907885"/>
              <a:gd name="connsiteY2" fmla="*/ 151524 h 3479046"/>
              <a:gd name="connsiteX3" fmla="*/ 5907885 w 5907885"/>
              <a:gd name="connsiteY3" fmla="*/ 3479046 h 3479046"/>
              <a:gd name="connsiteX4" fmla="*/ 0 w 5907885"/>
              <a:gd name="connsiteY4" fmla="*/ 3479046 h 3479046"/>
              <a:gd name="connsiteX5" fmla="*/ 3916974 w 5907885"/>
              <a:gd name="connsiteY5" fmla="*/ 405504 h 3479046"/>
              <a:gd name="connsiteX6" fmla="*/ 3959456 w 5907885"/>
              <a:gd name="connsiteY6" fmla="*/ 373857 h 3479046"/>
              <a:gd name="connsiteX7" fmla="*/ 5052215 w 5907885"/>
              <a:gd name="connsiteY7" fmla="*/ 1756 h 3479046"/>
              <a:gd name="connsiteX8" fmla="*/ 5171297 w 5907885"/>
              <a:gd name="connsiteY8" fmla="*/ 284 h 3479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07885" h="3479046">
                <a:moveTo>
                  <a:pt x="5171297" y="284"/>
                </a:moveTo>
                <a:cubicBezTo>
                  <a:pt x="5389485" y="3908"/>
                  <a:pt x="5606422" y="42249"/>
                  <a:pt x="5813217" y="114238"/>
                </a:cubicBezTo>
                <a:lnTo>
                  <a:pt x="5907885" y="151524"/>
                </a:lnTo>
                <a:lnTo>
                  <a:pt x="5907885" y="3479046"/>
                </a:lnTo>
                <a:lnTo>
                  <a:pt x="0" y="3479046"/>
                </a:lnTo>
                <a:lnTo>
                  <a:pt x="3916974" y="405504"/>
                </a:lnTo>
                <a:lnTo>
                  <a:pt x="3959456" y="373857"/>
                </a:lnTo>
                <a:cubicBezTo>
                  <a:pt x="4291086" y="139664"/>
                  <a:pt x="4671097" y="17528"/>
                  <a:pt x="5052215" y="1756"/>
                </a:cubicBezTo>
                <a:cubicBezTo>
                  <a:pt x="5091916" y="114"/>
                  <a:pt x="5131627" y="-375"/>
                  <a:pt x="5171297" y="284"/>
                </a:cubicBezTo>
                <a:close/>
              </a:path>
            </a:pathLst>
          </a:custGeom>
          <a:gradFill>
            <a:gsLst>
              <a:gs pos="23000">
                <a:schemeClr val="bg2"/>
              </a:gs>
              <a:gs pos="100000">
                <a:schemeClr val="accent1">
                  <a:lumMod val="60000"/>
                  <a:lumOff val="40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13410AE4-7FC7-589E-B6D3-0DA7B5FC5CE3}"/>
              </a:ext>
            </a:extLst>
          </p:cNvPr>
          <p:cNvSpPr/>
          <p:nvPr/>
        </p:nvSpPr>
        <p:spPr>
          <a:xfrm flipH="1" flipV="1">
            <a:off x="0" y="0"/>
            <a:ext cx="2923855" cy="1479128"/>
          </a:xfrm>
          <a:custGeom>
            <a:avLst/>
            <a:gdLst>
              <a:gd name="connsiteX0" fmla="*/ 2923855 w 2923855"/>
              <a:gd name="connsiteY0" fmla="*/ 1479128 h 1479128"/>
              <a:gd name="connsiteX1" fmla="*/ 0 w 2923855"/>
              <a:gd name="connsiteY1" fmla="*/ 1479128 h 1479128"/>
              <a:gd name="connsiteX2" fmla="*/ 1368245 w 2923855"/>
              <a:gd name="connsiteY2" fmla="*/ 405504 h 1479128"/>
              <a:gd name="connsiteX3" fmla="*/ 1410727 w 2923855"/>
              <a:gd name="connsiteY3" fmla="*/ 373857 h 1479128"/>
              <a:gd name="connsiteX4" fmla="*/ 2503486 w 2923855"/>
              <a:gd name="connsiteY4" fmla="*/ 1756 h 1479128"/>
              <a:gd name="connsiteX5" fmla="*/ 2622568 w 2923855"/>
              <a:gd name="connsiteY5" fmla="*/ 284 h 1479128"/>
              <a:gd name="connsiteX6" fmla="*/ 2785835 w 2923855"/>
              <a:gd name="connsiteY6" fmla="*/ 9494 h 1479128"/>
              <a:gd name="connsiteX7" fmla="*/ 2923855 w 2923855"/>
              <a:gd name="connsiteY7" fmla="*/ 28352 h 1479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23855" h="1479128">
                <a:moveTo>
                  <a:pt x="2923855" y="1479128"/>
                </a:moveTo>
                <a:lnTo>
                  <a:pt x="0" y="1479128"/>
                </a:lnTo>
                <a:lnTo>
                  <a:pt x="1368245" y="405504"/>
                </a:lnTo>
                <a:lnTo>
                  <a:pt x="1410727" y="373857"/>
                </a:lnTo>
                <a:cubicBezTo>
                  <a:pt x="1742357" y="139664"/>
                  <a:pt x="2122368" y="17528"/>
                  <a:pt x="2503486" y="1756"/>
                </a:cubicBezTo>
                <a:cubicBezTo>
                  <a:pt x="2543187" y="114"/>
                  <a:pt x="2582898" y="-375"/>
                  <a:pt x="2622568" y="284"/>
                </a:cubicBezTo>
                <a:cubicBezTo>
                  <a:pt x="2677115" y="1190"/>
                  <a:pt x="2731584" y="4266"/>
                  <a:pt x="2785835" y="9494"/>
                </a:cubicBezTo>
                <a:lnTo>
                  <a:pt x="2923855" y="28352"/>
                </a:lnTo>
                <a:close/>
              </a:path>
            </a:pathLst>
          </a:custGeom>
          <a:gradFill>
            <a:gsLst>
              <a:gs pos="33000">
                <a:schemeClr val="bg2"/>
              </a:gs>
              <a:gs pos="100000">
                <a:schemeClr val="accent1">
                  <a:lumMod val="60000"/>
                  <a:lumOff val="4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B381CBD-08D9-3C9A-7620-24F2D6404893}"/>
              </a:ext>
            </a:extLst>
          </p:cNvPr>
          <p:cNvSpPr>
            <a:spLocks noGrp="1"/>
          </p:cNvSpPr>
          <p:nvPr>
            <p:ph type="title"/>
          </p:nvPr>
        </p:nvSpPr>
        <p:spPr>
          <a:xfrm>
            <a:off x="1066800" y="1709738"/>
            <a:ext cx="6455434" cy="2981274"/>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D5AE2B-1716-CEEC-73F8-E81F59192562}"/>
              </a:ext>
            </a:extLst>
          </p:cNvPr>
          <p:cNvSpPr>
            <a:spLocks noGrp="1"/>
          </p:cNvSpPr>
          <p:nvPr>
            <p:ph type="body" idx="1"/>
          </p:nvPr>
        </p:nvSpPr>
        <p:spPr>
          <a:xfrm>
            <a:off x="1066800" y="4759252"/>
            <a:ext cx="5397260" cy="955748"/>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5CF3052-6EE8-979F-04FB-1B8DF81F29B9}"/>
              </a:ext>
            </a:extLst>
          </p:cNvPr>
          <p:cNvSpPr>
            <a:spLocks noGrp="1"/>
          </p:cNvSpPr>
          <p:nvPr>
            <p:ph type="dt" sz="half" idx="10"/>
          </p:nvPr>
        </p:nvSpPr>
        <p:spPr/>
        <p:txBody>
          <a:bodyPr/>
          <a:lstStyle/>
          <a:p>
            <a:fld id="{1E351CED-465B-40B5-ADCE-957C918F227B}" type="datetimeFigureOut">
              <a:rPr lang="en-US" smtClean="0"/>
              <a:t>1/1/2026</a:t>
            </a:fld>
            <a:endParaRPr lang="en-US"/>
          </a:p>
        </p:txBody>
      </p:sp>
      <p:sp>
        <p:nvSpPr>
          <p:cNvPr id="5" name="Footer Placeholder 4">
            <a:extLst>
              <a:ext uri="{FF2B5EF4-FFF2-40B4-BE49-F238E27FC236}">
                <a16:creationId xmlns:a16="http://schemas.microsoft.com/office/drawing/2014/main" id="{7D986285-161A-6869-27C2-0A159C2344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7ED64F-5DAB-238D-C34A-1DCCB12221DD}"/>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3288589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484D0-7460-7B08-F1EE-96EABE40212A}"/>
              </a:ext>
            </a:extLst>
          </p:cNvPr>
          <p:cNvSpPr>
            <a:spLocks noGrp="1"/>
          </p:cNvSpPr>
          <p:nvPr>
            <p:ph type="title"/>
          </p:nvPr>
        </p:nvSpPr>
        <p:spPr>
          <a:xfrm>
            <a:off x="1066799" y="936841"/>
            <a:ext cx="10092477" cy="95366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80B7F9-8ECB-7079-A11E-51D3903E2B1A}"/>
              </a:ext>
            </a:extLst>
          </p:cNvPr>
          <p:cNvSpPr>
            <a:spLocks noGrp="1"/>
          </p:cNvSpPr>
          <p:nvPr>
            <p:ph sz="half" idx="1"/>
          </p:nvPr>
        </p:nvSpPr>
        <p:spPr>
          <a:xfrm>
            <a:off x="1066800" y="2117341"/>
            <a:ext cx="4809482" cy="37601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E4E97161-CAF5-CA48-D814-7ACD43AB99E1}"/>
              </a:ext>
            </a:extLst>
          </p:cNvPr>
          <p:cNvSpPr>
            <a:spLocks noGrp="1"/>
          </p:cNvSpPr>
          <p:nvPr>
            <p:ph sz="half" idx="2"/>
          </p:nvPr>
        </p:nvSpPr>
        <p:spPr>
          <a:xfrm>
            <a:off x="6349795" y="2117341"/>
            <a:ext cx="4809482" cy="37601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623BD680-4E7A-5155-3CAE-6BD44EE8BA83}"/>
              </a:ext>
            </a:extLst>
          </p:cNvPr>
          <p:cNvSpPr>
            <a:spLocks noGrp="1"/>
          </p:cNvSpPr>
          <p:nvPr>
            <p:ph type="dt" sz="half" idx="10"/>
          </p:nvPr>
        </p:nvSpPr>
        <p:spPr/>
        <p:txBody>
          <a:bodyPr/>
          <a:lstStyle/>
          <a:p>
            <a:fld id="{1E351CED-465B-40B5-ADCE-957C918F227B}" type="datetimeFigureOut">
              <a:rPr lang="en-US" smtClean="0"/>
              <a:t>1/1/2026</a:t>
            </a:fld>
            <a:endParaRPr lang="en-US"/>
          </a:p>
        </p:txBody>
      </p:sp>
      <p:sp>
        <p:nvSpPr>
          <p:cNvPr id="6" name="Footer Placeholder 5">
            <a:extLst>
              <a:ext uri="{FF2B5EF4-FFF2-40B4-BE49-F238E27FC236}">
                <a16:creationId xmlns:a16="http://schemas.microsoft.com/office/drawing/2014/main" id="{4F6A152D-EFF2-B3AA-3F25-14E1136734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BD6032-FD7A-BFFD-9BE5-48EDBEFBD147}"/>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20627800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47F4D-4855-340E-03F3-4860885EC671}"/>
              </a:ext>
            </a:extLst>
          </p:cNvPr>
          <p:cNvSpPr>
            <a:spLocks noGrp="1"/>
          </p:cNvSpPr>
          <p:nvPr>
            <p:ph type="title"/>
          </p:nvPr>
        </p:nvSpPr>
        <p:spPr>
          <a:xfrm>
            <a:off x="1066800" y="963283"/>
            <a:ext cx="10096500" cy="916004"/>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3CEB472-7426-C288-B5F6-0A1232DCED65}"/>
              </a:ext>
            </a:extLst>
          </p:cNvPr>
          <p:cNvSpPr>
            <a:spLocks noGrp="1"/>
          </p:cNvSpPr>
          <p:nvPr>
            <p:ph type="body" idx="1"/>
          </p:nvPr>
        </p:nvSpPr>
        <p:spPr>
          <a:xfrm>
            <a:off x="1066801" y="1879287"/>
            <a:ext cx="4739628" cy="582117"/>
          </a:xfrm>
        </p:spPr>
        <p:txBody>
          <a:bodyPr anchor="b">
            <a:noAutofit/>
          </a:bodyPr>
          <a:lstStyle>
            <a:lvl1pPr marL="0" indent="0">
              <a:buNone/>
              <a:defRPr sz="1400" b="1" cap="all" spc="25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3194F9C-B6FA-97C3-F618-0CF956CB53B2}"/>
              </a:ext>
            </a:extLst>
          </p:cNvPr>
          <p:cNvSpPr>
            <a:spLocks noGrp="1"/>
          </p:cNvSpPr>
          <p:nvPr>
            <p:ph sz="half" idx="2"/>
          </p:nvPr>
        </p:nvSpPr>
        <p:spPr>
          <a:xfrm>
            <a:off x="1066801" y="2505075"/>
            <a:ext cx="4739628" cy="33896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8F5665C-7910-AFA2-350F-42C06ED5AF47}"/>
              </a:ext>
            </a:extLst>
          </p:cNvPr>
          <p:cNvSpPr>
            <a:spLocks noGrp="1"/>
          </p:cNvSpPr>
          <p:nvPr>
            <p:ph type="body" sz="quarter" idx="3"/>
          </p:nvPr>
        </p:nvSpPr>
        <p:spPr>
          <a:xfrm>
            <a:off x="6400330" y="1879287"/>
            <a:ext cx="4762970" cy="582117"/>
          </a:xfrm>
        </p:spPr>
        <p:txBody>
          <a:bodyPr anchor="b">
            <a:noAutofit/>
          </a:bodyPr>
          <a:lstStyle>
            <a:lvl1pPr marL="0" indent="0">
              <a:buNone/>
              <a:defRPr sz="1400" b="1" cap="all" spc="25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D71352E-1DE0-F0CD-6F81-1D8FF59C2B0D}"/>
              </a:ext>
            </a:extLst>
          </p:cNvPr>
          <p:cNvSpPr>
            <a:spLocks noGrp="1"/>
          </p:cNvSpPr>
          <p:nvPr>
            <p:ph sz="quarter" idx="4"/>
          </p:nvPr>
        </p:nvSpPr>
        <p:spPr>
          <a:xfrm>
            <a:off x="6400330" y="2505075"/>
            <a:ext cx="4762970" cy="33896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D38F7E4-7D9E-4736-3269-4F0C46996125}"/>
              </a:ext>
            </a:extLst>
          </p:cNvPr>
          <p:cNvSpPr>
            <a:spLocks noGrp="1"/>
          </p:cNvSpPr>
          <p:nvPr>
            <p:ph type="dt" sz="half" idx="10"/>
          </p:nvPr>
        </p:nvSpPr>
        <p:spPr/>
        <p:txBody>
          <a:bodyPr/>
          <a:lstStyle/>
          <a:p>
            <a:fld id="{1E351CED-465B-40B5-ADCE-957C918F227B}" type="datetimeFigureOut">
              <a:rPr lang="en-US" smtClean="0"/>
              <a:t>1/1/2026</a:t>
            </a:fld>
            <a:endParaRPr lang="en-US"/>
          </a:p>
        </p:txBody>
      </p:sp>
      <p:sp>
        <p:nvSpPr>
          <p:cNvPr id="8" name="Footer Placeholder 7">
            <a:extLst>
              <a:ext uri="{FF2B5EF4-FFF2-40B4-BE49-F238E27FC236}">
                <a16:creationId xmlns:a16="http://schemas.microsoft.com/office/drawing/2014/main" id="{218386CF-9A84-8D2A-BC47-C951DD99492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980844D-FE1F-49E7-3BBD-527FB72ECD1D}"/>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2788125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F691C-93A5-1364-00A9-A470C289F365}"/>
              </a:ext>
            </a:extLst>
          </p:cNvPr>
          <p:cNvSpPr>
            <a:spLocks noGrp="1"/>
          </p:cNvSpPr>
          <p:nvPr>
            <p:ph type="title"/>
          </p:nvPr>
        </p:nvSpPr>
        <p:spPr>
          <a:xfrm>
            <a:off x="1066800" y="1357223"/>
            <a:ext cx="8886884" cy="1043078"/>
          </a:xfrm>
        </p:spPr>
        <p:txBody>
          <a:bodyPr anchor="t"/>
          <a:lstStyle/>
          <a:p>
            <a:r>
              <a:rPr lang="en-US"/>
              <a:t>Click to edit Master title style</a:t>
            </a:r>
            <a:endParaRPr lang="en-US" dirty="0"/>
          </a:p>
        </p:txBody>
      </p:sp>
      <p:sp>
        <p:nvSpPr>
          <p:cNvPr id="3" name="Date Placeholder 2">
            <a:extLst>
              <a:ext uri="{FF2B5EF4-FFF2-40B4-BE49-F238E27FC236}">
                <a16:creationId xmlns:a16="http://schemas.microsoft.com/office/drawing/2014/main" id="{76E055BD-4154-B9D1-0B5B-B1E3A06B6B31}"/>
              </a:ext>
            </a:extLst>
          </p:cNvPr>
          <p:cNvSpPr>
            <a:spLocks noGrp="1"/>
          </p:cNvSpPr>
          <p:nvPr>
            <p:ph type="dt" sz="half" idx="10"/>
          </p:nvPr>
        </p:nvSpPr>
        <p:spPr/>
        <p:txBody>
          <a:bodyPr/>
          <a:lstStyle/>
          <a:p>
            <a:fld id="{1E351CED-465B-40B5-ADCE-957C918F227B}" type="datetimeFigureOut">
              <a:rPr lang="en-US" smtClean="0"/>
              <a:t>1/1/2026</a:t>
            </a:fld>
            <a:endParaRPr lang="en-US"/>
          </a:p>
        </p:txBody>
      </p:sp>
      <p:sp>
        <p:nvSpPr>
          <p:cNvPr id="4" name="Footer Placeholder 3">
            <a:extLst>
              <a:ext uri="{FF2B5EF4-FFF2-40B4-BE49-F238E27FC236}">
                <a16:creationId xmlns:a16="http://schemas.microsoft.com/office/drawing/2014/main" id="{0C2A9E4A-03D1-7A8B-233D-014A3248F0B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82CEFC4-D276-DF45-F395-F5BD2EA70114}"/>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2257619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12C0AD-76F4-FCE4-2717-0A9AA4351B6D}"/>
              </a:ext>
            </a:extLst>
          </p:cNvPr>
          <p:cNvSpPr>
            <a:spLocks noGrp="1"/>
          </p:cNvSpPr>
          <p:nvPr>
            <p:ph type="dt" sz="half" idx="10"/>
          </p:nvPr>
        </p:nvSpPr>
        <p:spPr/>
        <p:txBody>
          <a:bodyPr/>
          <a:lstStyle/>
          <a:p>
            <a:fld id="{1E351CED-465B-40B5-ADCE-957C918F227B}" type="datetimeFigureOut">
              <a:rPr lang="en-US" smtClean="0"/>
              <a:t>1/1/2026</a:t>
            </a:fld>
            <a:endParaRPr lang="en-US"/>
          </a:p>
        </p:txBody>
      </p:sp>
      <p:sp>
        <p:nvSpPr>
          <p:cNvPr id="3" name="Footer Placeholder 2">
            <a:extLst>
              <a:ext uri="{FF2B5EF4-FFF2-40B4-BE49-F238E27FC236}">
                <a16:creationId xmlns:a16="http://schemas.microsoft.com/office/drawing/2014/main" id="{BE83BB66-3F41-7F1D-5108-B3F679A88E6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FAA6DA0-07AE-4BE4-B82F-7936D0E3E37D}"/>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16353027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BFB75-C953-0BD0-4E2E-717767426228}"/>
              </a:ext>
            </a:extLst>
          </p:cNvPr>
          <p:cNvSpPr>
            <a:spLocks noGrp="1"/>
          </p:cNvSpPr>
          <p:nvPr>
            <p:ph type="title"/>
          </p:nvPr>
        </p:nvSpPr>
        <p:spPr>
          <a:xfrm>
            <a:off x="1066800" y="770626"/>
            <a:ext cx="3705225" cy="1286774"/>
          </a:xfrm>
        </p:spPr>
        <p:txBody>
          <a:bodyPr anchor="b">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E1AA52-60F3-40F2-673B-5848F4253FF0}"/>
              </a:ext>
            </a:extLst>
          </p:cNvPr>
          <p:cNvSpPr>
            <a:spLocks noGrp="1"/>
          </p:cNvSpPr>
          <p:nvPr>
            <p:ph idx="1"/>
          </p:nvPr>
        </p:nvSpPr>
        <p:spPr>
          <a:xfrm>
            <a:off x="5183188" y="1075426"/>
            <a:ext cx="5980112" cy="476837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0167E8-C561-5A72-AED3-442F66DDEE31}"/>
              </a:ext>
            </a:extLst>
          </p:cNvPr>
          <p:cNvSpPr>
            <a:spLocks noGrp="1"/>
          </p:cNvSpPr>
          <p:nvPr>
            <p:ph type="body" sz="half" idx="2"/>
          </p:nvPr>
        </p:nvSpPr>
        <p:spPr>
          <a:xfrm>
            <a:off x="1066800" y="2057400"/>
            <a:ext cx="37052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DBFED3-7CB3-1B8B-9504-13A121CAD015}"/>
              </a:ext>
            </a:extLst>
          </p:cNvPr>
          <p:cNvSpPr>
            <a:spLocks noGrp="1"/>
          </p:cNvSpPr>
          <p:nvPr>
            <p:ph type="dt" sz="half" idx="10"/>
          </p:nvPr>
        </p:nvSpPr>
        <p:spPr/>
        <p:txBody>
          <a:bodyPr/>
          <a:lstStyle/>
          <a:p>
            <a:fld id="{1E351CED-465B-40B5-ADCE-957C918F227B}" type="datetimeFigureOut">
              <a:rPr lang="en-US" smtClean="0"/>
              <a:t>1/1/2026</a:t>
            </a:fld>
            <a:endParaRPr lang="en-US"/>
          </a:p>
        </p:txBody>
      </p:sp>
      <p:sp>
        <p:nvSpPr>
          <p:cNvPr id="6" name="Footer Placeholder 5">
            <a:extLst>
              <a:ext uri="{FF2B5EF4-FFF2-40B4-BE49-F238E27FC236}">
                <a16:creationId xmlns:a16="http://schemas.microsoft.com/office/drawing/2014/main" id="{152456C9-19A0-4441-B1AF-B7AFBF642F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8898EA-84CC-411C-0012-D314953696B9}"/>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29762415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C1E10-1458-2553-05B4-313F7E26D210}"/>
              </a:ext>
            </a:extLst>
          </p:cNvPr>
          <p:cNvSpPr>
            <a:spLocks noGrp="1"/>
          </p:cNvSpPr>
          <p:nvPr>
            <p:ph type="title"/>
          </p:nvPr>
        </p:nvSpPr>
        <p:spPr>
          <a:xfrm>
            <a:off x="1066800" y="782128"/>
            <a:ext cx="3705225" cy="1275272"/>
          </a:xfrm>
        </p:spPr>
        <p:txBody>
          <a:bodyPr anchor="b">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43C0F677-F177-6DED-1920-685B9D9FF254}"/>
              </a:ext>
            </a:extLst>
          </p:cNvPr>
          <p:cNvSpPr>
            <a:spLocks noGrp="1"/>
          </p:cNvSpPr>
          <p:nvPr>
            <p:ph type="pic" idx="1"/>
          </p:nvPr>
        </p:nvSpPr>
        <p:spPr>
          <a:xfrm>
            <a:off x="5183188" y="1143000"/>
            <a:ext cx="5980112" cy="4572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BC4D1CB1-2109-480E-8904-4077C94D6E7D}"/>
              </a:ext>
            </a:extLst>
          </p:cNvPr>
          <p:cNvSpPr>
            <a:spLocks noGrp="1"/>
          </p:cNvSpPr>
          <p:nvPr>
            <p:ph type="body" sz="half" idx="2"/>
          </p:nvPr>
        </p:nvSpPr>
        <p:spPr>
          <a:xfrm>
            <a:off x="1066800" y="2057400"/>
            <a:ext cx="3705225" cy="36576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B0DB38-7CB9-2140-BC21-6D2E7DD0B6B5}"/>
              </a:ext>
            </a:extLst>
          </p:cNvPr>
          <p:cNvSpPr>
            <a:spLocks noGrp="1"/>
          </p:cNvSpPr>
          <p:nvPr>
            <p:ph type="dt" sz="half" idx="10"/>
          </p:nvPr>
        </p:nvSpPr>
        <p:spPr/>
        <p:txBody>
          <a:bodyPr/>
          <a:lstStyle/>
          <a:p>
            <a:fld id="{1E351CED-465B-40B5-ADCE-957C918F227B}" type="datetimeFigureOut">
              <a:rPr lang="en-US" smtClean="0"/>
              <a:t>1/1/2026</a:t>
            </a:fld>
            <a:endParaRPr lang="en-US"/>
          </a:p>
        </p:txBody>
      </p:sp>
      <p:sp>
        <p:nvSpPr>
          <p:cNvPr id="6" name="Footer Placeholder 5">
            <a:extLst>
              <a:ext uri="{FF2B5EF4-FFF2-40B4-BE49-F238E27FC236}">
                <a16:creationId xmlns:a16="http://schemas.microsoft.com/office/drawing/2014/main" id="{C7B448AD-3B1D-4B5E-CAB9-BB5FD2CDEB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EEF53D-CF5A-87A2-E973-3B8CCDEBAA2B}"/>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37922589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50D2E-0561-F284-F89A-AAE3CD09AC24}"/>
              </a:ext>
            </a:extLst>
          </p:cNvPr>
          <p:cNvSpPr>
            <a:spLocks noGrp="1"/>
          </p:cNvSpPr>
          <p:nvPr>
            <p:ph type="title"/>
          </p:nvPr>
        </p:nvSpPr>
        <p:spPr>
          <a:xfrm>
            <a:off x="1066800" y="936841"/>
            <a:ext cx="10239338" cy="953669"/>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2657C4C-16EC-2477-6332-830F53011D33}"/>
              </a:ext>
            </a:extLst>
          </p:cNvPr>
          <p:cNvSpPr>
            <a:spLocks noGrp="1"/>
          </p:cNvSpPr>
          <p:nvPr>
            <p:ph type="body" orient="vert" idx="1"/>
          </p:nvPr>
        </p:nvSpPr>
        <p:spPr>
          <a:xfrm>
            <a:off x="1069848" y="2139696"/>
            <a:ext cx="10239338" cy="367768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0940D3-6996-1C08-F1AF-87C354657912}"/>
              </a:ext>
            </a:extLst>
          </p:cNvPr>
          <p:cNvSpPr>
            <a:spLocks noGrp="1"/>
          </p:cNvSpPr>
          <p:nvPr>
            <p:ph type="dt" sz="half" idx="10"/>
          </p:nvPr>
        </p:nvSpPr>
        <p:spPr/>
        <p:txBody>
          <a:bodyPr/>
          <a:lstStyle/>
          <a:p>
            <a:fld id="{1E351CED-465B-40B5-ADCE-957C918F227B}" type="datetimeFigureOut">
              <a:rPr lang="en-US" smtClean="0"/>
              <a:t>1/1/2026</a:t>
            </a:fld>
            <a:endParaRPr lang="en-US"/>
          </a:p>
        </p:txBody>
      </p:sp>
      <p:sp>
        <p:nvSpPr>
          <p:cNvPr id="5" name="Footer Placeholder 4">
            <a:extLst>
              <a:ext uri="{FF2B5EF4-FFF2-40B4-BE49-F238E27FC236}">
                <a16:creationId xmlns:a16="http://schemas.microsoft.com/office/drawing/2014/main" id="{4C3676C3-588F-B636-8CE0-AA2CBFBCE9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CEF8A9-EB1E-B344-A4B8-B58D0633630B}"/>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33882803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EF3A28-33E4-2796-AE7A-1234569F5CE0}"/>
              </a:ext>
            </a:extLst>
          </p:cNvPr>
          <p:cNvSpPr>
            <a:spLocks noGrp="1"/>
          </p:cNvSpPr>
          <p:nvPr>
            <p:ph type="title" orient="vert"/>
          </p:nvPr>
        </p:nvSpPr>
        <p:spPr>
          <a:xfrm>
            <a:off x="8844950" y="1081177"/>
            <a:ext cx="2508849" cy="4633823"/>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A6D185FC-2BBB-E997-A5CD-F2C6CF6B7C68}"/>
              </a:ext>
            </a:extLst>
          </p:cNvPr>
          <p:cNvSpPr>
            <a:spLocks noGrp="1"/>
          </p:cNvSpPr>
          <p:nvPr>
            <p:ph type="body" orient="vert" idx="1"/>
          </p:nvPr>
        </p:nvSpPr>
        <p:spPr>
          <a:xfrm>
            <a:off x="1066800" y="1081177"/>
            <a:ext cx="7505700" cy="463382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E314B3C-96CD-071C-C2AD-2C7E04F819C0}"/>
              </a:ext>
            </a:extLst>
          </p:cNvPr>
          <p:cNvSpPr>
            <a:spLocks noGrp="1"/>
          </p:cNvSpPr>
          <p:nvPr>
            <p:ph type="dt" sz="half" idx="10"/>
          </p:nvPr>
        </p:nvSpPr>
        <p:spPr/>
        <p:txBody>
          <a:bodyPr/>
          <a:lstStyle/>
          <a:p>
            <a:fld id="{1E351CED-465B-40B5-ADCE-957C918F227B}" type="datetimeFigureOut">
              <a:rPr lang="en-US" smtClean="0"/>
              <a:t>1/1/2026</a:t>
            </a:fld>
            <a:endParaRPr lang="en-US"/>
          </a:p>
        </p:txBody>
      </p:sp>
      <p:sp>
        <p:nvSpPr>
          <p:cNvPr id="5" name="Footer Placeholder 4">
            <a:extLst>
              <a:ext uri="{FF2B5EF4-FFF2-40B4-BE49-F238E27FC236}">
                <a16:creationId xmlns:a16="http://schemas.microsoft.com/office/drawing/2014/main" id="{F5AA2B04-F5E0-C5A3-C77D-6AE9A9E913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155BC2-C712-C4A4-50EC-E10D88344310}"/>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17251470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1F4A25-A386-9574-775C-E5E5F9FC352A}"/>
              </a:ext>
            </a:extLst>
          </p:cNvPr>
          <p:cNvSpPr>
            <a:spLocks noGrp="1"/>
          </p:cNvSpPr>
          <p:nvPr>
            <p:ph type="title"/>
          </p:nvPr>
        </p:nvSpPr>
        <p:spPr>
          <a:xfrm>
            <a:off x="1066800" y="936841"/>
            <a:ext cx="8886884" cy="953669"/>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4F7885F-2B7B-74DB-9996-E0ACEBC9DB25}"/>
              </a:ext>
            </a:extLst>
          </p:cNvPr>
          <p:cNvSpPr>
            <a:spLocks noGrp="1"/>
          </p:cNvSpPr>
          <p:nvPr>
            <p:ph type="body" idx="1"/>
          </p:nvPr>
        </p:nvSpPr>
        <p:spPr>
          <a:xfrm>
            <a:off x="1069848" y="2139696"/>
            <a:ext cx="8883836" cy="36776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6804F519-BA47-2B81-CC1C-7E1F119EC69E}"/>
              </a:ext>
            </a:extLst>
          </p:cNvPr>
          <p:cNvSpPr>
            <a:spLocks noGrp="1"/>
          </p:cNvSpPr>
          <p:nvPr>
            <p:ph type="dt" sz="half" idx="2"/>
          </p:nvPr>
        </p:nvSpPr>
        <p:spPr>
          <a:xfrm rot="5400000">
            <a:off x="10477379" y="4629744"/>
            <a:ext cx="2653508" cy="365125"/>
          </a:xfrm>
          <a:prstGeom prst="rect">
            <a:avLst/>
          </a:prstGeom>
        </p:spPr>
        <p:txBody>
          <a:bodyPr vert="horz" lIns="91440" tIns="45720" rIns="91440" bIns="45720" rtlCol="0" anchor="ctr"/>
          <a:lstStyle>
            <a:lvl1pPr algn="r">
              <a:defRPr sz="900">
                <a:solidFill>
                  <a:schemeClr val="tx1"/>
                </a:solidFill>
              </a:defRPr>
            </a:lvl1pPr>
          </a:lstStyle>
          <a:p>
            <a:fld id="{1E351CED-465B-40B5-ADCE-957C918F227B}" type="datetimeFigureOut">
              <a:rPr lang="en-US" smtClean="0"/>
              <a:t>1/1/2026</a:t>
            </a:fld>
            <a:endParaRPr lang="en-US"/>
          </a:p>
        </p:txBody>
      </p:sp>
      <p:sp>
        <p:nvSpPr>
          <p:cNvPr id="5" name="Footer Placeholder 4">
            <a:extLst>
              <a:ext uri="{FF2B5EF4-FFF2-40B4-BE49-F238E27FC236}">
                <a16:creationId xmlns:a16="http://schemas.microsoft.com/office/drawing/2014/main" id="{BE952D7B-C352-1630-4C3D-7D5983C04D4A}"/>
              </a:ext>
            </a:extLst>
          </p:cNvPr>
          <p:cNvSpPr>
            <a:spLocks noGrp="1"/>
          </p:cNvSpPr>
          <p:nvPr>
            <p:ph type="ftr" sz="quarter" idx="3"/>
          </p:nvPr>
        </p:nvSpPr>
        <p:spPr>
          <a:xfrm>
            <a:off x="8610602" y="6318446"/>
            <a:ext cx="2743198" cy="365125"/>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F96E04F0-DF9B-480B-CC46-BAE7A81FB7E6}"/>
              </a:ext>
            </a:extLst>
          </p:cNvPr>
          <p:cNvSpPr>
            <a:spLocks noGrp="1"/>
          </p:cNvSpPr>
          <p:nvPr>
            <p:ph type="sldNum" sz="quarter" idx="4"/>
          </p:nvPr>
        </p:nvSpPr>
        <p:spPr>
          <a:xfrm>
            <a:off x="11353800" y="6318446"/>
            <a:ext cx="615696" cy="365125"/>
          </a:xfrm>
          <a:prstGeom prst="rect">
            <a:avLst/>
          </a:prstGeom>
        </p:spPr>
        <p:txBody>
          <a:bodyPr vert="horz" lIns="91440" tIns="45720" rIns="91440" bIns="45720" rtlCol="0" anchor="ctr"/>
          <a:lstStyle>
            <a:lvl1pPr algn="r">
              <a:defRPr sz="1600" b="1">
                <a:solidFill>
                  <a:schemeClr val="tx1"/>
                </a:solidFill>
              </a:defRPr>
            </a:lvl1pPr>
          </a:lstStyle>
          <a:p>
            <a:fld id="{5A33CB2A-1702-4C1D-9CC4-8D472D39F19E}" type="slidenum">
              <a:rPr lang="en-US" smtClean="0"/>
              <a:t>‹#›</a:t>
            </a:fld>
            <a:endParaRPr lang="en-US"/>
          </a:p>
        </p:txBody>
      </p:sp>
    </p:spTree>
    <p:extLst>
      <p:ext uri="{BB962C8B-B14F-4D97-AF65-F5344CB8AC3E}">
        <p14:creationId xmlns:p14="http://schemas.microsoft.com/office/powerpoint/2010/main" val="563481975"/>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56" r:id="rId6"/>
    <p:sldLayoutId id="2147483752" r:id="rId7"/>
    <p:sldLayoutId id="2147483753" r:id="rId8"/>
    <p:sldLayoutId id="2147483754" r:id="rId9"/>
    <p:sldLayoutId id="2147483755" r:id="rId10"/>
    <p:sldLayoutId id="2147483757" r:id="rId11"/>
  </p:sldLayoutIdLst>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548640" indent="-228600" algn="l" defTabSz="914400" rtl="0" eaLnBrk="1" latinLnBrk="0" hangingPunct="1">
        <a:lnSpc>
          <a:spcPct val="120000"/>
        </a:lnSpc>
        <a:spcBef>
          <a:spcPts val="500"/>
        </a:spcBef>
        <a:buFont typeface="Neue Haas Grotesk Text Pro" panose="020B0504020202020204" pitchFamily="34" charset="0"/>
        <a:buChar char="–"/>
        <a:defRPr sz="1600" kern="1200">
          <a:solidFill>
            <a:schemeClr val="tx1"/>
          </a:solidFill>
          <a:latin typeface="+mn-lt"/>
          <a:ea typeface="+mn-ea"/>
          <a:cs typeface="+mn-cs"/>
        </a:defRPr>
      </a:lvl2pPr>
      <a:lvl3pPr marL="77724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Neue Haas Grotesk Text Pro" panose="020B0504020202020204" pitchFamily="34" charset="0"/>
        <a:buChar char="–"/>
        <a:defRPr sz="1200" kern="1200">
          <a:solidFill>
            <a:schemeClr val="tx1"/>
          </a:solidFill>
          <a:latin typeface="+mn-lt"/>
          <a:ea typeface="+mn-ea"/>
          <a:cs typeface="+mn-cs"/>
        </a:defRPr>
      </a:lvl4pPr>
      <a:lvl5pPr marL="109728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C2DD92EE-81C7-DDCC-4BA7-E2BC16CC3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066800" y="1084008"/>
            <a:ext cx="6944436" cy="2090634"/>
          </a:xfrm>
        </p:spPr>
        <p:txBody>
          <a:bodyPr anchor="b">
            <a:normAutofit fontScale="90000"/>
          </a:bodyPr>
          <a:lstStyle/>
          <a:p>
            <a:r>
              <a:rPr lang="en-US" sz="4800" dirty="0">
                <a:solidFill>
                  <a:srgbClr val="FBB901"/>
                </a:solidFill>
                <a:latin typeface="Arial"/>
                <a:cs typeface="Arial"/>
              </a:rPr>
              <a:t>SQL Project: RCB - IPL Strategy</a:t>
            </a:r>
            <a:endParaRPr lang="en-US" dirty="0"/>
          </a:p>
          <a:p>
            <a:br>
              <a:rPr lang="en-US" dirty="0"/>
            </a:br>
            <a:endParaRPr lang="en-US" dirty="0"/>
          </a:p>
        </p:txBody>
      </p:sp>
      <p:sp>
        <p:nvSpPr>
          <p:cNvPr id="3" name="Subtitle 2"/>
          <p:cNvSpPr>
            <a:spLocks noGrp="1"/>
          </p:cNvSpPr>
          <p:nvPr>
            <p:ph type="subTitle" idx="1"/>
          </p:nvPr>
        </p:nvSpPr>
        <p:spPr>
          <a:xfrm>
            <a:off x="1066800" y="3233019"/>
            <a:ext cx="4559643" cy="1771136"/>
          </a:xfrm>
        </p:spPr>
        <p:txBody>
          <a:bodyPr vert="horz" lIns="91440" tIns="45720" rIns="91440" bIns="45720" rtlCol="0" anchor="t">
            <a:normAutofit fontScale="85000" lnSpcReduction="10000"/>
          </a:bodyPr>
          <a:lstStyle/>
          <a:p>
            <a:r>
              <a:rPr lang="en-US" b="1" dirty="0">
                <a:solidFill>
                  <a:srgbClr val="FFFFFF"/>
                </a:solidFill>
                <a:latin typeface="Arial"/>
                <a:cs typeface="Arial"/>
              </a:rPr>
              <a:t>Submitted By:</a:t>
            </a:r>
            <a:endParaRPr lang="en-US" dirty="0"/>
          </a:p>
          <a:p>
            <a:r>
              <a:rPr lang="en-US" dirty="0"/>
              <a:t>Submitted by </a:t>
            </a:r>
          </a:p>
          <a:p>
            <a:r>
              <a:rPr lang="en-US" dirty="0"/>
              <a:t>Ayush </a:t>
            </a:r>
            <a:r>
              <a:rPr lang="en-US" dirty="0" err="1"/>
              <a:t>Nandwana</a:t>
            </a:r>
            <a:br>
              <a:rPr lang="en-US" dirty="0"/>
            </a:br>
            <a:br>
              <a:rPr lang="en-US" dirty="0"/>
            </a:br>
            <a:endParaRPr lang="en-US"/>
          </a:p>
        </p:txBody>
      </p:sp>
      <p:sp>
        <p:nvSpPr>
          <p:cNvPr id="74" name="Freeform: Shape 73">
            <a:extLst>
              <a:ext uri="{FF2B5EF4-FFF2-40B4-BE49-F238E27FC236}">
                <a16:creationId xmlns:a16="http://schemas.microsoft.com/office/drawing/2014/main" id="{9B657C6D-9581-C9C7-E91F-3E3ED3678E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20091" y="3378954"/>
            <a:ext cx="6394567" cy="3479046"/>
          </a:xfrm>
          <a:custGeom>
            <a:avLst/>
            <a:gdLst>
              <a:gd name="connsiteX0" fmla="*/ 5171297 w 6394567"/>
              <a:gd name="connsiteY0" fmla="*/ 284 h 3479046"/>
              <a:gd name="connsiteX1" fmla="*/ 6394290 w 6394567"/>
              <a:gd name="connsiteY1" fmla="*/ 430072 h 3479046"/>
              <a:gd name="connsiteX2" fmla="*/ 6394567 w 6394567"/>
              <a:gd name="connsiteY2" fmla="*/ 430316 h 3479046"/>
              <a:gd name="connsiteX3" fmla="*/ 6394567 w 6394567"/>
              <a:gd name="connsiteY3" fmla="*/ 3479046 h 3479046"/>
              <a:gd name="connsiteX4" fmla="*/ 0 w 6394567"/>
              <a:gd name="connsiteY4" fmla="*/ 3479046 h 3479046"/>
              <a:gd name="connsiteX5" fmla="*/ 3916974 w 6394567"/>
              <a:gd name="connsiteY5" fmla="*/ 405504 h 3479046"/>
              <a:gd name="connsiteX6" fmla="*/ 3959456 w 6394567"/>
              <a:gd name="connsiteY6" fmla="*/ 373857 h 3479046"/>
              <a:gd name="connsiteX7" fmla="*/ 5052215 w 6394567"/>
              <a:gd name="connsiteY7" fmla="*/ 1756 h 3479046"/>
              <a:gd name="connsiteX8" fmla="*/ 5171297 w 6394567"/>
              <a:gd name="connsiteY8" fmla="*/ 284 h 3479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94567" h="3479046">
                <a:moveTo>
                  <a:pt x="5171297" y="284"/>
                </a:moveTo>
                <a:cubicBezTo>
                  <a:pt x="5607674" y="7531"/>
                  <a:pt x="6039042" y="153650"/>
                  <a:pt x="6394290" y="430072"/>
                </a:cubicBezTo>
                <a:lnTo>
                  <a:pt x="6394567" y="430316"/>
                </a:lnTo>
                <a:lnTo>
                  <a:pt x="6394567" y="3479046"/>
                </a:lnTo>
                <a:lnTo>
                  <a:pt x="0" y="3479046"/>
                </a:lnTo>
                <a:lnTo>
                  <a:pt x="3916974" y="405504"/>
                </a:lnTo>
                <a:lnTo>
                  <a:pt x="3959456" y="373857"/>
                </a:lnTo>
                <a:cubicBezTo>
                  <a:pt x="4291086" y="139664"/>
                  <a:pt x="4671097" y="17528"/>
                  <a:pt x="5052215" y="1756"/>
                </a:cubicBezTo>
                <a:cubicBezTo>
                  <a:pt x="5091916" y="114"/>
                  <a:pt x="5131627" y="-375"/>
                  <a:pt x="5171297" y="284"/>
                </a:cubicBezTo>
                <a:close/>
              </a:path>
            </a:pathLst>
          </a:custGeom>
          <a:gradFill>
            <a:gsLst>
              <a:gs pos="39000">
                <a:schemeClr val="bg2"/>
              </a:gs>
              <a:gs pos="100000">
                <a:schemeClr val="accent1">
                  <a:lumMod val="60000"/>
                  <a:lumOff val="40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descr="A logo of a lion&#10;&#10;AI-generated content may be incorrect.">
            <a:extLst>
              <a:ext uri="{FF2B5EF4-FFF2-40B4-BE49-F238E27FC236}">
                <a16:creationId xmlns:a16="http://schemas.microsoft.com/office/drawing/2014/main" id="{4420FB3F-6732-02B2-6F07-FFD045544A94}"/>
              </a:ext>
            </a:extLst>
          </p:cNvPr>
          <p:cNvPicPr>
            <a:picLocks noChangeAspect="1"/>
          </p:cNvPicPr>
          <p:nvPr/>
        </p:nvPicPr>
        <p:blipFill>
          <a:blip r:embed="rId2"/>
          <a:stretch>
            <a:fillRect/>
          </a:stretch>
        </p:blipFill>
        <p:spPr>
          <a:xfrm>
            <a:off x="9616735" y="557984"/>
            <a:ext cx="1515769" cy="1668354"/>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063577F-2949-C31E-B4B0-5E250230FD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17E4A51B-BAF6-3729-A2C0-89331F2FB7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0365" y="-318"/>
            <a:ext cx="5907885" cy="3479046"/>
          </a:xfrm>
          <a:custGeom>
            <a:avLst/>
            <a:gdLst>
              <a:gd name="connsiteX0" fmla="*/ 5171297 w 5907885"/>
              <a:gd name="connsiteY0" fmla="*/ 284 h 3479046"/>
              <a:gd name="connsiteX1" fmla="*/ 5813217 w 5907885"/>
              <a:gd name="connsiteY1" fmla="*/ 114238 h 3479046"/>
              <a:gd name="connsiteX2" fmla="*/ 5907885 w 5907885"/>
              <a:gd name="connsiteY2" fmla="*/ 151524 h 3479046"/>
              <a:gd name="connsiteX3" fmla="*/ 5907885 w 5907885"/>
              <a:gd name="connsiteY3" fmla="*/ 3479046 h 3479046"/>
              <a:gd name="connsiteX4" fmla="*/ 0 w 5907885"/>
              <a:gd name="connsiteY4" fmla="*/ 3479046 h 3479046"/>
              <a:gd name="connsiteX5" fmla="*/ 3916974 w 5907885"/>
              <a:gd name="connsiteY5" fmla="*/ 405504 h 3479046"/>
              <a:gd name="connsiteX6" fmla="*/ 3959456 w 5907885"/>
              <a:gd name="connsiteY6" fmla="*/ 373857 h 3479046"/>
              <a:gd name="connsiteX7" fmla="*/ 5052215 w 5907885"/>
              <a:gd name="connsiteY7" fmla="*/ 1756 h 3479046"/>
              <a:gd name="connsiteX8" fmla="*/ 5171297 w 5907885"/>
              <a:gd name="connsiteY8" fmla="*/ 284 h 3479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07885" h="3479046">
                <a:moveTo>
                  <a:pt x="5171297" y="284"/>
                </a:moveTo>
                <a:cubicBezTo>
                  <a:pt x="5389485" y="3908"/>
                  <a:pt x="5606422" y="42249"/>
                  <a:pt x="5813217" y="114238"/>
                </a:cubicBezTo>
                <a:lnTo>
                  <a:pt x="5907885" y="151524"/>
                </a:lnTo>
                <a:lnTo>
                  <a:pt x="5907885" y="3479046"/>
                </a:lnTo>
                <a:lnTo>
                  <a:pt x="0" y="3479046"/>
                </a:lnTo>
                <a:lnTo>
                  <a:pt x="3916974" y="405504"/>
                </a:lnTo>
                <a:lnTo>
                  <a:pt x="3959456" y="373857"/>
                </a:lnTo>
                <a:cubicBezTo>
                  <a:pt x="4291086" y="139664"/>
                  <a:pt x="4671097" y="17528"/>
                  <a:pt x="5052215" y="1756"/>
                </a:cubicBezTo>
                <a:cubicBezTo>
                  <a:pt x="5091916" y="114"/>
                  <a:pt x="5131627" y="-375"/>
                  <a:pt x="5171297" y="284"/>
                </a:cubicBezTo>
                <a:close/>
              </a:path>
            </a:pathLst>
          </a:custGeom>
          <a:gradFill>
            <a:gsLst>
              <a:gs pos="40000">
                <a:schemeClr val="bg2"/>
              </a:gs>
              <a:gs pos="100000">
                <a:schemeClr val="accent1">
                  <a:lumMod val="60000"/>
                  <a:lumOff val="40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9045CA0-8F8A-74B4-5520-227A5D990123}"/>
              </a:ext>
            </a:extLst>
          </p:cNvPr>
          <p:cNvSpPr>
            <a:spLocks noGrp="1"/>
          </p:cNvSpPr>
          <p:nvPr>
            <p:ph type="title"/>
          </p:nvPr>
        </p:nvSpPr>
        <p:spPr>
          <a:xfrm>
            <a:off x="1066800" y="1030311"/>
            <a:ext cx="8905141" cy="1359356"/>
          </a:xfrm>
        </p:spPr>
        <p:txBody>
          <a:bodyPr anchor="ctr">
            <a:normAutofit/>
          </a:bodyPr>
          <a:lstStyle/>
          <a:p>
            <a:r>
              <a:rPr lang="en-US" dirty="0">
                <a:latin typeface="Montserrat"/>
              </a:rPr>
              <a:t>Problem Statement</a:t>
            </a:r>
            <a:endParaRPr lang="en-US"/>
          </a:p>
        </p:txBody>
      </p:sp>
      <p:sp>
        <p:nvSpPr>
          <p:cNvPr id="3" name="Content Placeholder 2">
            <a:extLst>
              <a:ext uri="{FF2B5EF4-FFF2-40B4-BE49-F238E27FC236}">
                <a16:creationId xmlns:a16="http://schemas.microsoft.com/office/drawing/2014/main" id="{470ABF79-2A6C-5F17-D2EA-CC9DA2CA6BF7}"/>
              </a:ext>
            </a:extLst>
          </p:cNvPr>
          <p:cNvSpPr>
            <a:spLocks noGrp="1"/>
          </p:cNvSpPr>
          <p:nvPr>
            <p:ph idx="1"/>
          </p:nvPr>
        </p:nvSpPr>
        <p:spPr>
          <a:xfrm>
            <a:off x="4210493" y="2750127"/>
            <a:ext cx="5761449" cy="2964873"/>
          </a:xfrm>
        </p:spPr>
        <p:txBody>
          <a:bodyPr vert="horz" lIns="91440" tIns="45720" rIns="91440" bIns="45720" rtlCol="0">
            <a:normAutofit/>
          </a:bodyPr>
          <a:lstStyle/>
          <a:p>
            <a:pPr>
              <a:lnSpc>
                <a:spcPct val="110000"/>
              </a:lnSpc>
            </a:pPr>
            <a:r>
              <a:rPr lang="en-US" sz="1500">
                <a:latin typeface="Montserrat"/>
              </a:rPr>
              <a:t>You are hired as a sport data analyst by RCB where the team is looking for top-performing and reliable players to win tournaments, considering both on-field performance and value for money in mega player auction of 2017. </a:t>
            </a:r>
          </a:p>
          <a:p>
            <a:pPr>
              <a:lnSpc>
                <a:spcPct val="110000"/>
              </a:lnSpc>
            </a:pPr>
            <a:r>
              <a:rPr lang="en-US" sz="1500">
                <a:latin typeface="Montserrat"/>
              </a:rPr>
              <a:t>Your task is to come up with strategies/suggestions regarding selecting the best-performing players and optimizing player auction investments.</a:t>
            </a:r>
            <a:endParaRPr lang="en-US" sz="1500"/>
          </a:p>
          <a:p>
            <a:pPr marL="0" indent="0">
              <a:lnSpc>
                <a:spcPct val="110000"/>
              </a:lnSpc>
              <a:buNone/>
            </a:pPr>
            <a:br>
              <a:rPr lang="en-US" sz="1500"/>
            </a:br>
            <a:endParaRPr lang="en-US" sz="1500"/>
          </a:p>
        </p:txBody>
      </p:sp>
    </p:spTree>
    <p:extLst>
      <p:ext uri="{BB962C8B-B14F-4D97-AF65-F5344CB8AC3E}">
        <p14:creationId xmlns:p14="http://schemas.microsoft.com/office/powerpoint/2010/main" val="28489224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063577F-2949-C31E-B4B0-5E250230FD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17E4A51B-BAF6-3729-A2C0-89331F2FB7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0365" y="-318"/>
            <a:ext cx="5907885" cy="3479046"/>
          </a:xfrm>
          <a:custGeom>
            <a:avLst/>
            <a:gdLst>
              <a:gd name="connsiteX0" fmla="*/ 5171297 w 5907885"/>
              <a:gd name="connsiteY0" fmla="*/ 284 h 3479046"/>
              <a:gd name="connsiteX1" fmla="*/ 5813217 w 5907885"/>
              <a:gd name="connsiteY1" fmla="*/ 114238 h 3479046"/>
              <a:gd name="connsiteX2" fmla="*/ 5907885 w 5907885"/>
              <a:gd name="connsiteY2" fmla="*/ 151524 h 3479046"/>
              <a:gd name="connsiteX3" fmla="*/ 5907885 w 5907885"/>
              <a:gd name="connsiteY3" fmla="*/ 3479046 h 3479046"/>
              <a:gd name="connsiteX4" fmla="*/ 0 w 5907885"/>
              <a:gd name="connsiteY4" fmla="*/ 3479046 h 3479046"/>
              <a:gd name="connsiteX5" fmla="*/ 3916974 w 5907885"/>
              <a:gd name="connsiteY5" fmla="*/ 405504 h 3479046"/>
              <a:gd name="connsiteX6" fmla="*/ 3959456 w 5907885"/>
              <a:gd name="connsiteY6" fmla="*/ 373857 h 3479046"/>
              <a:gd name="connsiteX7" fmla="*/ 5052215 w 5907885"/>
              <a:gd name="connsiteY7" fmla="*/ 1756 h 3479046"/>
              <a:gd name="connsiteX8" fmla="*/ 5171297 w 5907885"/>
              <a:gd name="connsiteY8" fmla="*/ 284 h 3479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07885" h="3479046">
                <a:moveTo>
                  <a:pt x="5171297" y="284"/>
                </a:moveTo>
                <a:cubicBezTo>
                  <a:pt x="5389485" y="3908"/>
                  <a:pt x="5606422" y="42249"/>
                  <a:pt x="5813217" y="114238"/>
                </a:cubicBezTo>
                <a:lnTo>
                  <a:pt x="5907885" y="151524"/>
                </a:lnTo>
                <a:lnTo>
                  <a:pt x="5907885" y="3479046"/>
                </a:lnTo>
                <a:lnTo>
                  <a:pt x="0" y="3479046"/>
                </a:lnTo>
                <a:lnTo>
                  <a:pt x="3916974" y="405504"/>
                </a:lnTo>
                <a:lnTo>
                  <a:pt x="3959456" y="373857"/>
                </a:lnTo>
                <a:cubicBezTo>
                  <a:pt x="4291086" y="139664"/>
                  <a:pt x="4671097" y="17528"/>
                  <a:pt x="5052215" y="1756"/>
                </a:cubicBezTo>
                <a:cubicBezTo>
                  <a:pt x="5091916" y="114"/>
                  <a:pt x="5131627" y="-375"/>
                  <a:pt x="5171297" y="284"/>
                </a:cubicBezTo>
                <a:close/>
              </a:path>
            </a:pathLst>
          </a:custGeom>
          <a:gradFill>
            <a:gsLst>
              <a:gs pos="40000">
                <a:schemeClr val="bg2"/>
              </a:gs>
              <a:gs pos="100000">
                <a:schemeClr val="accent1">
                  <a:lumMod val="60000"/>
                  <a:lumOff val="40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2B98F52-86F2-5FE7-2A89-53502C9D74A7}"/>
              </a:ext>
            </a:extLst>
          </p:cNvPr>
          <p:cNvSpPr>
            <a:spLocks noGrp="1"/>
          </p:cNvSpPr>
          <p:nvPr>
            <p:ph type="title"/>
          </p:nvPr>
        </p:nvSpPr>
        <p:spPr>
          <a:xfrm>
            <a:off x="1066800" y="1030311"/>
            <a:ext cx="8905141" cy="1359356"/>
          </a:xfrm>
        </p:spPr>
        <p:txBody>
          <a:bodyPr anchor="ctr">
            <a:normAutofit/>
          </a:bodyPr>
          <a:lstStyle/>
          <a:p>
            <a:br>
              <a:rPr lang="en-US" sz="1200" dirty="0">
                <a:latin typeface="Montserrat"/>
              </a:rPr>
            </a:br>
            <a:br>
              <a:rPr lang="en-US" sz="1200" dirty="0">
                <a:latin typeface="Montserrat"/>
              </a:rPr>
            </a:br>
            <a:br>
              <a:rPr lang="en-US" sz="1200" dirty="0">
                <a:latin typeface="Montserrat"/>
              </a:rPr>
            </a:br>
            <a:endParaRPr lang="en-US" sz="1200">
              <a:latin typeface="Montserrat"/>
            </a:endParaRPr>
          </a:p>
          <a:p>
            <a:r>
              <a:rPr lang="en-US" dirty="0">
                <a:latin typeface="Montserrat"/>
              </a:rPr>
              <a:t>Objective</a:t>
            </a:r>
            <a:br>
              <a:rPr lang="en-US" sz="1200" dirty="0"/>
            </a:br>
            <a:endParaRPr lang="en-US" sz="1200"/>
          </a:p>
        </p:txBody>
      </p:sp>
      <p:sp>
        <p:nvSpPr>
          <p:cNvPr id="3" name="Content Placeholder 2">
            <a:extLst>
              <a:ext uri="{FF2B5EF4-FFF2-40B4-BE49-F238E27FC236}">
                <a16:creationId xmlns:a16="http://schemas.microsoft.com/office/drawing/2014/main" id="{433ADC33-1C01-0733-8119-CDA672E4DE59}"/>
              </a:ext>
            </a:extLst>
          </p:cNvPr>
          <p:cNvSpPr>
            <a:spLocks noGrp="1"/>
          </p:cNvSpPr>
          <p:nvPr>
            <p:ph idx="1"/>
          </p:nvPr>
        </p:nvSpPr>
        <p:spPr>
          <a:xfrm>
            <a:off x="4210493" y="2750127"/>
            <a:ext cx="5761449" cy="2964873"/>
          </a:xfrm>
        </p:spPr>
        <p:txBody>
          <a:bodyPr vert="horz" lIns="91440" tIns="45720" rIns="91440" bIns="45720" rtlCol="0">
            <a:normAutofit/>
          </a:bodyPr>
          <a:lstStyle/>
          <a:p>
            <a:pPr marL="0" indent="0">
              <a:buNone/>
            </a:pPr>
            <a:r>
              <a:rPr lang="en-US">
                <a:latin typeface="Montserrat"/>
              </a:rPr>
              <a:t>To analyze IPL player performance data and identify the most reliable, high-impact players for RCB. The goal is to build a competitive, well-balanced squad while maximizing value in the  mega auction.</a:t>
            </a:r>
            <a:endParaRPr lang="en-US" dirty="0"/>
          </a:p>
        </p:txBody>
      </p:sp>
    </p:spTree>
    <p:extLst>
      <p:ext uri="{BB962C8B-B14F-4D97-AF65-F5344CB8AC3E}">
        <p14:creationId xmlns:p14="http://schemas.microsoft.com/office/powerpoint/2010/main" val="12332594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D2BE5-79BC-E070-6E0C-7713D25AAD69}"/>
              </a:ext>
            </a:extLst>
          </p:cNvPr>
          <p:cNvSpPr>
            <a:spLocks noGrp="1"/>
          </p:cNvSpPr>
          <p:nvPr>
            <p:ph type="title"/>
          </p:nvPr>
        </p:nvSpPr>
        <p:spPr>
          <a:xfrm>
            <a:off x="1077844" y="263189"/>
            <a:ext cx="8886884" cy="953669"/>
          </a:xfrm>
        </p:spPr>
        <p:txBody>
          <a:bodyPr/>
          <a:lstStyle/>
          <a:p>
            <a:r>
              <a:rPr lang="en-US" dirty="0">
                <a:latin typeface="Montserrat"/>
              </a:rPr>
              <a:t>Data Description</a:t>
            </a:r>
            <a:endParaRPr lang="en-US" dirty="0"/>
          </a:p>
        </p:txBody>
      </p:sp>
      <p:sp>
        <p:nvSpPr>
          <p:cNvPr id="3" name="Content Placeholder 2">
            <a:extLst>
              <a:ext uri="{FF2B5EF4-FFF2-40B4-BE49-F238E27FC236}">
                <a16:creationId xmlns:a16="http://schemas.microsoft.com/office/drawing/2014/main" id="{234E4C2D-0ACE-BF21-BC7E-C2E00A4ED61D}"/>
              </a:ext>
            </a:extLst>
          </p:cNvPr>
          <p:cNvSpPr>
            <a:spLocks noGrp="1"/>
          </p:cNvSpPr>
          <p:nvPr>
            <p:ph idx="1"/>
          </p:nvPr>
        </p:nvSpPr>
        <p:spPr>
          <a:xfrm>
            <a:off x="1075370" y="1615131"/>
            <a:ext cx="5385418" cy="4610588"/>
          </a:xfrm>
        </p:spPr>
        <p:txBody>
          <a:bodyPr vert="horz" lIns="91440" tIns="45720" rIns="91440" bIns="45720" rtlCol="0" anchor="t">
            <a:normAutofit/>
          </a:bodyPr>
          <a:lstStyle/>
          <a:p>
            <a:pPr marL="0" indent="0">
              <a:buNone/>
            </a:pPr>
            <a:r>
              <a:rPr lang="en-US" sz="1200" b="1" err="1">
                <a:latin typeface="Montserrat"/>
              </a:rPr>
              <a:t>Ball_by_Ball</a:t>
            </a:r>
            <a:endParaRPr lang="en-US" sz="1200" dirty="0">
              <a:latin typeface="Montserrat"/>
            </a:endParaRPr>
          </a:p>
          <a:p>
            <a:r>
              <a:rPr lang="en-US" sz="1200" b="1" dirty="0" err="1">
                <a:latin typeface="Montserrat"/>
              </a:rPr>
              <a:t>Match_id</a:t>
            </a:r>
            <a:r>
              <a:rPr lang="en-US" sz="1200" dirty="0">
                <a:latin typeface="Montserrat"/>
              </a:rPr>
              <a:t>: Unique identifier for a cricket match          </a:t>
            </a:r>
          </a:p>
          <a:p>
            <a:r>
              <a:rPr lang="en-US" sz="1200" b="1" err="1">
                <a:latin typeface="Montserrat"/>
              </a:rPr>
              <a:t>Over_id</a:t>
            </a:r>
            <a:r>
              <a:rPr lang="en-US" sz="1200" b="1" dirty="0">
                <a:latin typeface="Montserrat"/>
              </a:rPr>
              <a:t>:</a:t>
            </a:r>
            <a:r>
              <a:rPr lang="en-US" sz="1200" dirty="0">
                <a:latin typeface="Montserrat"/>
              </a:rPr>
              <a:t> Unique identifier for an over in a cricket match</a:t>
            </a:r>
          </a:p>
          <a:p>
            <a:r>
              <a:rPr lang="en-US" sz="1200" b="1" err="1">
                <a:latin typeface="Montserrat"/>
              </a:rPr>
              <a:t>Ball_id</a:t>
            </a:r>
            <a:r>
              <a:rPr lang="en-US" sz="1200" dirty="0">
                <a:latin typeface="Montserrat"/>
              </a:rPr>
              <a:t>: Unique identifier for a ball in an over</a:t>
            </a:r>
          </a:p>
          <a:p>
            <a:r>
              <a:rPr lang="en-US" sz="1200" b="1" err="1">
                <a:latin typeface="Montserrat"/>
              </a:rPr>
              <a:t>Innings_No</a:t>
            </a:r>
            <a:r>
              <a:rPr lang="en-US" sz="1200" dirty="0">
                <a:latin typeface="Montserrat"/>
              </a:rPr>
              <a:t>: The innings number in a cricket match</a:t>
            </a:r>
          </a:p>
          <a:p>
            <a:r>
              <a:rPr lang="en-US" sz="1200" b="1" err="1">
                <a:latin typeface="Montserrat"/>
              </a:rPr>
              <a:t>Team_Batting</a:t>
            </a:r>
            <a:r>
              <a:rPr lang="en-US" sz="1200" dirty="0">
                <a:latin typeface="Montserrat"/>
              </a:rPr>
              <a:t>: The team batting in a particular innings</a:t>
            </a:r>
          </a:p>
          <a:p>
            <a:r>
              <a:rPr lang="en-US" sz="1200" b="1" err="1">
                <a:latin typeface="Montserrat"/>
              </a:rPr>
              <a:t>Team_Bowling</a:t>
            </a:r>
            <a:r>
              <a:rPr lang="en-US" sz="1200" dirty="0">
                <a:latin typeface="Montserrat"/>
              </a:rPr>
              <a:t>: The team bowling in a particular innings</a:t>
            </a:r>
          </a:p>
          <a:p>
            <a:r>
              <a:rPr lang="en-US" sz="1200" b="1" err="1">
                <a:latin typeface="Montserrat"/>
              </a:rPr>
              <a:t>Striker_Batting_Position</a:t>
            </a:r>
            <a:r>
              <a:rPr lang="en-US" sz="1200" dirty="0">
                <a:latin typeface="Montserrat"/>
              </a:rPr>
              <a:t>: The batting position of the striker batsman</a:t>
            </a:r>
          </a:p>
          <a:p>
            <a:r>
              <a:rPr lang="en-US" sz="1200" b="1" dirty="0">
                <a:latin typeface="Montserrat"/>
              </a:rPr>
              <a:t>Striker</a:t>
            </a:r>
            <a:r>
              <a:rPr lang="en-US" sz="1200" dirty="0">
                <a:latin typeface="Montserrat"/>
              </a:rPr>
              <a:t>: The batsman currently on strike</a:t>
            </a:r>
          </a:p>
          <a:p>
            <a:r>
              <a:rPr lang="en-US" sz="1200" b="1" dirty="0">
                <a:latin typeface="Montserrat"/>
              </a:rPr>
              <a:t>Non_Striker</a:t>
            </a:r>
            <a:r>
              <a:rPr lang="en-US" sz="1200" dirty="0">
                <a:latin typeface="Montserrat"/>
              </a:rPr>
              <a:t>: The batsman currently at the non-striker's end</a:t>
            </a:r>
          </a:p>
          <a:p>
            <a:r>
              <a:rPr lang="en-US" sz="1200" b="1" dirty="0">
                <a:latin typeface="Montserrat"/>
              </a:rPr>
              <a:t>Bowler</a:t>
            </a:r>
            <a:r>
              <a:rPr lang="en-US" sz="1200" dirty="0">
                <a:latin typeface="Montserrat"/>
              </a:rPr>
              <a:t>: The bowler bowling the current delivery </a:t>
            </a:r>
            <a:r>
              <a:rPr lang="en-US" sz="1600" dirty="0">
                <a:latin typeface="Montserrat"/>
              </a:rPr>
              <a:t>                                                                 </a:t>
            </a:r>
            <a:endParaRPr lang="en-US" dirty="0"/>
          </a:p>
        </p:txBody>
      </p:sp>
      <p:sp>
        <p:nvSpPr>
          <p:cNvPr id="64" name="TextBox 63">
            <a:extLst>
              <a:ext uri="{FF2B5EF4-FFF2-40B4-BE49-F238E27FC236}">
                <a16:creationId xmlns:a16="http://schemas.microsoft.com/office/drawing/2014/main" id="{8BFF63C1-8837-3506-1107-B7112CD47AC7}"/>
              </a:ext>
            </a:extLst>
          </p:cNvPr>
          <p:cNvSpPr txBox="1"/>
          <p:nvPr/>
        </p:nvSpPr>
        <p:spPr>
          <a:xfrm>
            <a:off x="6458504" y="1615296"/>
            <a:ext cx="5629923" cy="40626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dirty="0" err="1">
                <a:latin typeface="Montserrat"/>
                <a:cs typeface="Arial"/>
              </a:rPr>
              <a:t>Batting_style</a:t>
            </a:r>
            <a:r>
              <a:rPr lang="en-US" sz="1200" dirty="0">
                <a:latin typeface="Montserrat"/>
                <a:cs typeface="Arial"/>
              </a:rPr>
              <a:t>​</a:t>
            </a:r>
            <a:endParaRPr lang="en-US" sz="1200" dirty="0">
              <a:solidFill>
                <a:srgbClr val="000000"/>
              </a:solidFill>
              <a:latin typeface="Montserrat"/>
              <a:cs typeface="Arial"/>
            </a:endParaRPr>
          </a:p>
          <a:p>
            <a:r>
              <a:rPr lang="en-US" sz="1200" dirty="0">
                <a:solidFill>
                  <a:srgbClr val="000000"/>
                </a:solidFill>
                <a:latin typeface="Montserrat"/>
                <a:cs typeface="Arial"/>
              </a:rPr>
              <a:t>​</a:t>
            </a:r>
          </a:p>
          <a:p>
            <a:pPr marL="228600" indent="-228600">
              <a:buFont typeface=""/>
              <a:buChar char="•"/>
            </a:pPr>
            <a:r>
              <a:rPr lang="en-US" sz="1200" b="1" dirty="0" err="1">
                <a:latin typeface="Montserrat"/>
                <a:cs typeface="Arial"/>
              </a:rPr>
              <a:t>Batting_id</a:t>
            </a:r>
            <a:r>
              <a:rPr lang="en-US" sz="1200" dirty="0">
                <a:latin typeface="Montserrat"/>
                <a:cs typeface="Arial"/>
              </a:rPr>
              <a:t>: Unique identifier for a batsman's batting record​</a:t>
            </a:r>
            <a:endParaRPr lang="en-US" sz="1200" dirty="0">
              <a:solidFill>
                <a:srgbClr val="000000"/>
              </a:solidFill>
              <a:latin typeface="Montserrat"/>
              <a:cs typeface="Arial"/>
            </a:endParaRPr>
          </a:p>
          <a:p>
            <a:pPr marL="228600" indent="-228600">
              <a:buFont typeface=""/>
              <a:buChar char="•"/>
            </a:pPr>
            <a:endParaRPr lang="en-US" sz="1200" dirty="0">
              <a:solidFill>
                <a:srgbClr val="000000"/>
              </a:solidFill>
              <a:latin typeface="Montserrat"/>
              <a:cs typeface="Arial"/>
            </a:endParaRPr>
          </a:p>
          <a:p>
            <a:pPr marL="228600" indent="-228600">
              <a:buFont typeface=""/>
              <a:buChar char="•"/>
            </a:pPr>
            <a:r>
              <a:rPr lang="en-US" sz="1200" b="1" dirty="0" err="1">
                <a:latin typeface="Montserrat"/>
                <a:cs typeface="Arial"/>
              </a:rPr>
              <a:t>Batting_hand</a:t>
            </a:r>
            <a:r>
              <a:rPr lang="en-US" sz="1200" dirty="0">
                <a:latin typeface="Montserrat"/>
                <a:cs typeface="Arial"/>
              </a:rPr>
              <a:t>: The batting hand (right or left) of a batsman​</a:t>
            </a:r>
            <a:endParaRPr lang="en-US" sz="1200" dirty="0">
              <a:solidFill>
                <a:srgbClr val="000000"/>
              </a:solidFill>
              <a:latin typeface="Montserrat"/>
              <a:cs typeface="Arial"/>
            </a:endParaRPr>
          </a:p>
          <a:p>
            <a:pPr marL="228600" indent="-228600">
              <a:buFont typeface=""/>
              <a:buChar char="•"/>
            </a:pPr>
            <a:endParaRPr lang="en-US" sz="1200" dirty="0">
              <a:solidFill>
                <a:srgbClr val="000000"/>
              </a:solidFill>
              <a:latin typeface="Montserrat"/>
              <a:cs typeface="Arial"/>
            </a:endParaRPr>
          </a:p>
          <a:p>
            <a:r>
              <a:rPr lang="en-US" sz="1200" b="1" dirty="0" err="1">
                <a:solidFill>
                  <a:srgbClr val="000000"/>
                </a:solidFill>
                <a:latin typeface="Montserrat"/>
                <a:cs typeface="Arial"/>
              </a:rPr>
              <a:t>Bowling_style</a:t>
            </a:r>
            <a:r>
              <a:rPr lang="en-US" sz="1200" dirty="0">
                <a:solidFill>
                  <a:srgbClr val="000000"/>
                </a:solidFill>
                <a:latin typeface="Montserrat"/>
                <a:cs typeface="Arial"/>
              </a:rPr>
              <a:t>​</a:t>
            </a:r>
          </a:p>
          <a:p>
            <a:r>
              <a:rPr lang="en-US" sz="1200" dirty="0">
                <a:solidFill>
                  <a:srgbClr val="000000"/>
                </a:solidFill>
                <a:latin typeface="Montserrat"/>
                <a:cs typeface="Arial"/>
              </a:rPr>
              <a:t>​</a:t>
            </a:r>
          </a:p>
          <a:p>
            <a:pPr marL="228600" indent="-228600">
              <a:buFont typeface=""/>
              <a:buChar char="•"/>
            </a:pPr>
            <a:r>
              <a:rPr lang="en-US" sz="1200" b="1" dirty="0" err="1">
                <a:latin typeface="Montserrat"/>
                <a:cs typeface="Arial"/>
              </a:rPr>
              <a:t>Bowling_id</a:t>
            </a:r>
            <a:r>
              <a:rPr lang="en-US" sz="1200" dirty="0">
                <a:latin typeface="Montserrat"/>
                <a:cs typeface="Arial"/>
              </a:rPr>
              <a:t>: Unique identifier for a bowler's bowling record​</a:t>
            </a:r>
            <a:endParaRPr lang="en-US" sz="1200" dirty="0">
              <a:solidFill>
                <a:srgbClr val="000000"/>
              </a:solidFill>
              <a:latin typeface="Montserrat"/>
              <a:cs typeface="Arial"/>
            </a:endParaRPr>
          </a:p>
          <a:p>
            <a:pPr marL="228600" indent="-228600">
              <a:buFont typeface=""/>
              <a:buChar char="•"/>
            </a:pPr>
            <a:endParaRPr lang="en-US" sz="1200" dirty="0">
              <a:solidFill>
                <a:srgbClr val="000000"/>
              </a:solidFill>
              <a:latin typeface="Montserrat"/>
              <a:cs typeface="Arial"/>
            </a:endParaRPr>
          </a:p>
          <a:p>
            <a:pPr marL="228600" indent="-228600">
              <a:buFont typeface=""/>
              <a:buChar char="•"/>
            </a:pPr>
            <a:r>
              <a:rPr lang="en-US" sz="1200" b="1" dirty="0" err="1">
                <a:latin typeface="Montserrat"/>
                <a:cs typeface="Arial"/>
              </a:rPr>
              <a:t>Bowling_skill</a:t>
            </a:r>
            <a:r>
              <a:rPr lang="en-US" sz="1200" dirty="0">
                <a:latin typeface="Montserrat"/>
                <a:cs typeface="Arial"/>
              </a:rPr>
              <a:t>: The bowling skill (e.g., right-arm fast, left-arm spin) of a bowler​</a:t>
            </a:r>
            <a:endParaRPr lang="en-US" sz="1200" dirty="0">
              <a:solidFill>
                <a:srgbClr val="000000"/>
              </a:solidFill>
              <a:latin typeface="Montserrat"/>
              <a:cs typeface="Arial"/>
            </a:endParaRPr>
          </a:p>
          <a:p>
            <a:pPr marL="228600" indent="-228600">
              <a:buFont typeface=""/>
              <a:buChar char="•"/>
            </a:pPr>
            <a:endParaRPr lang="en-US" sz="1200" dirty="0">
              <a:solidFill>
                <a:srgbClr val="000000"/>
              </a:solidFill>
              <a:latin typeface="Montserrat"/>
              <a:cs typeface="Arial"/>
            </a:endParaRPr>
          </a:p>
          <a:p>
            <a:r>
              <a:rPr lang="en-US" sz="1200" b="1" dirty="0">
                <a:solidFill>
                  <a:srgbClr val="000000"/>
                </a:solidFill>
                <a:latin typeface="Montserrat"/>
                <a:cs typeface="Arial"/>
              </a:rPr>
              <a:t>City</a:t>
            </a:r>
            <a:r>
              <a:rPr lang="en-US" sz="1200" dirty="0">
                <a:solidFill>
                  <a:srgbClr val="000000"/>
                </a:solidFill>
                <a:latin typeface="Montserrat"/>
                <a:cs typeface="Arial"/>
              </a:rPr>
              <a:t>​</a:t>
            </a:r>
          </a:p>
          <a:p>
            <a:r>
              <a:rPr lang="en-US" sz="1200" dirty="0">
                <a:solidFill>
                  <a:srgbClr val="000000"/>
                </a:solidFill>
                <a:latin typeface="Montserrat"/>
                <a:cs typeface="Arial"/>
              </a:rPr>
              <a:t>​</a:t>
            </a:r>
          </a:p>
          <a:p>
            <a:pPr marL="228600" indent="-228600">
              <a:buFont typeface=""/>
              <a:buChar char="•"/>
            </a:pPr>
            <a:r>
              <a:rPr lang="en-US" sz="1200" b="1" dirty="0" err="1">
                <a:latin typeface="Montserrat"/>
                <a:cs typeface="Arial"/>
              </a:rPr>
              <a:t>City_id</a:t>
            </a:r>
            <a:r>
              <a:rPr lang="en-US" sz="1200" dirty="0">
                <a:latin typeface="Montserrat"/>
                <a:cs typeface="Arial"/>
              </a:rPr>
              <a:t>: Unique identifier for a city​</a:t>
            </a:r>
            <a:endParaRPr lang="en-US" sz="1200" dirty="0">
              <a:solidFill>
                <a:srgbClr val="000000"/>
              </a:solidFill>
              <a:latin typeface="Montserrat"/>
              <a:cs typeface="Arial"/>
            </a:endParaRPr>
          </a:p>
          <a:p>
            <a:r>
              <a:rPr lang="en-US" sz="1200" dirty="0">
                <a:solidFill>
                  <a:srgbClr val="000000"/>
                </a:solidFill>
                <a:latin typeface="Montserrat"/>
                <a:cs typeface="Arial"/>
              </a:rPr>
              <a:t>​</a:t>
            </a:r>
          </a:p>
          <a:p>
            <a:pPr marL="228600" indent="-228600">
              <a:buFont typeface=""/>
              <a:buChar char="•"/>
            </a:pPr>
            <a:r>
              <a:rPr lang="en-US" sz="1200" b="1" dirty="0" err="1">
                <a:latin typeface="Montserrat"/>
                <a:cs typeface="Arial"/>
              </a:rPr>
              <a:t>City_Name</a:t>
            </a:r>
            <a:r>
              <a:rPr lang="en-US" sz="1200" dirty="0">
                <a:latin typeface="Montserrat"/>
                <a:cs typeface="Arial"/>
              </a:rPr>
              <a:t>: The name of a city​</a:t>
            </a:r>
            <a:endParaRPr lang="en-US" sz="1200" dirty="0">
              <a:solidFill>
                <a:srgbClr val="000000"/>
              </a:solidFill>
              <a:latin typeface="Montserrat"/>
              <a:cs typeface="Arial"/>
            </a:endParaRPr>
          </a:p>
          <a:p>
            <a:r>
              <a:rPr lang="en-US" sz="1200" dirty="0">
                <a:solidFill>
                  <a:srgbClr val="000000"/>
                </a:solidFill>
                <a:latin typeface="Montserrat"/>
                <a:cs typeface="Arial"/>
              </a:rPr>
              <a:t>​</a:t>
            </a:r>
          </a:p>
          <a:p>
            <a:pPr marL="228600" indent="-228600">
              <a:buFont typeface=""/>
              <a:buChar char="•"/>
            </a:pPr>
            <a:r>
              <a:rPr lang="en-US" sz="1200" b="1" dirty="0" err="1">
                <a:latin typeface="Montserrat"/>
                <a:cs typeface="Arial"/>
              </a:rPr>
              <a:t>Country_id</a:t>
            </a:r>
            <a:r>
              <a:rPr lang="en-US" sz="1200" dirty="0">
                <a:latin typeface="Montserrat"/>
                <a:cs typeface="Arial"/>
              </a:rPr>
              <a:t>: Unique identifier for a country​</a:t>
            </a:r>
            <a:endParaRPr lang="en-US" sz="1200" dirty="0">
              <a:solidFill>
                <a:srgbClr val="000000"/>
              </a:solidFill>
              <a:latin typeface="Montserrat"/>
              <a:cs typeface="Arial"/>
            </a:endParaRPr>
          </a:p>
          <a:p>
            <a:pPr algn="ctr"/>
            <a:endParaRPr lang="en-US" dirty="0">
              <a:latin typeface="Montserrat"/>
            </a:endParaRPr>
          </a:p>
        </p:txBody>
      </p:sp>
    </p:spTree>
    <p:extLst>
      <p:ext uri="{BB962C8B-B14F-4D97-AF65-F5344CB8AC3E}">
        <p14:creationId xmlns:p14="http://schemas.microsoft.com/office/powerpoint/2010/main" val="41585982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F9132-9BF5-86A3-B942-ADFB3A5BD08E}"/>
              </a:ext>
            </a:extLst>
          </p:cNvPr>
          <p:cNvSpPr>
            <a:spLocks noGrp="1"/>
          </p:cNvSpPr>
          <p:nvPr>
            <p:ph type="title"/>
          </p:nvPr>
        </p:nvSpPr>
        <p:spPr>
          <a:xfrm>
            <a:off x="1066800" y="207971"/>
            <a:ext cx="8886884" cy="953669"/>
          </a:xfrm>
        </p:spPr>
        <p:txBody>
          <a:bodyPr>
            <a:normAutofit/>
          </a:bodyPr>
          <a:lstStyle/>
          <a:p>
            <a:r>
              <a:rPr lang="en-US" dirty="0">
                <a:latin typeface="Montserrat"/>
              </a:rPr>
              <a:t>Data Description</a:t>
            </a:r>
            <a:endParaRPr lang="en-US" dirty="0"/>
          </a:p>
        </p:txBody>
      </p:sp>
      <p:sp>
        <p:nvSpPr>
          <p:cNvPr id="4" name="TextBox 3">
            <a:extLst>
              <a:ext uri="{FF2B5EF4-FFF2-40B4-BE49-F238E27FC236}">
                <a16:creationId xmlns:a16="http://schemas.microsoft.com/office/drawing/2014/main" id="{537A6AEA-5522-978C-58AD-D511A7030A40}"/>
              </a:ext>
            </a:extLst>
          </p:cNvPr>
          <p:cNvSpPr txBox="1"/>
          <p:nvPr/>
        </p:nvSpPr>
        <p:spPr>
          <a:xfrm>
            <a:off x="6637844" y="1483641"/>
            <a:ext cx="5312073" cy="51860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ts val="975"/>
              </a:lnSpc>
            </a:pPr>
            <a:endParaRPr lang="en-US" sz="1200" b="1" dirty="0">
              <a:latin typeface="Montserrat"/>
              <a:cs typeface="Arial"/>
            </a:endParaRPr>
          </a:p>
          <a:p>
            <a:pPr>
              <a:lnSpc>
                <a:spcPts val="975"/>
              </a:lnSpc>
            </a:pPr>
            <a:r>
              <a:rPr lang="en-US" sz="1200" b="1">
                <a:latin typeface="Montserrat"/>
                <a:cs typeface="Arial"/>
              </a:rPr>
              <a:t>Country</a:t>
            </a:r>
            <a:endParaRPr lang="en-US" sz="1200">
              <a:latin typeface="Montserrat"/>
              <a:cs typeface="Arial"/>
            </a:endParaRPr>
          </a:p>
          <a:p>
            <a:endParaRPr lang="en-US" sz="1200" b="1" dirty="0">
              <a:latin typeface="Montserrat"/>
              <a:cs typeface="Arial"/>
            </a:endParaRPr>
          </a:p>
          <a:p>
            <a:pPr>
              <a:buFont typeface="Arial"/>
              <a:buChar char="•"/>
            </a:pPr>
            <a:r>
              <a:rPr lang="en-US" sz="1200" b="1" err="1">
                <a:latin typeface="Montserrat"/>
                <a:cs typeface="Arial"/>
              </a:rPr>
              <a:t>Country_Id</a:t>
            </a:r>
            <a:r>
              <a:rPr lang="en-US" sz="1200" b="1" dirty="0">
                <a:latin typeface="Montserrat"/>
                <a:cs typeface="Arial"/>
              </a:rPr>
              <a:t>:</a:t>
            </a:r>
            <a:r>
              <a:rPr lang="en-US" sz="1200" dirty="0">
                <a:latin typeface="Montserrat"/>
                <a:cs typeface="Arial"/>
              </a:rPr>
              <a:t> Unique identifier for each country.</a:t>
            </a:r>
          </a:p>
          <a:p>
            <a:pPr>
              <a:buFont typeface="Arial"/>
              <a:buChar char="•"/>
            </a:pPr>
            <a:endParaRPr lang="en-US" sz="1200" dirty="0">
              <a:latin typeface="Montserrat"/>
              <a:cs typeface="Arial"/>
            </a:endParaRPr>
          </a:p>
          <a:p>
            <a:pPr>
              <a:buFont typeface="Arial"/>
              <a:buChar char="•"/>
            </a:pPr>
            <a:r>
              <a:rPr lang="en-US" sz="1200" b="1" err="1">
                <a:latin typeface="Montserrat"/>
                <a:cs typeface="Arial"/>
              </a:rPr>
              <a:t>Country_Name</a:t>
            </a:r>
            <a:r>
              <a:rPr lang="en-US" sz="1200" b="1" dirty="0">
                <a:latin typeface="Montserrat"/>
                <a:cs typeface="Arial"/>
              </a:rPr>
              <a:t>: </a:t>
            </a:r>
            <a:r>
              <a:rPr lang="en-US" sz="1200" dirty="0">
                <a:latin typeface="Montserrat"/>
                <a:cs typeface="Arial"/>
              </a:rPr>
              <a:t>Name of the country.</a:t>
            </a:r>
            <a:br>
              <a:rPr lang="en-US" sz="1200" dirty="0">
                <a:latin typeface="Montserrat"/>
                <a:cs typeface="Arial"/>
              </a:rPr>
            </a:br>
            <a:endParaRPr lang="en-US" sz="1200" dirty="0">
              <a:latin typeface="Montserrat"/>
              <a:cs typeface="Arial"/>
            </a:endParaRPr>
          </a:p>
          <a:p>
            <a:r>
              <a:rPr lang="en-US" sz="1200" b="1" dirty="0">
                <a:latin typeface="Montserrat"/>
                <a:cs typeface="Arial"/>
              </a:rPr>
              <a:t>Player Match</a:t>
            </a:r>
            <a:r>
              <a:rPr lang="en-US" sz="1200" dirty="0">
                <a:latin typeface="Montserrat"/>
                <a:cs typeface="Arial"/>
              </a:rPr>
              <a:t> </a:t>
            </a:r>
          </a:p>
          <a:p>
            <a:pPr>
              <a:buFont typeface="Arial"/>
              <a:buChar char="•"/>
            </a:pPr>
            <a:endParaRPr lang="en-US" sz="1200" dirty="0">
              <a:latin typeface="Montserrat"/>
              <a:cs typeface="Arial"/>
            </a:endParaRPr>
          </a:p>
          <a:p>
            <a:pPr>
              <a:buFont typeface="Arial"/>
              <a:buChar char="•"/>
            </a:pPr>
            <a:r>
              <a:rPr lang="en-US" sz="1200" b="1" err="1">
                <a:latin typeface="Montserrat"/>
                <a:cs typeface="Arial"/>
              </a:rPr>
              <a:t>Match_Id</a:t>
            </a:r>
            <a:r>
              <a:rPr lang="en-US" sz="1200" b="1" dirty="0">
                <a:latin typeface="Montserrat"/>
                <a:cs typeface="Arial"/>
              </a:rPr>
              <a:t>: </a:t>
            </a:r>
            <a:r>
              <a:rPr lang="en-US" sz="1200" dirty="0">
                <a:latin typeface="Montserrat"/>
                <a:cs typeface="Arial"/>
              </a:rPr>
              <a:t>Reference to the match in which the player participated.</a:t>
            </a:r>
          </a:p>
          <a:p>
            <a:pPr>
              <a:buFont typeface="Arial"/>
              <a:buChar char="•"/>
            </a:pPr>
            <a:endParaRPr lang="en-US" sz="1200" dirty="0">
              <a:latin typeface="Montserrat"/>
              <a:cs typeface="Arial"/>
            </a:endParaRPr>
          </a:p>
          <a:p>
            <a:pPr>
              <a:buFont typeface="Arial"/>
              <a:buChar char="•"/>
            </a:pPr>
            <a:r>
              <a:rPr lang="en-US" sz="1200" b="1" err="1">
                <a:latin typeface="Montserrat"/>
                <a:cs typeface="Arial"/>
              </a:rPr>
              <a:t>Player_Id</a:t>
            </a:r>
            <a:r>
              <a:rPr lang="en-US" sz="1200" b="1" dirty="0">
                <a:latin typeface="Montserrat"/>
                <a:cs typeface="Arial"/>
              </a:rPr>
              <a:t>: </a:t>
            </a:r>
            <a:r>
              <a:rPr lang="en-US" sz="1200" dirty="0">
                <a:latin typeface="Montserrat"/>
                <a:cs typeface="Arial"/>
              </a:rPr>
              <a:t>Reference to the player.</a:t>
            </a:r>
          </a:p>
          <a:p>
            <a:pPr>
              <a:buFont typeface="Arial"/>
              <a:buChar char="•"/>
            </a:pPr>
            <a:endParaRPr lang="en-US" sz="1200" dirty="0">
              <a:latin typeface="Montserrat"/>
              <a:cs typeface="Arial"/>
            </a:endParaRPr>
          </a:p>
          <a:p>
            <a:pPr>
              <a:buFont typeface="Arial"/>
              <a:buChar char="•"/>
            </a:pPr>
            <a:r>
              <a:rPr lang="en-US" sz="1200" b="1" err="1">
                <a:latin typeface="Montserrat"/>
                <a:cs typeface="Arial"/>
              </a:rPr>
              <a:t>Role_Id</a:t>
            </a:r>
            <a:r>
              <a:rPr lang="en-US" sz="1200" b="1" dirty="0">
                <a:latin typeface="Montserrat"/>
                <a:cs typeface="Arial"/>
              </a:rPr>
              <a:t>: </a:t>
            </a:r>
            <a:r>
              <a:rPr lang="en-US" sz="1200" dirty="0">
                <a:latin typeface="Montserrat"/>
                <a:cs typeface="Arial"/>
              </a:rPr>
              <a:t>Role of the player (e.g., batsman, bowler).</a:t>
            </a:r>
          </a:p>
          <a:p>
            <a:pPr>
              <a:buFont typeface="Arial"/>
              <a:buChar char="•"/>
            </a:pPr>
            <a:endParaRPr lang="en-US" sz="1200" dirty="0">
              <a:latin typeface="Montserrat"/>
              <a:cs typeface="Arial"/>
            </a:endParaRPr>
          </a:p>
          <a:p>
            <a:pPr>
              <a:buFont typeface="Arial"/>
              <a:buChar char="•"/>
            </a:pPr>
            <a:r>
              <a:rPr lang="en-US" sz="1200" b="1" err="1">
                <a:latin typeface="Montserrat"/>
                <a:cs typeface="Arial"/>
              </a:rPr>
              <a:t>Team_Id</a:t>
            </a:r>
            <a:r>
              <a:rPr lang="en-US" sz="1200" b="1" dirty="0">
                <a:latin typeface="Montserrat"/>
                <a:cs typeface="Arial"/>
              </a:rPr>
              <a:t>:</a:t>
            </a:r>
            <a:r>
              <a:rPr lang="en-US" sz="1200">
                <a:latin typeface="Montserrat"/>
                <a:cs typeface="Arial"/>
              </a:rPr>
              <a:t> Team that the player represented in the match.</a:t>
            </a:r>
          </a:p>
          <a:p>
            <a:pPr>
              <a:buFont typeface="Arial"/>
              <a:buChar char="•"/>
            </a:pPr>
            <a:endParaRPr lang="en-US" sz="1200" dirty="0">
              <a:latin typeface="Montserrat"/>
              <a:cs typeface="Arial"/>
            </a:endParaRPr>
          </a:p>
          <a:p>
            <a:r>
              <a:rPr lang="en-US" sz="1200" b="1" dirty="0">
                <a:latin typeface="Montserrat"/>
                <a:cs typeface="Arial"/>
              </a:rPr>
              <a:t>Wickets Taken</a:t>
            </a:r>
            <a:r>
              <a:rPr lang="en-US" sz="1200" dirty="0">
                <a:latin typeface="Montserrat"/>
                <a:cs typeface="Arial"/>
              </a:rPr>
              <a:t> </a:t>
            </a:r>
          </a:p>
          <a:p>
            <a:endParaRPr lang="en-US" sz="1200" dirty="0">
              <a:latin typeface="Montserrat"/>
              <a:cs typeface="Arial"/>
            </a:endParaRPr>
          </a:p>
          <a:p>
            <a:pPr>
              <a:buFont typeface="Arial"/>
              <a:buChar char="•"/>
            </a:pPr>
            <a:r>
              <a:rPr lang="en-US" sz="1200" b="1" dirty="0">
                <a:latin typeface="Montserrat"/>
                <a:cs typeface="Arial"/>
              </a:rPr>
              <a:t>Ball_Id</a:t>
            </a:r>
            <a:r>
              <a:rPr lang="en-US" sz="1200" dirty="0">
                <a:latin typeface="Montserrat"/>
                <a:cs typeface="Arial"/>
              </a:rPr>
              <a:t>: Reference to the specific ball during which the wicket was taken.</a:t>
            </a:r>
            <a:endParaRPr lang="en-US" sz="1200">
              <a:latin typeface="Montserrat"/>
            </a:endParaRPr>
          </a:p>
          <a:p>
            <a:pPr>
              <a:buFont typeface="Arial"/>
              <a:buChar char="•"/>
            </a:pPr>
            <a:r>
              <a:rPr lang="en-US" sz="1200" b="1" dirty="0">
                <a:latin typeface="Montserrat"/>
                <a:cs typeface="Arial"/>
              </a:rPr>
              <a:t>Fielder: </a:t>
            </a:r>
            <a:r>
              <a:rPr lang="en-US" sz="1200" dirty="0">
                <a:latin typeface="Montserrat"/>
                <a:cs typeface="Arial"/>
              </a:rPr>
              <a:t>Reference to the player who fielded the ball.</a:t>
            </a:r>
            <a:endParaRPr lang="en-US" sz="1200">
              <a:latin typeface="Montserrat"/>
            </a:endParaRPr>
          </a:p>
          <a:p>
            <a:pPr>
              <a:buFont typeface="Arial"/>
              <a:buChar char="•"/>
            </a:pPr>
            <a:r>
              <a:rPr lang="en-US" sz="1200" b="1" dirty="0">
                <a:latin typeface="Montserrat"/>
                <a:cs typeface="Arial"/>
              </a:rPr>
              <a:t>Bowler:</a:t>
            </a:r>
            <a:r>
              <a:rPr lang="en-US" sz="1200" dirty="0">
                <a:latin typeface="Montserrat"/>
                <a:cs typeface="Arial"/>
              </a:rPr>
              <a:t> Reference to the bowler who took the wicket.</a:t>
            </a:r>
            <a:endParaRPr lang="en-US" sz="1200">
              <a:latin typeface="Montserrat"/>
            </a:endParaRPr>
          </a:p>
          <a:p>
            <a:pPr>
              <a:buFont typeface="Arial"/>
              <a:buChar char="•"/>
            </a:pPr>
            <a:r>
              <a:rPr lang="en-US" sz="1200" b="1">
                <a:latin typeface="Montserrat"/>
                <a:cs typeface="Arial"/>
              </a:rPr>
              <a:t>Player_Out:</a:t>
            </a:r>
            <a:r>
              <a:rPr lang="en-US" sz="1200">
                <a:latin typeface="Montserrat"/>
                <a:cs typeface="Arial"/>
              </a:rPr>
              <a:t> Reference to the player who was dismissed.</a:t>
            </a:r>
            <a:endParaRPr lang="en-US" sz="1200">
              <a:latin typeface="Montserrat"/>
            </a:endParaRPr>
          </a:p>
          <a:p>
            <a:pPr>
              <a:buFont typeface="Arial"/>
              <a:buChar char="•"/>
            </a:pPr>
            <a:endParaRPr lang="en-US" sz="1200" dirty="0">
              <a:latin typeface="Montserrat"/>
              <a:cs typeface="Arial"/>
            </a:endParaRPr>
          </a:p>
          <a:p>
            <a:pPr marL="228600" indent="-228600">
              <a:lnSpc>
                <a:spcPts val="975"/>
              </a:lnSpc>
              <a:buFont typeface="Arial"/>
              <a:buChar char="•"/>
            </a:pPr>
            <a:endParaRPr lang="en-US" sz="1200" dirty="0">
              <a:latin typeface="Montserrat"/>
              <a:cs typeface="Arial"/>
            </a:endParaRPr>
          </a:p>
          <a:p>
            <a:pPr algn="ctr"/>
            <a:endParaRPr lang="en-US"/>
          </a:p>
        </p:txBody>
      </p:sp>
      <p:sp>
        <p:nvSpPr>
          <p:cNvPr id="48" name="Content Placeholder 47">
            <a:extLst>
              <a:ext uri="{FF2B5EF4-FFF2-40B4-BE49-F238E27FC236}">
                <a16:creationId xmlns:a16="http://schemas.microsoft.com/office/drawing/2014/main" id="{832BEB65-CD65-7939-E80C-03D599CCF1BC}"/>
              </a:ext>
            </a:extLst>
          </p:cNvPr>
          <p:cNvSpPr>
            <a:spLocks noGrp="1"/>
          </p:cNvSpPr>
          <p:nvPr>
            <p:ph idx="1"/>
          </p:nvPr>
        </p:nvSpPr>
        <p:spPr>
          <a:xfrm>
            <a:off x="1064326" y="1482610"/>
            <a:ext cx="5184271" cy="4638465"/>
          </a:xfrm>
        </p:spPr>
        <p:txBody>
          <a:bodyPr vert="horz" lIns="91440" tIns="45720" rIns="91440" bIns="45720" rtlCol="0" anchor="t">
            <a:normAutofit fontScale="92500" lnSpcReduction="10000"/>
          </a:bodyPr>
          <a:lstStyle/>
          <a:p>
            <a:pPr>
              <a:buNone/>
            </a:pPr>
            <a:r>
              <a:rPr lang="en-US" sz="1200" b="1" dirty="0">
                <a:latin typeface="Montserrat"/>
                <a:ea typeface="Calibri"/>
                <a:cs typeface="Calibri"/>
              </a:rPr>
              <a:t>Matches</a:t>
            </a:r>
            <a:endParaRPr lang="en-US" sz="1200">
              <a:latin typeface="Montserrat"/>
            </a:endParaRPr>
          </a:p>
          <a:p>
            <a:pPr>
              <a:buFont typeface="Arial"/>
              <a:buChar char="•"/>
            </a:pPr>
            <a:r>
              <a:rPr lang="en-US" sz="1200" b="1" err="1">
                <a:latin typeface="Montserrat"/>
                <a:ea typeface="Calibri"/>
                <a:cs typeface="Calibri"/>
              </a:rPr>
              <a:t>Match_Id</a:t>
            </a:r>
            <a:r>
              <a:rPr lang="en-US" sz="1200" dirty="0">
                <a:latin typeface="Montserrat"/>
                <a:ea typeface="Calibri"/>
                <a:cs typeface="Calibri"/>
              </a:rPr>
              <a:t>: Unique identifier for each match.</a:t>
            </a:r>
            <a:endParaRPr lang="en-US" sz="1200">
              <a:latin typeface="Montserrat"/>
            </a:endParaRPr>
          </a:p>
          <a:p>
            <a:pPr>
              <a:buFont typeface="Arial"/>
              <a:buChar char="•"/>
            </a:pPr>
            <a:r>
              <a:rPr lang="en-US" sz="1200" b="1" err="1">
                <a:latin typeface="Montserrat"/>
                <a:ea typeface="Calibri"/>
                <a:cs typeface="Calibri"/>
              </a:rPr>
              <a:t>Match_Date</a:t>
            </a:r>
            <a:r>
              <a:rPr lang="en-US" sz="1200" dirty="0">
                <a:latin typeface="Montserrat"/>
                <a:ea typeface="Calibri"/>
                <a:cs typeface="Calibri"/>
              </a:rPr>
              <a:t>: The date when the match took place.</a:t>
            </a:r>
            <a:endParaRPr lang="en-US" sz="1200">
              <a:latin typeface="Montserrat"/>
            </a:endParaRPr>
          </a:p>
          <a:p>
            <a:pPr>
              <a:buFont typeface="Arial"/>
              <a:buChar char="•"/>
            </a:pPr>
            <a:r>
              <a:rPr lang="en-US" sz="1200" b="1" err="1">
                <a:latin typeface="Montserrat"/>
                <a:ea typeface="Calibri"/>
                <a:cs typeface="Calibri"/>
              </a:rPr>
              <a:t>Match_Winner</a:t>
            </a:r>
            <a:r>
              <a:rPr lang="en-US" sz="1200" dirty="0">
                <a:latin typeface="Montserrat"/>
                <a:ea typeface="Calibri"/>
                <a:cs typeface="Calibri"/>
              </a:rPr>
              <a:t>: The team that won the match.</a:t>
            </a:r>
            <a:endParaRPr lang="en-US" sz="1200">
              <a:latin typeface="Montserrat"/>
            </a:endParaRPr>
          </a:p>
          <a:p>
            <a:pPr>
              <a:buFont typeface="Arial"/>
              <a:buChar char="•"/>
            </a:pPr>
            <a:r>
              <a:rPr lang="en-US" sz="1200" b="1" err="1">
                <a:latin typeface="Montserrat"/>
                <a:ea typeface="Calibri"/>
                <a:cs typeface="Calibri"/>
              </a:rPr>
              <a:t>Outcome_Type</a:t>
            </a:r>
            <a:r>
              <a:rPr lang="en-US" sz="1200" dirty="0">
                <a:latin typeface="Montserrat"/>
                <a:ea typeface="Calibri"/>
                <a:cs typeface="Calibri"/>
              </a:rPr>
              <a:t>: Type of result (win, tie, etc.).</a:t>
            </a:r>
            <a:endParaRPr lang="en-US" sz="1200">
              <a:latin typeface="Montserrat"/>
            </a:endParaRPr>
          </a:p>
          <a:p>
            <a:pPr>
              <a:buFont typeface="Arial"/>
              <a:buChar char="•"/>
            </a:pPr>
            <a:r>
              <a:rPr lang="en-US" sz="1200" b="1" err="1">
                <a:latin typeface="Montserrat"/>
                <a:ea typeface="Calibri"/>
                <a:cs typeface="Calibri"/>
              </a:rPr>
              <a:t>Toss_Winner</a:t>
            </a:r>
            <a:r>
              <a:rPr lang="en-US" sz="1200" dirty="0">
                <a:latin typeface="Montserrat"/>
                <a:ea typeface="Calibri"/>
                <a:cs typeface="Calibri"/>
              </a:rPr>
              <a:t>: The team that won the toss.</a:t>
            </a:r>
            <a:endParaRPr lang="en-US" sz="1200">
              <a:latin typeface="Montserrat"/>
            </a:endParaRPr>
          </a:p>
          <a:p>
            <a:pPr>
              <a:buFont typeface="Arial"/>
              <a:buChar char="•"/>
            </a:pPr>
            <a:r>
              <a:rPr lang="en-US" sz="1200" b="1" err="1">
                <a:latin typeface="Montserrat"/>
                <a:ea typeface="Calibri"/>
                <a:cs typeface="Calibri"/>
              </a:rPr>
              <a:t>Win_Type</a:t>
            </a:r>
            <a:r>
              <a:rPr lang="en-US" sz="1200" dirty="0">
                <a:latin typeface="Montserrat"/>
                <a:ea typeface="Calibri"/>
                <a:cs typeface="Calibri"/>
              </a:rPr>
              <a:t>: The method by which the match was won (e.g., runs or wickets).</a:t>
            </a:r>
            <a:endParaRPr lang="en-US" sz="1200">
              <a:latin typeface="Montserrat"/>
            </a:endParaRPr>
          </a:p>
          <a:p>
            <a:pPr>
              <a:buFont typeface="Arial"/>
              <a:buChar char="•"/>
            </a:pPr>
            <a:r>
              <a:rPr lang="en-US" sz="1200" b="1" err="1">
                <a:latin typeface="Montserrat"/>
                <a:ea typeface="Calibri"/>
                <a:cs typeface="Calibri"/>
              </a:rPr>
              <a:t>Win_Margin</a:t>
            </a:r>
            <a:r>
              <a:rPr lang="en-US" sz="1200" dirty="0">
                <a:latin typeface="Montserrat"/>
                <a:ea typeface="Calibri"/>
                <a:cs typeface="Calibri"/>
              </a:rPr>
              <a:t>: The margin by which the match was won.</a:t>
            </a:r>
            <a:endParaRPr lang="en-US" sz="1200">
              <a:latin typeface="Montserrat"/>
            </a:endParaRPr>
          </a:p>
          <a:p>
            <a:pPr>
              <a:buFont typeface="Arial"/>
              <a:buChar char="•"/>
            </a:pPr>
            <a:r>
              <a:rPr lang="en-US" sz="1200" b="1" err="1">
                <a:latin typeface="Montserrat"/>
                <a:ea typeface="Calibri"/>
                <a:cs typeface="Calibri"/>
              </a:rPr>
              <a:t>Venue_Id</a:t>
            </a:r>
            <a:r>
              <a:rPr lang="en-US" sz="1200" b="1" dirty="0">
                <a:latin typeface="Montserrat"/>
                <a:ea typeface="Calibri"/>
                <a:cs typeface="Calibri"/>
              </a:rPr>
              <a:t>:</a:t>
            </a:r>
            <a:r>
              <a:rPr lang="en-US" sz="1200" dirty="0">
                <a:latin typeface="Montserrat"/>
                <a:ea typeface="Calibri"/>
                <a:cs typeface="Calibri"/>
              </a:rPr>
              <a:t> Reference to the venue where the match was played.</a:t>
            </a:r>
            <a:endParaRPr lang="en-US" sz="1200">
              <a:latin typeface="Montserrat"/>
            </a:endParaRPr>
          </a:p>
          <a:p>
            <a:pPr>
              <a:buFont typeface="Arial"/>
              <a:buChar char="•"/>
            </a:pPr>
            <a:r>
              <a:rPr lang="en-US" sz="1200" b="1" err="1">
                <a:latin typeface="Montserrat"/>
                <a:ea typeface="Calibri"/>
                <a:cs typeface="Calibri"/>
              </a:rPr>
              <a:t>Season_Id</a:t>
            </a:r>
            <a:r>
              <a:rPr lang="en-US" sz="1200" dirty="0">
                <a:latin typeface="Montserrat"/>
                <a:ea typeface="Calibri"/>
                <a:cs typeface="Calibri"/>
              </a:rPr>
              <a:t>: The season in which the match occurred.</a:t>
            </a:r>
            <a:br>
              <a:rPr lang="en-US" sz="1200" dirty="0">
                <a:latin typeface="Montserrat"/>
                <a:ea typeface="Calibri"/>
                <a:cs typeface="Calibri"/>
              </a:rPr>
            </a:br>
            <a:br>
              <a:rPr lang="en-US" sz="1200" dirty="0">
                <a:latin typeface="Montserrat"/>
                <a:ea typeface="Calibri"/>
                <a:cs typeface="Calibri"/>
              </a:rPr>
            </a:br>
            <a:r>
              <a:rPr lang="en-US" sz="1200" b="1" dirty="0">
                <a:latin typeface="Montserrat"/>
                <a:ea typeface="Calibri"/>
                <a:cs typeface="Calibri"/>
              </a:rPr>
              <a:t>Venue </a:t>
            </a:r>
            <a:endParaRPr lang="en-US" sz="1200" b="1">
              <a:latin typeface="Montserrat"/>
            </a:endParaRPr>
          </a:p>
          <a:p>
            <a:pPr>
              <a:buFont typeface="Arial"/>
              <a:buChar char="•"/>
            </a:pPr>
            <a:r>
              <a:rPr lang="en-US" sz="1200" b="1" err="1">
                <a:latin typeface="Montserrat"/>
                <a:ea typeface="Calibri"/>
                <a:cs typeface="Calibri"/>
              </a:rPr>
              <a:t>Venue_Id</a:t>
            </a:r>
            <a:r>
              <a:rPr lang="en-US" sz="1200" dirty="0">
                <a:latin typeface="Montserrat"/>
                <a:ea typeface="Calibri"/>
                <a:cs typeface="Calibri"/>
              </a:rPr>
              <a:t>: Unique identifier for each venue.</a:t>
            </a:r>
            <a:endParaRPr lang="en-US" sz="1200">
              <a:latin typeface="Montserrat"/>
            </a:endParaRPr>
          </a:p>
          <a:p>
            <a:pPr>
              <a:buFont typeface="Arial"/>
              <a:buChar char="•"/>
            </a:pPr>
            <a:r>
              <a:rPr lang="en-US" sz="1200" b="1" err="1">
                <a:latin typeface="Montserrat"/>
                <a:ea typeface="Calibri"/>
                <a:cs typeface="Calibri"/>
              </a:rPr>
              <a:t>Venue_Name</a:t>
            </a:r>
            <a:r>
              <a:rPr lang="en-US" sz="1200" dirty="0">
                <a:latin typeface="Montserrat"/>
                <a:ea typeface="Calibri"/>
                <a:cs typeface="Calibri"/>
              </a:rPr>
              <a:t>: Name of the venue.</a:t>
            </a:r>
            <a:endParaRPr lang="en-US" sz="1200">
              <a:latin typeface="Montserrat"/>
            </a:endParaRPr>
          </a:p>
          <a:p>
            <a:pPr>
              <a:buFont typeface="Arial"/>
              <a:buChar char="•"/>
            </a:pPr>
            <a:r>
              <a:rPr lang="en-US" sz="1200" b="1" err="1">
                <a:latin typeface="Montserrat"/>
                <a:ea typeface="Calibri"/>
                <a:cs typeface="Calibri"/>
              </a:rPr>
              <a:t>City_Id</a:t>
            </a:r>
            <a:r>
              <a:rPr lang="en-US" sz="1200" dirty="0">
                <a:latin typeface="Montserrat"/>
                <a:ea typeface="Calibri"/>
                <a:cs typeface="Calibri"/>
              </a:rPr>
              <a:t>: Reference to the city where the venue is located.</a:t>
            </a:r>
            <a:endParaRPr lang="en-US" sz="1200">
              <a:latin typeface="Montserrat"/>
            </a:endParaRPr>
          </a:p>
          <a:p>
            <a:pPr marL="0" indent="0">
              <a:lnSpc>
                <a:spcPct val="100000"/>
              </a:lnSpc>
              <a:spcBef>
                <a:spcPts val="0"/>
              </a:spcBef>
              <a:buNone/>
            </a:pPr>
            <a:endParaRPr lang="en-US" sz="1200" dirty="0">
              <a:latin typeface="Montserrat"/>
              <a:ea typeface="Calibri"/>
              <a:cs typeface="Calibri"/>
            </a:endParaRPr>
          </a:p>
        </p:txBody>
      </p:sp>
    </p:spTree>
    <p:extLst>
      <p:ext uri="{BB962C8B-B14F-4D97-AF65-F5344CB8AC3E}">
        <p14:creationId xmlns:p14="http://schemas.microsoft.com/office/powerpoint/2010/main" val="29315239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0BCBE-9387-DE59-7828-35B6E5681E64}"/>
              </a:ext>
            </a:extLst>
          </p:cNvPr>
          <p:cNvSpPr>
            <a:spLocks noGrp="1"/>
          </p:cNvSpPr>
          <p:nvPr>
            <p:ph type="title"/>
          </p:nvPr>
        </p:nvSpPr>
        <p:spPr>
          <a:xfrm>
            <a:off x="1072322" y="263188"/>
            <a:ext cx="8886884" cy="953669"/>
          </a:xfrm>
        </p:spPr>
        <p:txBody>
          <a:bodyPr/>
          <a:lstStyle/>
          <a:p>
            <a:r>
              <a:rPr lang="en-US" dirty="0">
                <a:latin typeface="Montserrat"/>
              </a:rPr>
              <a:t>Data Description</a:t>
            </a:r>
            <a:endParaRPr lang="en-US" dirty="0"/>
          </a:p>
        </p:txBody>
      </p:sp>
      <p:sp>
        <p:nvSpPr>
          <p:cNvPr id="3" name="Content Placeholder 2">
            <a:extLst>
              <a:ext uri="{FF2B5EF4-FFF2-40B4-BE49-F238E27FC236}">
                <a16:creationId xmlns:a16="http://schemas.microsoft.com/office/drawing/2014/main" id="{15F90E8E-A165-9679-7F3F-333654024DDF}"/>
              </a:ext>
            </a:extLst>
          </p:cNvPr>
          <p:cNvSpPr>
            <a:spLocks noGrp="1"/>
          </p:cNvSpPr>
          <p:nvPr>
            <p:ph idx="1"/>
          </p:nvPr>
        </p:nvSpPr>
        <p:spPr>
          <a:xfrm>
            <a:off x="1069848" y="1714522"/>
            <a:ext cx="4909376" cy="4182028"/>
          </a:xfrm>
        </p:spPr>
        <p:txBody>
          <a:bodyPr vert="horz" lIns="91440" tIns="45720" rIns="91440" bIns="45720" rtlCol="0" anchor="t">
            <a:normAutofit lnSpcReduction="10000"/>
          </a:bodyPr>
          <a:lstStyle/>
          <a:p>
            <a:pPr marL="0" indent="0">
              <a:lnSpc>
                <a:spcPct val="100000"/>
              </a:lnSpc>
              <a:spcBef>
                <a:spcPts val="0"/>
              </a:spcBef>
              <a:buNone/>
            </a:pPr>
            <a:r>
              <a:rPr lang="en-US" sz="1200">
                <a:solidFill>
                  <a:srgbClr val="000000"/>
                </a:solidFill>
                <a:latin typeface="Montserrat"/>
              </a:rPr>
              <a:t>.</a:t>
            </a:r>
            <a:r>
              <a:rPr lang="en-US" sz="1200" b="1">
                <a:latin typeface="Montserrat"/>
              </a:rPr>
              <a:t>Extra Type</a:t>
            </a:r>
            <a:endParaRPr lang="en-US" sz="1200">
              <a:latin typeface="Montserrat"/>
            </a:endParaRPr>
          </a:p>
          <a:p>
            <a:r>
              <a:rPr lang="en-US" sz="1200" b="1" dirty="0">
                <a:latin typeface="Montserrat"/>
              </a:rPr>
              <a:t>Extra_Type_Id</a:t>
            </a:r>
            <a:r>
              <a:rPr lang="en-US" sz="1200" dirty="0">
                <a:latin typeface="Montserrat"/>
              </a:rPr>
              <a:t>: Unique identifier for the type of extra runs scored in a cricket match.</a:t>
            </a:r>
          </a:p>
          <a:p>
            <a:r>
              <a:rPr lang="en-US" sz="1200" b="1" dirty="0">
                <a:latin typeface="Montserrat"/>
              </a:rPr>
              <a:t>Extra_Runs</a:t>
            </a:r>
            <a:r>
              <a:rPr lang="en-US" sz="1200" dirty="0">
                <a:latin typeface="Montserrat"/>
              </a:rPr>
              <a:t>: The number of extra runs scored in a particular delivery.</a:t>
            </a:r>
          </a:p>
          <a:p>
            <a:r>
              <a:rPr lang="en-US" sz="1200" b="1" dirty="0">
                <a:latin typeface="Montserrat"/>
              </a:rPr>
              <a:t>Innings_No</a:t>
            </a:r>
            <a:r>
              <a:rPr lang="en-US" sz="1200" dirty="0">
                <a:latin typeface="Montserrat"/>
              </a:rPr>
              <a:t>: The innings number in a cricket match.</a:t>
            </a:r>
          </a:p>
          <a:p>
            <a:r>
              <a:rPr lang="en-US" sz="1200" b="1" dirty="0">
                <a:latin typeface="Montserrat"/>
              </a:rPr>
              <a:t>Extra_Id:</a:t>
            </a:r>
            <a:r>
              <a:rPr lang="en-US" sz="1200" dirty="0">
                <a:latin typeface="Montserrat"/>
              </a:rPr>
              <a:t> Unique identifier for an instance of extra runs scored.</a:t>
            </a:r>
          </a:p>
          <a:p>
            <a:r>
              <a:rPr lang="en-US" sz="1200" b="1" dirty="0">
                <a:latin typeface="Montserrat"/>
              </a:rPr>
              <a:t>Extra_Name</a:t>
            </a:r>
            <a:r>
              <a:rPr lang="en-US" sz="1200" dirty="0">
                <a:latin typeface="Montserrat"/>
              </a:rPr>
              <a:t>: The name or description of the type of extra runs scored (e.g., byes, leg byes, wides, no-balls).</a:t>
            </a:r>
          </a:p>
          <a:p>
            <a:r>
              <a:rPr lang="en-US" sz="1200" b="1" dirty="0">
                <a:latin typeface="Montserrat"/>
              </a:rPr>
              <a:t>Season</a:t>
            </a:r>
            <a:endParaRPr lang="en-US" sz="1200" dirty="0">
              <a:latin typeface="Montserrat"/>
            </a:endParaRPr>
          </a:p>
          <a:p>
            <a:r>
              <a:rPr lang="en-US" sz="1200" b="1" dirty="0">
                <a:latin typeface="Montserrat"/>
              </a:rPr>
              <a:t>Season_Id</a:t>
            </a:r>
            <a:r>
              <a:rPr lang="en-US" sz="1200" dirty="0">
                <a:latin typeface="Montserrat"/>
              </a:rPr>
              <a:t>: Unique identifier for a particular season or tournament.</a:t>
            </a:r>
          </a:p>
          <a:p>
            <a:r>
              <a:rPr lang="en-US" sz="1200" b="1">
                <a:latin typeface="Montserrat"/>
              </a:rPr>
              <a:t>Venue_Id</a:t>
            </a:r>
            <a:r>
              <a:rPr lang="en-US" sz="1200">
                <a:latin typeface="Montserrat"/>
              </a:rPr>
              <a:t>: Unique identifier for the venue or stadium where the match is played.</a:t>
            </a:r>
            <a:endParaRPr lang="en-US" sz="1200" dirty="0">
              <a:latin typeface="Montserrat"/>
            </a:endParaRPr>
          </a:p>
          <a:p>
            <a:pPr>
              <a:lnSpc>
                <a:spcPct val="100000"/>
              </a:lnSpc>
              <a:spcBef>
                <a:spcPts val="0"/>
              </a:spcBef>
              <a:buFont typeface="Arial,Sans-Serif" panose="020B0604020202020204" pitchFamily="34" charset="0"/>
            </a:pPr>
            <a:endParaRPr lang="en-US" sz="1200" dirty="0">
              <a:latin typeface="Montserrat"/>
            </a:endParaRPr>
          </a:p>
        </p:txBody>
      </p:sp>
      <p:sp>
        <p:nvSpPr>
          <p:cNvPr id="4" name="TextBox 3">
            <a:extLst>
              <a:ext uri="{FF2B5EF4-FFF2-40B4-BE49-F238E27FC236}">
                <a16:creationId xmlns:a16="http://schemas.microsoft.com/office/drawing/2014/main" id="{7DB051CB-1C10-1D65-CE85-72BC841303FA}"/>
              </a:ext>
            </a:extLst>
          </p:cNvPr>
          <p:cNvSpPr txBox="1"/>
          <p:nvPr/>
        </p:nvSpPr>
        <p:spPr>
          <a:xfrm>
            <a:off x="6184347" y="1715553"/>
            <a:ext cx="5778044" cy="4154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latin typeface="Montserrat"/>
                <a:ea typeface="Montserrat"/>
                <a:cs typeface="Montserrat"/>
              </a:rPr>
              <a:t>Win_By</a:t>
            </a:r>
          </a:p>
          <a:p>
            <a:endParaRPr lang="en-US" sz="1200" b="1" dirty="0">
              <a:latin typeface="Montserrat"/>
              <a:ea typeface="Montserrat"/>
              <a:cs typeface="Montserrat"/>
            </a:endParaRPr>
          </a:p>
          <a:p>
            <a:pPr marL="228600" indent="-228600">
              <a:buFont typeface=""/>
              <a:buChar char="•"/>
            </a:pPr>
            <a:r>
              <a:rPr lang="en-US" sz="1200" b="1">
                <a:latin typeface="Montserrat"/>
                <a:ea typeface="Montserrat"/>
                <a:cs typeface="Montserrat"/>
              </a:rPr>
              <a:t>Win_Type</a:t>
            </a:r>
            <a:r>
              <a:rPr lang="en-US" sz="1200" b="0">
                <a:latin typeface="Montserrat"/>
                <a:ea typeface="Montserrat"/>
                <a:cs typeface="Montserrat"/>
              </a:rPr>
              <a:t>: The type of win (e.g., runs, wickets) achieved by the winning team.</a:t>
            </a:r>
          </a:p>
          <a:p>
            <a:pPr marL="228600" indent="-228600">
              <a:buFont typeface=""/>
              <a:buChar char="•"/>
            </a:pPr>
            <a:r>
              <a:rPr lang="en-US" sz="1200" b="1">
                <a:latin typeface="Montserrat"/>
                <a:ea typeface="Montserrat"/>
                <a:cs typeface="Montserrat"/>
              </a:rPr>
              <a:t>Win_Margin</a:t>
            </a:r>
            <a:r>
              <a:rPr lang="en-US" sz="1200" b="0">
                <a:latin typeface="Montserrat"/>
                <a:ea typeface="Montserrat"/>
                <a:cs typeface="Montserrat"/>
              </a:rPr>
              <a:t>: The margin of victory (e.g., runs or wickets) for the winning team</a:t>
            </a:r>
            <a:r>
              <a:rPr lang="en-US" sz="1200" b="1">
                <a:latin typeface="Montserrat"/>
                <a:ea typeface="Montserrat"/>
                <a:cs typeface="Montserrat"/>
              </a:rPr>
              <a:t>.</a:t>
            </a:r>
          </a:p>
          <a:p>
            <a:pPr marL="228600" indent="-228600">
              <a:buFont typeface=""/>
              <a:buChar char="•"/>
            </a:pPr>
            <a:endParaRPr lang="en-US" sz="1200" b="1" dirty="0">
              <a:latin typeface="Montserrat"/>
              <a:ea typeface="Montserrat"/>
              <a:cs typeface="Montserrat"/>
            </a:endParaRPr>
          </a:p>
          <a:p>
            <a:r>
              <a:rPr lang="en-US" sz="1200" b="1">
                <a:latin typeface="Montserrat"/>
                <a:ea typeface="Montserrat"/>
                <a:cs typeface="Montserrat"/>
              </a:rPr>
              <a:t>Outcome</a:t>
            </a:r>
          </a:p>
          <a:p>
            <a:endParaRPr lang="en-US" sz="1200" b="1" dirty="0">
              <a:latin typeface="Montserrat"/>
              <a:ea typeface="Montserrat"/>
              <a:cs typeface="Montserrat"/>
            </a:endParaRPr>
          </a:p>
          <a:p>
            <a:pPr marL="228600" indent="-228600">
              <a:buFont typeface=""/>
              <a:buChar char="•"/>
            </a:pPr>
            <a:r>
              <a:rPr lang="en-US" sz="1200" b="1">
                <a:latin typeface="Montserrat"/>
                <a:ea typeface="Montserrat"/>
                <a:cs typeface="Montserrat"/>
              </a:rPr>
              <a:t>Outcome_type</a:t>
            </a:r>
            <a:r>
              <a:rPr lang="en-US" sz="1200" b="0">
                <a:latin typeface="Montserrat"/>
                <a:ea typeface="Montserrat"/>
                <a:cs typeface="Montserrat"/>
              </a:rPr>
              <a:t>: The type of outcome or result of the match (e.g., win, loss, tie, no result).</a:t>
            </a:r>
          </a:p>
          <a:p>
            <a:pPr marL="228600" indent="-228600">
              <a:buFont typeface=""/>
              <a:buChar char="•"/>
            </a:pPr>
            <a:r>
              <a:rPr lang="en-US" sz="1200" b="1">
                <a:latin typeface="Montserrat"/>
                <a:ea typeface="Montserrat"/>
                <a:cs typeface="Montserrat"/>
              </a:rPr>
              <a:t>Match_Winner</a:t>
            </a:r>
            <a:r>
              <a:rPr lang="en-US" sz="1200" b="0">
                <a:latin typeface="Montserrat"/>
                <a:ea typeface="Montserrat"/>
                <a:cs typeface="Montserrat"/>
              </a:rPr>
              <a:t>: The team that won the match.</a:t>
            </a:r>
          </a:p>
          <a:p>
            <a:pPr marL="228600" indent="-228600">
              <a:buFont typeface=""/>
              <a:buChar char="•"/>
            </a:pPr>
            <a:r>
              <a:rPr lang="en-US" sz="1200" b="1">
                <a:latin typeface="Montserrat"/>
                <a:ea typeface="Montserrat"/>
                <a:cs typeface="Montserrat"/>
              </a:rPr>
              <a:t>Man_of_the_Match</a:t>
            </a:r>
            <a:r>
              <a:rPr lang="en-US" sz="1200" b="0">
                <a:latin typeface="Montserrat"/>
                <a:ea typeface="Montserrat"/>
                <a:cs typeface="Montserrat"/>
              </a:rPr>
              <a:t>: The player awarded the Man of the Match award.</a:t>
            </a:r>
          </a:p>
          <a:p>
            <a:pPr marL="228600" indent="-228600">
              <a:buFont typeface=""/>
              <a:buChar char="•"/>
            </a:pPr>
            <a:endParaRPr lang="en-US" sz="1200" dirty="0">
              <a:latin typeface="Montserrat"/>
              <a:ea typeface="Montserrat"/>
              <a:cs typeface="Montserrat"/>
            </a:endParaRPr>
          </a:p>
          <a:p>
            <a:r>
              <a:rPr lang="en-US" sz="1200" b="1">
                <a:latin typeface="Montserrat"/>
                <a:ea typeface="Montserrat"/>
                <a:cs typeface="Montserrat"/>
              </a:rPr>
              <a:t>Out_Type</a:t>
            </a:r>
          </a:p>
          <a:p>
            <a:endParaRPr lang="en-US" sz="1200" b="1" dirty="0">
              <a:latin typeface="Montserrat"/>
              <a:ea typeface="Montserrat"/>
              <a:cs typeface="Montserrat"/>
            </a:endParaRPr>
          </a:p>
          <a:p>
            <a:pPr marL="228600" indent="-228600">
              <a:buFont typeface=""/>
              <a:buChar char="•"/>
            </a:pPr>
            <a:r>
              <a:rPr lang="en-US" sz="1200" b="1">
                <a:latin typeface="Montserrat"/>
                <a:ea typeface="Montserrat"/>
                <a:cs typeface="Montserrat"/>
              </a:rPr>
              <a:t>Out_Id</a:t>
            </a:r>
            <a:r>
              <a:rPr lang="en-US" sz="1200" b="0">
                <a:latin typeface="Montserrat"/>
                <a:ea typeface="Montserrat"/>
                <a:cs typeface="Montserrat"/>
              </a:rPr>
              <a:t>: Unique identifier for the type of dismissal or way a batsman got out.</a:t>
            </a:r>
          </a:p>
          <a:p>
            <a:pPr marL="228600" indent="-228600">
              <a:buFont typeface=""/>
              <a:buChar char="•"/>
            </a:pPr>
            <a:r>
              <a:rPr lang="en-US" sz="1200" b="1">
                <a:latin typeface="Montserrat"/>
                <a:ea typeface="Montserrat"/>
                <a:cs typeface="Montserrat"/>
              </a:rPr>
              <a:t>Out_Name</a:t>
            </a:r>
            <a:r>
              <a:rPr lang="en-US" sz="1200" b="0">
                <a:latin typeface="Montserrat"/>
                <a:ea typeface="Montserrat"/>
                <a:cs typeface="Montserrat"/>
              </a:rPr>
              <a:t>: The name or description of the type of dismissal (e.g., caught, bowled, lbw, run out).</a:t>
            </a:r>
          </a:p>
          <a:p>
            <a:pPr marL="228600" indent="-228600">
              <a:buFont typeface=""/>
              <a:buChar char="•"/>
            </a:pPr>
            <a:r>
              <a:rPr lang="en-US" sz="1200" b="1">
                <a:latin typeface="Montserrat"/>
                <a:ea typeface="Montserrat"/>
                <a:cs typeface="Montserrat"/>
              </a:rPr>
              <a:t>Outcome_Id</a:t>
            </a:r>
            <a:r>
              <a:rPr lang="en-US" sz="1200" b="0">
                <a:latin typeface="Montserrat"/>
                <a:ea typeface="Montserrat"/>
                <a:cs typeface="Montserrat"/>
              </a:rPr>
              <a:t>: Unique identifier for the outcome or result of a match.</a:t>
            </a:r>
          </a:p>
          <a:p>
            <a:pPr algn="ctr"/>
            <a:endParaRPr lang="en-US" sz="1200" dirty="0">
              <a:latin typeface="Montserrat"/>
            </a:endParaRPr>
          </a:p>
        </p:txBody>
      </p:sp>
    </p:spTree>
    <p:extLst>
      <p:ext uri="{BB962C8B-B14F-4D97-AF65-F5344CB8AC3E}">
        <p14:creationId xmlns:p14="http://schemas.microsoft.com/office/powerpoint/2010/main" val="19864886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5279C-44B2-611F-BA6B-1AC92D063C2B}"/>
              </a:ext>
            </a:extLst>
          </p:cNvPr>
          <p:cNvSpPr>
            <a:spLocks noGrp="1"/>
          </p:cNvSpPr>
          <p:nvPr>
            <p:ph type="title"/>
          </p:nvPr>
        </p:nvSpPr>
        <p:spPr>
          <a:xfrm>
            <a:off x="1072322" y="296319"/>
            <a:ext cx="8886884" cy="953669"/>
          </a:xfrm>
        </p:spPr>
        <p:txBody>
          <a:bodyPr/>
          <a:lstStyle/>
          <a:p>
            <a:r>
              <a:rPr lang="en-US">
                <a:latin typeface="Montserrat"/>
              </a:rPr>
              <a:t>Data Description</a:t>
            </a:r>
            <a:endParaRPr lang="en-US"/>
          </a:p>
        </p:txBody>
      </p:sp>
      <p:sp>
        <p:nvSpPr>
          <p:cNvPr id="3" name="Content Placeholder 2">
            <a:extLst>
              <a:ext uri="{FF2B5EF4-FFF2-40B4-BE49-F238E27FC236}">
                <a16:creationId xmlns:a16="http://schemas.microsoft.com/office/drawing/2014/main" id="{A67E935A-883D-0A3F-EEFA-24CEED76F68B}"/>
              </a:ext>
            </a:extLst>
          </p:cNvPr>
          <p:cNvSpPr>
            <a:spLocks noGrp="1"/>
          </p:cNvSpPr>
          <p:nvPr>
            <p:ph idx="1"/>
          </p:nvPr>
        </p:nvSpPr>
        <p:spPr>
          <a:xfrm>
            <a:off x="1069848" y="1587522"/>
            <a:ext cx="5397276" cy="4307161"/>
          </a:xfrm>
        </p:spPr>
        <p:txBody>
          <a:bodyPr vert="horz" lIns="91440" tIns="45720" rIns="91440" bIns="45720" rtlCol="0" anchor="t">
            <a:normAutofit fontScale="92500" lnSpcReduction="20000"/>
          </a:bodyPr>
          <a:lstStyle/>
          <a:p>
            <a:pPr marL="0" indent="0">
              <a:buNone/>
            </a:pPr>
            <a:r>
              <a:rPr lang="en-US" sz="1200" b="1" dirty="0">
                <a:latin typeface="Montserrat"/>
              </a:rPr>
              <a:t>Rolee</a:t>
            </a:r>
            <a:endParaRPr lang="en-US" sz="1200" dirty="0"/>
          </a:p>
          <a:p>
            <a:r>
              <a:rPr lang="en-US" sz="1200" b="1" dirty="0">
                <a:latin typeface="Montserrat"/>
              </a:rPr>
              <a:t>Role_Id</a:t>
            </a:r>
            <a:r>
              <a:rPr lang="en-US" sz="1200" dirty="0">
                <a:latin typeface="Montserrat"/>
              </a:rPr>
              <a:t>: Unique identifier for a player's role or skills (e.g., batsman, bowler, all-rounder).</a:t>
            </a:r>
          </a:p>
          <a:p>
            <a:r>
              <a:rPr lang="en-US" sz="1200" b="1" dirty="0">
                <a:latin typeface="Montserrat"/>
              </a:rPr>
              <a:t>Role_Desc</a:t>
            </a:r>
            <a:r>
              <a:rPr lang="en-US" sz="1200" dirty="0">
                <a:latin typeface="Montserrat"/>
              </a:rPr>
              <a:t>: Description of a player's role or skills.</a:t>
            </a:r>
          </a:p>
          <a:p>
            <a:r>
              <a:rPr lang="en-US" sz="1200" b="1" dirty="0">
                <a:latin typeface="Montserrat"/>
              </a:rPr>
              <a:t>Man_of_the_Series</a:t>
            </a:r>
            <a:r>
              <a:rPr lang="en-US" sz="1200" dirty="0">
                <a:latin typeface="Montserrat"/>
              </a:rPr>
              <a:t>: The player awarded the Man of the Series award for a particular tournament.</a:t>
            </a:r>
          </a:p>
          <a:p>
            <a:r>
              <a:rPr lang="en-US" sz="1200" b="1" dirty="0">
                <a:latin typeface="Montserrat"/>
              </a:rPr>
              <a:t>Orange_cap</a:t>
            </a:r>
            <a:r>
              <a:rPr lang="en-US" sz="1200" dirty="0">
                <a:latin typeface="Montserrat"/>
              </a:rPr>
              <a:t>: The player awarded the Orange Cap (for most runs scored) in a particular tournament.</a:t>
            </a:r>
          </a:p>
          <a:p>
            <a:r>
              <a:rPr lang="en-US" sz="1200" b="1" dirty="0">
                <a:latin typeface="Montserrat"/>
              </a:rPr>
              <a:t>Purple_cap</a:t>
            </a:r>
            <a:r>
              <a:rPr lang="en-US" sz="1200" dirty="0">
                <a:latin typeface="Montserrat"/>
              </a:rPr>
              <a:t>: The player awarded the Purple Cap (for most wickets taken) in a particular tournament.</a:t>
            </a:r>
          </a:p>
          <a:p>
            <a:pPr marL="0" indent="0">
              <a:buNone/>
            </a:pPr>
            <a:r>
              <a:rPr lang="en-US" sz="1200" b="1" dirty="0">
                <a:latin typeface="Montserrat"/>
              </a:rPr>
              <a:t>Extra Runs </a:t>
            </a:r>
            <a:endParaRPr lang="en-US" sz="1200" dirty="0">
              <a:latin typeface="Montserrat"/>
            </a:endParaRPr>
          </a:p>
          <a:p>
            <a:r>
              <a:rPr lang="en-US" sz="1200" b="1" dirty="0">
                <a:latin typeface="Montserrat"/>
              </a:rPr>
              <a:t>Ball_Id</a:t>
            </a:r>
            <a:r>
              <a:rPr lang="en-US" sz="1200" dirty="0">
                <a:latin typeface="Montserrat"/>
              </a:rPr>
              <a:t>: Reference to the specific ball during which extra runs were conceded.</a:t>
            </a:r>
          </a:p>
          <a:p>
            <a:r>
              <a:rPr lang="en-US" sz="1200" b="1" dirty="0">
                <a:latin typeface="Montserrat"/>
              </a:rPr>
              <a:t>Extra_Type_Id</a:t>
            </a:r>
            <a:r>
              <a:rPr lang="en-US" sz="1200" dirty="0">
                <a:latin typeface="Montserrat"/>
              </a:rPr>
              <a:t>: Type of extra run (e.g., wide,no-ball).</a:t>
            </a:r>
          </a:p>
          <a:p>
            <a:r>
              <a:rPr lang="en-US" sz="1200" b="1" dirty="0">
                <a:latin typeface="Montserrat"/>
              </a:rPr>
              <a:t>Innings_No</a:t>
            </a:r>
            <a:r>
              <a:rPr lang="en-US" sz="1200" dirty="0">
                <a:latin typeface="Montserrat"/>
              </a:rPr>
              <a:t>: The innings number during which the extra run occurred.</a:t>
            </a:r>
          </a:p>
          <a:p>
            <a:r>
              <a:rPr lang="en-US" sz="1200" b="1">
                <a:latin typeface="Montserrat"/>
              </a:rPr>
              <a:t>Match_Id</a:t>
            </a:r>
            <a:r>
              <a:rPr lang="en-US" sz="1200">
                <a:latin typeface="Montserrat"/>
              </a:rPr>
              <a:t>: Reference to the match in whichthe extra runs were conceded.</a:t>
            </a:r>
            <a:endParaRPr lang="en-US" sz="1200" dirty="0">
              <a:latin typeface="Montserrat"/>
            </a:endParaRPr>
          </a:p>
          <a:p>
            <a:endParaRPr lang="en-US" sz="1200" dirty="0">
              <a:latin typeface="Montserrat"/>
            </a:endParaRPr>
          </a:p>
        </p:txBody>
      </p:sp>
      <p:sp>
        <p:nvSpPr>
          <p:cNvPr id="4" name="TextBox 3">
            <a:extLst>
              <a:ext uri="{FF2B5EF4-FFF2-40B4-BE49-F238E27FC236}">
                <a16:creationId xmlns:a16="http://schemas.microsoft.com/office/drawing/2014/main" id="{189112A6-3175-1B24-897E-09EBB1BE2BC5}"/>
              </a:ext>
            </a:extLst>
          </p:cNvPr>
          <p:cNvSpPr txBox="1"/>
          <p:nvPr/>
        </p:nvSpPr>
        <p:spPr>
          <a:xfrm>
            <a:off x="6820499" y="1588553"/>
            <a:ext cx="4632303"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latin typeface="Montserrat"/>
                <a:ea typeface="Montserrat"/>
                <a:cs typeface="Montserrat"/>
              </a:rPr>
              <a:t>Umpire</a:t>
            </a:r>
          </a:p>
          <a:p>
            <a:pPr marL="228600" indent="-228600">
              <a:buFont typeface=""/>
              <a:buChar char="•"/>
            </a:pPr>
            <a:r>
              <a:rPr lang="en-US" sz="1200" b="1">
                <a:latin typeface="Montserrat"/>
                <a:ea typeface="Montserrat"/>
                <a:cs typeface="Montserrat"/>
              </a:rPr>
              <a:t>Umpire_id</a:t>
            </a:r>
            <a:r>
              <a:rPr lang="en-US" sz="1200" b="0">
                <a:latin typeface="Montserrat"/>
                <a:ea typeface="Montserrat"/>
                <a:cs typeface="Montserrat"/>
              </a:rPr>
              <a:t>: Unique identifier for an umpire officiating the match.</a:t>
            </a:r>
          </a:p>
          <a:p>
            <a:pPr marL="228600" indent="-228600">
              <a:buFont typeface=""/>
              <a:buChar char="•"/>
            </a:pPr>
            <a:r>
              <a:rPr lang="en-US" sz="1200" b="1">
                <a:latin typeface="Montserrat"/>
                <a:ea typeface="Montserrat"/>
                <a:cs typeface="Montserrat"/>
              </a:rPr>
              <a:t>Umpire_name</a:t>
            </a:r>
            <a:r>
              <a:rPr lang="en-US" sz="1200" b="0">
                <a:latin typeface="Montserrat"/>
                <a:ea typeface="Montserrat"/>
                <a:cs typeface="Montserrat"/>
              </a:rPr>
              <a:t>: The name of an umpire.</a:t>
            </a:r>
          </a:p>
          <a:p>
            <a:pPr marL="228600" indent="-228600">
              <a:buFont typeface=""/>
              <a:buChar char="•"/>
            </a:pPr>
            <a:r>
              <a:rPr lang="en-US" sz="1200" b="1">
                <a:latin typeface="Montserrat"/>
                <a:ea typeface="Montserrat"/>
                <a:cs typeface="Montserrat"/>
              </a:rPr>
              <a:t>Umpire_country</a:t>
            </a:r>
            <a:r>
              <a:rPr lang="en-US" sz="1200" b="0">
                <a:latin typeface="Montserrat"/>
                <a:ea typeface="Montserrat"/>
                <a:cs typeface="Montserrat"/>
              </a:rPr>
              <a:t>: The country or nationality of an umpire.</a:t>
            </a:r>
          </a:p>
          <a:p>
            <a:pPr marL="228600" indent="-228600">
              <a:buFont typeface=""/>
              <a:buChar char="•"/>
            </a:pPr>
            <a:endParaRPr lang="en-US" sz="1200" dirty="0">
              <a:latin typeface="Montserrat"/>
              <a:ea typeface="Montserrat"/>
              <a:cs typeface="Montserrat"/>
            </a:endParaRPr>
          </a:p>
          <a:p>
            <a:r>
              <a:rPr lang="en-US" sz="1200" b="1">
                <a:latin typeface="Montserrat"/>
                <a:ea typeface="Montserrat"/>
                <a:cs typeface="Montserrat"/>
              </a:rPr>
              <a:t>Toss Decision</a:t>
            </a:r>
          </a:p>
          <a:p>
            <a:pPr marL="228600" indent="-228600">
              <a:buFont typeface=""/>
              <a:buChar char="•"/>
            </a:pPr>
            <a:r>
              <a:rPr lang="en-US" sz="1200" b="1">
                <a:latin typeface="Montserrat"/>
                <a:ea typeface="Montserrat"/>
                <a:cs typeface="Montserrat"/>
              </a:rPr>
              <a:t>Toss_Name</a:t>
            </a:r>
            <a:r>
              <a:rPr lang="en-US" sz="1200" b="0">
                <a:latin typeface="Montserrat"/>
                <a:ea typeface="Montserrat"/>
                <a:cs typeface="Montserrat"/>
              </a:rPr>
              <a:t>: The name or description of the toss (e.g., heads or tails).</a:t>
            </a:r>
          </a:p>
          <a:p>
            <a:pPr marL="228600" indent="-228600">
              <a:buFont typeface=""/>
              <a:buChar char="•"/>
            </a:pPr>
            <a:endParaRPr lang="en-US" sz="1200" dirty="0">
              <a:latin typeface="Montserrat"/>
              <a:ea typeface="Montserrat"/>
              <a:cs typeface="Montserrat"/>
            </a:endParaRPr>
          </a:p>
          <a:p>
            <a:r>
              <a:rPr lang="en-US" sz="1200" b="1">
                <a:latin typeface="Montserrat"/>
                <a:ea typeface="Montserrat"/>
                <a:cs typeface="Montserrat"/>
              </a:rPr>
              <a:t>Player</a:t>
            </a:r>
          </a:p>
          <a:p>
            <a:pPr marL="228600" indent="-228600">
              <a:buFont typeface=""/>
              <a:buChar char="•"/>
            </a:pPr>
            <a:r>
              <a:rPr lang="en-US" sz="1200" b="1">
                <a:latin typeface="Montserrat"/>
                <a:ea typeface="Montserrat"/>
                <a:cs typeface="Montserrat"/>
              </a:rPr>
              <a:t>Player_Id</a:t>
            </a:r>
            <a:r>
              <a:rPr lang="en-US" sz="1200" b="0">
                <a:latin typeface="Montserrat"/>
                <a:ea typeface="Montserrat"/>
                <a:cs typeface="Montserrat"/>
              </a:rPr>
              <a:t>: Unique identifier for a player.</a:t>
            </a:r>
          </a:p>
          <a:p>
            <a:pPr marL="228600" indent="-228600">
              <a:buFont typeface=""/>
              <a:buChar char="•"/>
            </a:pPr>
            <a:r>
              <a:rPr lang="en-US" sz="1200" b="1">
                <a:latin typeface="Montserrat"/>
                <a:ea typeface="Montserrat"/>
                <a:cs typeface="Montserrat"/>
              </a:rPr>
              <a:t>Player_Name</a:t>
            </a:r>
            <a:r>
              <a:rPr lang="en-US" sz="1200" b="0">
                <a:latin typeface="Montserrat"/>
                <a:ea typeface="Montserrat"/>
                <a:cs typeface="Montserrat"/>
              </a:rPr>
              <a:t>: The name of a player.</a:t>
            </a:r>
          </a:p>
          <a:p>
            <a:br>
              <a:rPr lang="en-US" sz="1200" dirty="0">
                <a:latin typeface="Montserrat"/>
              </a:rPr>
            </a:br>
            <a:r>
              <a:rPr lang="en-US" sz="1200" b="1">
                <a:latin typeface="Montserrat"/>
                <a:ea typeface="Montserrat"/>
                <a:cs typeface="Montserrat"/>
              </a:rPr>
              <a:t> Team</a:t>
            </a:r>
          </a:p>
          <a:p>
            <a:pPr marL="228600" indent="-228600">
              <a:buFont typeface=""/>
              <a:buChar char="•"/>
            </a:pPr>
            <a:r>
              <a:rPr lang="en-US" sz="1200" b="1">
                <a:latin typeface="Montserrat"/>
                <a:ea typeface="Montserrat"/>
                <a:cs typeface="Montserrat"/>
              </a:rPr>
              <a:t>Team_Id</a:t>
            </a:r>
            <a:r>
              <a:rPr lang="en-US" sz="1200" b="0">
                <a:latin typeface="Montserrat"/>
                <a:ea typeface="Montserrat"/>
                <a:cs typeface="Montserrat"/>
              </a:rPr>
              <a:t>: Unique identifier for a team.</a:t>
            </a:r>
          </a:p>
          <a:p>
            <a:pPr marL="228600" indent="-228600">
              <a:buFont typeface=""/>
              <a:buChar char="•"/>
            </a:pPr>
            <a:r>
              <a:rPr lang="en-US" sz="1200" b="1">
                <a:latin typeface="Montserrat"/>
                <a:ea typeface="Montserrat"/>
                <a:cs typeface="Montserrat"/>
              </a:rPr>
              <a:t>Team_Name</a:t>
            </a:r>
            <a:r>
              <a:rPr lang="en-US" sz="1200" b="0">
                <a:latin typeface="Montserrat"/>
                <a:ea typeface="Montserrat"/>
                <a:cs typeface="Montserrat"/>
              </a:rPr>
              <a:t>: The name of a team.</a:t>
            </a:r>
          </a:p>
          <a:p>
            <a:pPr algn="ctr"/>
            <a:endParaRPr lang="en-US"/>
          </a:p>
        </p:txBody>
      </p:sp>
    </p:spTree>
    <p:extLst>
      <p:ext uri="{BB962C8B-B14F-4D97-AF65-F5344CB8AC3E}">
        <p14:creationId xmlns:p14="http://schemas.microsoft.com/office/powerpoint/2010/main" val="19091460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B7D37-BF44-69B4-DFAD-BE30215C8172}"/>
              </a:ext>
            </a:extLst>
          </p:cNvPr>
          <p:cNvSpPr>
            <a:spLocks noGrp="1"/>
          </p:cNvSpPr>
          <p:nvPr>
            <p:ph type="title"/>
          </p:nvPr>
        </p:nvSpPr>
        <p:spPr>
          <a:xfrm>
            <a:off x="633721" y="-583"/>
            <a:ext cx="8886884" cy="652159"/>
          </a:xfrm>
        </p:spPr>
        <p:txBody>
          <a:bodyPr/>
          <a:lstStyle/>
          <a:p>
            <a:r>
              <a:rPr lang="en-US">
                <a:latin typeface="Montserrat"/>
              </a:rPr>
              <a:t>Database Schema</a:t>
            </a:r>
            <a:endParaRPr lang="en-US"/>
          </a:p>
        </p:txBody>
      </p:sp>
      <p:pic>
        <p:nvPicPr>
          <p:cNvPr id="5" name="Content Placeholder 4" descr="A screenshot of a computer&#10;&#10;AI-generated content may be incorrect.">
            <a:extLst>
              <a:ext uri="{FF2B5EF4-FFF2-40B4-BE49-F238E27FC236}">
                <a16:creationId xmlns:a16="http://schemas.microsoft.com/office/drawing/2014/main" id="{60B734E0-4C4D-F8AA-65F4-7649BBDB09CB}"/>
              </a:ext>
            </a:extLst>
          </p:cNvPr>
          <p:cNvPicPr>
            <a:picLocks noGrp="1" noChangeAspect="1"/>
          </p:cNvPicPr>
          <p:nvPr>
            <p:ph idx="1"/>
          </p:nvPr>
        </p:nvPicPr>
        <p:blipFill>
          <a:blip r:embed="rId2"/>
          <a:stretch>
            <a:fillRect/>
          </a:stretch>
        </p:blipFill>
        <p:spPr>
          <a:xfrm>
            <a:off x="472420" y="576766"/>
            <a:ext cx="11536589" cy="6182962"/>
          </a:xfrm>
          <a:prstGeom prst="rect">
            <a:avLst/>
          </a:prstGeom>
        </p:spPr>
      </p:pic>
    </p:spTree>
    <p:extLst>
      <p:ext uri="{BB962C8B-B14F-4D97-AF65-F5344CB8AC3E}">
        <p14:creationId xmlns:p14="http://schemas.microsoft.com/office/powerpoint/2010/main" val="26226304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0300B1B-B85E-D514-C6B4-30126EBBCD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C9F9C007-0D35-3681-697A-24E1673AAD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540000" flipV="1">
            <a:off x="-23526" y="-55243"/>
            <a:ext cx="6407229" cy="3479258"/>
          </a:xfrm>
          <a:custGeom>
            <a:avLst/>
            <a:gdLst>
              <a:gd name="connsiteX0" fmla="*/ 53408 w 6407229"/>
              <a:gd name="connsiteY0" fmla="*/ 3479258 h 3479258"/>
              <a:gd name="connsiteX1" fmla="*/ 6407229 w 6407229"/>
              <a:gd name="connsiteY1" fmla="*/ 3368352 h 3479258"/>
              <a:gd name="connsiteX2" fmla="*/ 2513111 w 6407229"/>
              <a:gd name="connsiteY2" fmla="*/ 401274 h 3479258"/>
              <a:gd name="connsiteX3" fmla="*/ 2468202 w 6407229"/>
              <a:gd name="connsiteY3" fmla="*/ 369022 h 3479258"/>
              <a:gd name="connsiteX4" fmla="*/ 1321050 w 6407229"/>
              <a:gd name="connsiteY4" fmla="*/ 613 h 3479258"/>
              <a:gd name="connsiteX5" fmla="*/ 1196752 w 6407229"/>
              <a:gd name="connsiteY5" fmla="*/ 1245 h 3479258"/>
              <a:gd name="connsiteX6" fmla="*/ 56027 w 6407229"/>
              <a:gd name="connsiteY6" fmla="*/ 376720 h 3479258"/>
              <a:gd name="connsiteX7" fmla="*/ 0 w 6407229"/>
              <a:gd name="connsiteY7" fmla="*/ 419528 h 3479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07229" h="3479258">
                <a:moveTo>
                  <a:pt x="53408" y="3479258"/>
                </a:moveTo>
                <a:lnTo>
                  <a:pt x="6407229" y="3368352"/>
                </a:lnTo>
                <a:lnTo>
                  <a:pt x="2513111" y="401274"/>
                </a:lnTo>
                <a:lnTo>
                  <a:pt x="2468202" y="369022"/>
                </a:lnTo>
                <a:cubicBezTo>
                  <a:pt x="2117855" y="130665"/>
                  <a:pt x="1719063" y="10130"/>
                  <a:pt x="1321050" y="613"/>
                </a:cubicBezTo>
                <a:cubicBezTo>
                  <a:pt x="1279590" y="-379"/>
                  <a:pt x="1238139" y="-165"/>
                  <a:pt x="1196752" y="1245"/>
                </a:cubicBezTo>
                <a:cubicBezTo>
                  <a:pt x="793227" y="14995"/>
                  <a:pt x="395796" y="142529"/>
                  <a:pt x="56027" y="376720"/>
                </a:cubicBezTo>
                <a:lnTo>
                  <a:pt x="0" y="419528"/>
                </a:lnTo>
                <a:close/>
              </a:path>
            </a:pathLst>
          </a:custGeom>
          <a:gradFill>
            <a:gsLst>
              <a:gs pos="32000">
                <a:schemeClr val="bg2"/>
              </a:gs>
              <a:gs pos="100000">
                <a:schemeClr val="accent1">
                  <a:lumMod val="60000"/>
                  <a:lumOff val="4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DD8B1B0-1442-6DFA-5A35-E1D0C1DBEE7D}"/>
              </a:ext>
            </a:extLst>
          </p:cNvPr>
          <p:cNvSpPr>
            <a:spLocks noGrp="1"/>
          </p:cNvSpPr>
          <p:nvPr>
            <p:ph type="title"/>
          </p:nvPr>
        </p:nvSpPr>
        <p:spPr>
          <a:xfrm>
            <a:off x="1066800" y="1442904"/>
            <a:ext cx="3354198" cy="3037701"/>
          </a:xfrm>
        </p:spPr>
        <p:txBody>
          <a:bodyPr anchor="t">
            <a:normAutofit/>
          </a:bodyPr>
          <a:lstStyle/>
          <a:p>
            <a:pPr algn="r"/>
            <a:endParaRPr lang="en-US">
              <a:latin typeface="Montserrat"/>
            </a:endParaRPr>
          </a:p>
          <a:p>
            <a:pPr algn="r"/>
            <a:br>
              <a:rPr lang="en-US" dirty="0"/>
            </a:br>
            <a:r>
              <a:rPr lang="en-US">
                <a:latin typeface="Montserrat"/>
              </a:rPr>
              <a:t>Methodology</a:t>
            </a:r>
            <a:endParaRPr lang="en-US"/>
          </a:p>
        </p:txBody>
      </p:sp>
      <p:sp>
        <p:nvSpPr>
          <p:cNvPr id="3" name="Content Placeholder 2">
            <a:extLst>
              <a:ext uri="{FF2B5EF4-FFF2-40B4-BE49-F238E27FC236}">
                <a16:creationId xmlns:a16="http://schemas.microsoft.com/office/drawing/2014/main" id="{D448998E-927B-5C6B-6381-3EC264B46AD0}"/>
              </a:ext>
            </a:extLst>
          </p:cNvPr>
          <p:cNvSpPr>
            <a:spLocks noGrp="1"/>
          </p:cNvSpPr>
          <p:nvPr>
            <p:ph idx="1"/>
          </p:nvPr>
        </p:nvSpPr>
        <p:spPr>
          <a:xfrm>
            <a:off x="5152845" y="1445812"/>
            <a:ext cx="5896155" cy="4515877"/>
          </a:xfrm>
        </p:spPr>
        <p:txBody>
          <a:bodyPr vert="horz" lIns="91440" tIns="45720" rIns="91440" bIns="45720" rtlCol="0" anchor="t">
            <a:noAutofit/>
          </a:bodyPr>
          <a:lstStyle/>
          <a:p>
            <a:pPr marL="0" indent="0">
              <a:lnSpc>
                <a:spcPct val="110000"/>
              </a:lnSpc>
              <a:buNone/>
            </a:pPr>
            <a:r>
              <a:rPr lang="en-US" sz="1200" b="1" dirty="0">
                <a:latin typeface="Montserrat"/>
                <a:cs typeface="Times New Roman"/>
              </a:rPr>
              <a:t>1. Data Collection:</a:t>
            </a:r>
            <a:endParaRPr lang="en-US" sz="1200" dirty="0">
              <a:latin typeface="Montserrat"/>
            </a:endParaRPr>
          </a:p>
          <a:p>
            <a:pPr>
              <a:lnSpc>
                <a:spcPct val="110000"/>
              </a:lnSpc>
            </a:pPr>
            <a:r>
              <a:rPr lang="en-US" sz="1200" dirty="0">
                <a:latin typeface="Montserrat"/>
                <a:cs typeface="Times New Roman"/>
              </a:rPr>
              <a:t>Extract historical IPL data (batting, bowling, fielding, match results, auction prices).</a:t>
            </a:r>
            <a:endParaRPr lang="en-US" sz="1200" dirty="0">
              <a:latin typeface="Montserrat"/>
            </a:endParaRPr>
          </a:p>
          <a:p>
            <a:pPr>
              <a:lnSpc>
                <a:spcPct val="110000"/>
              </a:lnSpc>
            </a:pPr>
            <a:r>
              <a:rPr lang="en-US" sz="1200" dirty="0">
                <a:latin typeface="Montserrat"/>
                <a:cs typeface="Times New Roman"/>
              </a:rPr>
              <a:t>Clean and standardize datasets for player-wise aggregation.</a:t>
            </a:r>
            <a:endParaRPr lang="en-US" sz="1200" dirty="0">
              <a:latin typeface="Montserrat"/>
            </a:endParaRPr>
          </a:p>
          <a:p>
            <a:pPr marL="0" indent="0">
              <a:lnSpc>
                <a:spcPct val="110000"/>
              </a:lnSpc>
              <a:buNone/>
            </a:pPr>
            <a:r>
              <a:rPr lang="en-US" sz="1200" b="1" dirty="0">
                <a:latin typeface="Montserrat"/>
                <a:cs typeface="Times New Roman"/>
              </a:rPr>
              <a:t> 2. Data Processing :(Calculate key metrics)</a:t>
            </a:r>
            <a:endParaRPr lang="en-US" sz="1200" dirty="0">
              <a:latin typeface="Montserrat"/>
            </a:endParaRPr>
          </a:p>
          <a:p>
            <a:pPr>
              <a:lnSpc>
                <a:spcPct val="110000"/>
              </a:lnSpc>
            </a:pPr>
            <a:r>
              <a:rPr lang="en-US" sz="1200" dirty="0">
                <a:latin typeface="Montserrat"/>
                <a:cs typeface="Times New Roman"/>
              </a:rPr>
              <a:t>Batting: Avg, SR, Runs/Season, Boundary %, Consistency</a:t>
            </a:r>
            <a:endParaRPr lang="en-US" sz="1200" dirty="0">
              <a:latin typeface="Montserrat"/>
            </a:endParaRPr>
          </a:p>
          <a:p>
            <a:pPr>
              <a:lnSpc>
                <a:spcPct val="110000"/>
              </a:lnSpc>
            </a:pPr>
            <a:r>
              <a:rPr lang="en-US" sz="1200" dirty="0">
                <a:latin typeface="Montserrat"/>
                <a:cs typeface="Times New Roman"/>
              </a:rPr>
              <a:t>Bowling: Economy, Avg, Strike Rate, Wickets/Season</a:t>
            </a:r>
            <a:endParaRPr lang="en-US" sz="1200" dirty="0">
              <a:latin typeface="Montserrat"/>
            </a:endParaRPr>
          </a:p>
          <a:p>
            <a:pPr>
              <a:lnSpc>
                <a:spcPct val="110000"/>
              </a:lnSpc>
            </a:pPr>
            <a:r>
              <a:rPr lang="en-US" sz="1200" dirty="0">
                <a:latin typeface="Montserrat"/>
                <a:cs typeface="Times New Roman"/>
              </a:rPr>
              <a:t>All-rounder Index</a:t>
            </a:r>
            <a:endParaRPr lang="en-US" sz="1200" dirty="0">
              <a:latin typeface="Montserrat"/>
            </a:endParaRPr>
          </a:p>
          <a:p>
            <a:pPr>
              <a:lnSpc>
                <a:spcPct val="110000"/>
              </a:lnSpc>
            </a:pPr>
            <a:r>
              <a:rPr lang="en-US" sz="1200" dirty="0">
                <a:latin typeface="Montserrat"/>
                <a:cs typeface="Times New Roman"/>
              </a:rPr>
              <a:t>Win Contribution %, Performance Impact Score</a:t>
            </a:r>
            <a:endParaRPr lang="en-US" sz="1200" dirty="0">
              <a:latin typeface="Montserrat"/>
            </a:endParaRPr>
          </a:p>
          <a:p>
            <a:pPr marL="0" indent="0">
              <a:lnSpc>
                <a:spcPct val="110000"/>
              </a:lnSpc>
              <a:buNone/>
            </a:pPr>
            <a:r>
              <a:rPr lang="en-US" sz="1200" b="1" dirty="0">
                <a:latin typeface="Montserrat"/>
                <a:cs typeface="Times New Roman"/>
              </a:rPr>
              <a:t>3.  Performance Segmentation:</a:t>
            </a:r>
            <a:endParaRPr lang="en-US" sz="1200" dirty="0">
              <a:latin typeface="Montserrat"/>
              <a:cs typeface="Times New Roman"/>
            </a:endParaRPr>
          </a:p>
          <a:p>
            <a:pPr>
              <a:lnSpc>
                <a:spcPct val="110000"/>
              </a:lnSpc>
            </a:pPr>
            <a:r>
              <a:rPr lang="en-US" sz="1200" dirty="0">
                <a:latin typeface="Montserrat"/>
                <a:cs typeface="Times New Roman"/>
              </a:rPr>
              <a:t>High Impact player</a:t>
            </a:r>
            <a:endParaRPr lang="en-US" sz="1200" dirty="0">
              <a:latin typeface="Montserrat"/>
            </a:endParaRPr>
          </a:p>
          <a:p>
            <a:pPr>
              <a:lnSpc>
                <a:spcPct val="110000"/>
              </a:lnSpc>
            </a:pPr>
            <a:r>
              <a:rPr lang="en-US" sz="1200" dirty="0">
                <a:latin typeface="Montserrat"/>
                <a:cs typeface="Times New Roman"/>
              </a:rPr>
              <a:t>Consistent Performers</a:t>
            </a:r>
            <a:endParaRPr lang="en-US" sz="1200" dirty="0">
              <a:latin typeface="Montserrat"/>
            </a:endParaRPr>
          </a:p>
          <a:p>
            <a:pPr>
              <a:lnSpc>
                <a:spcPct val="110000"/>
              </a:lnSpc>
            </a:pPr>
            <a:r>
              <a:rPr lang="en-US" sz="1200" dirty="0">
                <a:latin typeface="Montserrat"/>
                <a:cs typeface="Times New Roman"/>
              </a:rPr>
              <a:t>Undervalued Players</a:t>
            </a:r>
            <a:endParaRPr lang="en-US" sz="1200" dirty="0">
              <a:latin typeface="Montserrat"/>
            </a:endParaRPr>
          </a:p>
          <a:p>
            <a:pPr>
              <a:lnSpc>
                <a:spcPct val="110000"/>
              </a:lnSpc>
            </a:pPr>
            <a:r>
              <a:rPr lang="en-US" sz="1200" dirty="0">
                <a:latin typeface="Montserrat"/>
                <a:cs typeface="Times New Roman"/>
              </a:rPr>
              <a:t>High-Risk Players</a:t>
            </a:r>
            <a:endParaRPr lang="en-US" sz="1200" dirty="0">
              <a:latin typeface="Montserrat"/>
            </a:endParaRPr>
          </a:p>
          <a:p>
            <a:pPr>
              <a:lnSpc>
                <a:spcPct val="110000"/>
              </a:lnSpc>
            </a:pPr>
            <a:endParaRPr lang="en-US" sz="1100">
              <a:latin typeface="Montserrat"/>
              <a:cs typeface="Times New Roman"/>
            </a:endParaRPr>
          </a:p>
          <a:p>
            <a:pPr>
              <a:lnSpc>
                <a:spcPct val="110000"/>
              </a:lnSpc>
            </a:pPr>
            <a:endParaRPr lang="en-US" sz="1100">
              <a:latin typeface="Montserrat"/>
            </a:endParaRPr>
          </a:p>
        </p:txBody>
      </p:sp>
    </p:spTree>
    <p:extLst>
      <p:ext uri="{BB962C8B-B14F-4D97-AF65-F5344CB8AC3E}">
        <p14:creationId xmlns:p14="http://schemas.microsoft.com/office/powerpoint/2010/main" val="33702210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0300B1B-B85E-D514-C6B4-30126EBBCD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676B30C7-A5EB-62EB-4D41-ED75213FAE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540000" flipV="1">
            <a:off x="-23526" y="-55243"/>
            <a:ext cx="6407229" cy="3479258"/>
          </a:xfrm>
          <a:custGeom>
            <a:avLst/>
            <a:gdLst>
              <a:gd name="connsiteX0" fmla="*/ 53408 w 6407229"/>
              <a:gd name="connsiteY0" fmla="*/ 3479258 h 3479258"/>
              <a:gd name="connsiteX1" fmla="*/ 6407229 w 6407229"/>
              <a:gd name="connsiteY1" fmla="*/ 3368352 h 3479258"/>
              <a:gd name="connsiteX2" fmla="*/ 2513111 w 6407229"/>
              <a:gd name="connsiteY2" fmla="*/ 401274 h 3479258"/>
              <a:gd name="connsiteX3" fmla="*/ 2468202 w 6407229"/>
              <a:gd name="connsiteY3" fmla="*/ 369022 h 3479258"/>
              <a:gd name="connsiteX4" fmla="*/ 1321050 w 6407229"/>
              <a:gd name="connsiteY4" fmla="*/ 613 h 3479258"/>
              <a:gd name="connsiteX5" fmla="*/ 1196752 w 6407229"/>
              <a:gd name="connsiteY5" fmla="*/ 1245 h 3479258"/>
              <a:gd name="connsiteX6" fmla="*/ 56027 w 6407229"/>
              <a:gd name="connsiteY6" fmla="*/ 376720 h 3479258"/>
              <a:gd name="connsiteX7" fmla="*/ 0 w 6407229"/>
              <a:gd name="connsiteY7" fmla="*/ 419528 h 3479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07229" h="3479258">
                <a:moveTo>
                  <a:pt x="53408" y="3479258"/>
                </a:moveTo>
                <a:lnTo>
                  <a:pt x="6407229" y="3368352"/>
                </a:lnTo>
                <a:lnTo>
                  <a:pt x="2513111" y="401274"/>
                </a:lnTo>
                <a:lnTo>
                  <a:pt x="2468202" y="369022"/>
                </a:lnTo>
                <a:cubicBezTo>
                  <a:pt x="2117855" y="130665"/>
                  <a:pt x="1719063" y="10130"/>
                  <a:pt x="1321050" y="613"/>
                </a:cubicBezTo>
                <a:cubicBezTo>
                  <a:pt x="1279590" y="-379"/>
                  <a:pt x="1238139" y="-165"/>
                  <a:pt x="1196752" y="1245"/>
                </a:cubicBezTo>
                <a:cubicBezTo>
                  <a:pt x="793227" y="14995"/>
                  <a:pt x="395796" y="142529"/>
                  <a:pt x="56027" y="376720"/>
                </a:cubicBezTo>
                <a:lnTo>
                  <a:pt x="0" y="419528"/>
                </a:lnTo>
                <a:close/>
              </a:path>
            </a:pathLst>
          </a:custGeom>
          <a:gradFill>
            <a:gsLst>
              <a:gs pos="32000">
                <a:schemeClr val="bg2"/>
              </a:gs>
              <a:gs pos="100000">
                <a:schemeClr val="accent1">
                  <a:lumMod val="60000"/>
                  <a:lumOff val="4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D6E4EC1-65AF-C25C-DD19-B9F7BF9D3C0B}"/>
              </a:ext>
            </a:extLst>
          </p:cNvPr>
          <p:cNvSpPr>
            <a:spLocks noGrp="1"/>
          </p:cNvSpPr>
          <p:nvPr>
            <p:ph type="title"/>
          </p:nvPr>
        </p:nvSpPr>
        <p:spPr>
          <a:xfrm>
            <a:off x="1066800" y="1335509"/>
            <a:ext cx="4766932" cy="3151535"/>
          </a:xfrm>
        </p:spPr>
        <p:txBody>
          <a:bodyPr anchor="t">
            <a:normAutofit/>
          </a:bodyPr>
          <a:lstStyle/>
          <a:p>
            <a:r>
              <a:rPr lang="en-US" sz="4800">
                <a:latin typeface="Montserrat"/>
              </a:rPr>
              <a:t>Methodology</a:t>
            </a:r>
            <a:endParaRPr lang="en-US" sz="4800"/>
          </a:p>
        </p:txBody>
      </p:sp>
      <p:sp>
        <p:nvSpPr>
          <p:cNvPr id="3" name="Content Placeholder 2">
            <a:extLst>
              <a:ext uri="{FF2B5EF4-FFF2-40B4-BE49-F238E27FC236}">
                <a16:creationId xmlns:a16="http://schemas.microsoft.com/office/drawing/2014/main" id="{E7B3BC58-22AD-2BF8-0971-CA04ACB4BD9D}"/>
              </a:ext>
            </a:extLst>
          </p:cNvPr>
          <p:cNvSpPr>
            <a:spLocks noGrp="1"/>
          </p:cNvSpPr>
          <p:nvPr>
            <p:ph idx="1"/>
          </p:nvPr>
        </p:nvSpPr>
        <p:spPr>
          <a:xfrm>
            <a:off x="6976732" y="1451294"/>
            <a:ext cx="4072268" cy="4263705"/>
          </a:xfrm>
        </p:spPr>
        <p:txBody>
          <a:bodyPr vert="horz" lIns="91440" tIns="45720" rIns="91440" bIns="45720" rtlCol="0" anchor="b">
            <a:normAutofit/>
          </a:bodyPr>
          <a:lstStyle/>
          <a:p>
            <a:pPr>
              <a:lnSpc>
                <a:spcPct val="110000"/>
              </a:lnSpc>
              <a:buNone/>
            </a:pPr>
            <a:r>
              <a:rPr lang="en-US" sz="1600" b="1" dirty="0">
                <a:latin typeface="Montserrat"/>
                <a:cs typeface="Times New Roman"/>
              </a:rPr>
              <a:t>4. Value-for-Money (VFM) Analysis:</a:t>
            </a:r>
            <a:endParaRPr lang="en-US" sz="1600">
              <a:latin typeface="Montserrat"/>
            </a:endParaRPr>
          </a:p>
          <a:p>
            <a:pPr>
              <a:lnSpc>
                <a:spcPct val="110000"/>
              </a:lnSpc>
              <a:buFont typeface="Arial"/>
              <a:buChar char="•"/>
            </a:pPr>
            <a:r>
              <a:rPr lang="en-US" sz="1600" dirty="0">
                <a:latin typeface="Montserrat"/>
                <a:cs typeface="Times New Roman"/>
              </a:rPr>
              <a:t>Compare performance score vs. past auction price.</a:t>
            </a:r>
            <a:endParaRPr lang="en-US" sz="1600">
              <a:latin typeface="Montserrat"/>
            </a:endParaRPr>
          </a:p>
          <a:p>
            <a:pPr>
              <a:lnSpc>
                <a:spcPct val="110000"/>
              </a:lnSpc>
              <a:buFont typeface="Arial"/>
              <a:buChar char="•"/>
            </a:pPr>
            <a:r>
              <a:rPr lang="en-US" sz="1600" dirty="0">
                <a:latin typeface="Montserrat"/>
                <a:cs typeface="Times New Roman"/>
              </a:rPr>
              <a:t>Identify cost-effective players.</a:t>
            </a:r>
          </a:p>
          <a:p>
            <a:pPr marL="0" indent="0">
              <a:lnSpc>
                <a:spcPct val="110000"/>
              </a:lnSpc>
              <a:buNone/>
            </a:pPr>
            <a:r>
              <a:rPr lang="en-US" sz="1600" b="1" dirty="0">
                <a:latin typeface="Montserrat"/>
                <a:cs typeface="Times New Roman"/>
              </a:rPr>
              <a:t>5. Shortlisting &amp; Recommendation:</a:t>
            </a:r>
            <a:endParaRPr lang="en-US" sz="1600">
              <a:latin typeface="Montserrat"/>
            </a:endParaRPr>
          </a:p>
          <a:p>
            <a:pPr>
              <a:lnSpc>
                <a:spcPct val="110000"/>
              </a:lnSpc>
              <a:buFont typeface="Arial"/>
              <a:buChar char="•"/>
            </a:pPr>
            <a:r>
              <a:rPr lang="en-US" sz="1600" dirty="0">
                <a:latin typeface="Montserrat"/>
                <a:cs typeface="Times New Roman"/>
              </a:rPr>
              <a:t>Rank players using weighted scoring model.</a:t>
            </a:r>
            <a:endParaRPr lang="en-US" sz="1600">
              <a:latin typeface="Montserrat"/>
            </a:endParaRPr>
          </a:p>
          <a:p>
            <a:pPr>
              <a:lnSpc>
                <a:spcPct val="110000"/>
              </a:lnSpc>
              <a:buFont typeface="Arial"/>
              <a:buChar char="•"/>
            </a:pPr>
            <a:r>
              <a:rPr lang="en-US" sz="1600" dirty="0">
                <a:latin typeface="Montserrat"/>
                <a:cs typeface="Times New Roman"/>
              </a:rPr>
              <a:t>Suggest ideal targets for RCB based on role, performance, and cost.</a:t>
            </a:r>
            <a:endParaRPr lang="en-US" sz="1600" dirty="0">
              <a:latin typeface="Montserrat"/>
            </a:endParaRPr>
          </a:p>
          <a:p>
            <a:pPr marL="0" indent="0">
              <a:lnSpc>
                <a:spcPct val="110000"/>
              </a:lnSpc>
              <a:buNone/>
            </a:pPr>
            <a:endParaRPr lang="en-US" sz="1700"/>
          </a:p>
        </p:txBody>
      </p:sp>
    </p:spTree>
    <p:extLst>
      <p:ext uri="{BB962C8B-B14F-4D97-AF65-F5344CB8AC3E}">
        <p14:creationId xmlns:p14="http://schemas.microsoft.com/office/powerpoint/2010/main" val="37757407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2AA3712-C5CA-A663-E80E-253CE0930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1BF8B4E3-4276-653D-2739-0B0A941E0904}"/>
              </a:ext>
            </a:extLst>
          </p:cNvPr>
          <p:cNvSpPr>
            <a:spLocks noGrp="1"/>
          </p:cNvSpPr>
          <p:nvPr>
            <p:ph type="title"/>
          </p:nvPr>
        </p:nvSpPr>
        <p:spPr>
          <a:xfrm>
            <a:off x="1066800" y="1142999"/>
            <a:ext cx="4173416" cy="1257299"/>
          </a:xfrm>
        </p:spPr>
        <p:txBody>
          <a:bodyPr anchor="ctr">
            <a:normAutofit/>
          </a:bodyPr>
          <a:lstStyle/>
          <a:p>
            <a:r>
              <a:rPr lang="en-US" dirty="0">
                <a:latin typeface="Montserrat"/>
              </a:rPr>
              <a:t>Wickets Taken per Season</a:t>
            </a:r>
          </a:p>
        </p:txBody>
      </p:sp>
      <p:sp>
        <p:nvSpPr>
          <p:cNvPr id="3" name="Content Placeholder 2">
            <a:extLst>
              <a:ext uri="{FF2B5EF4-FFF2-40B4-BE49-F238E27FC236}">
                <a16:creationId xmlns:a16="http://schemas.microsoft.com/office/drawing/2014/main" id="{26398015-C242-025F-ABB2-2B379E763149}"/>
              </a:ext>
            </a:extLst>
          </p:cNvPr>
          <p:cNvSpPr>
            <a:spLocks noGrp="1"/>
          </p:cNvSpPr>
          <p:nvPr>
            <p:ph idx="1"/>
          </p:nvPr>
        </p:nvSpPr>
        <p:spPr>
          <a:xfrm>
            <a:off x="1066797" y="2736850"/>
            <a:ext cx="4173415" cy="2978152"/>
          </a:xfrm>
        </p:spPr>
        <p:txBody>
          <a:bodyPr vert="horz" lIns="91440" tIns="45720" rIns="91440" bIns="45720" rtlCol="0">
            <a:normAutofit/>
          </a:bodyPr>
          <a:lstStyle/>
          <a:p>
            <a:pPr>
              <a:lnSpc>
                <a:spcPct val="110000"/>
              </a:lnSpc>
              <a:buNone/>
            </a:pPr>
            <a:r>
              <a:rPr lang="en-US" sz="1400" u="sng">
                <a:latin typeface="Arial"/>
                <a:cs typeface="Arial"/>
              </a:rPr>
              <a:t>Top Wicket-Takers by Season:</a:t>
            </a:r>
            <a:endParaRPr lang="en-US" sz="1400"/>
          </a:p>
          <a:p>
            <a:pPr>
              <a:lnSpc>
                <a:spcPct val="110000"/>
              </a:lnSpc>
              <a:buNone/>
            </a:pPr>
            <a:r>
              <a:rPr lang="en-US" sz="1400">
                <a:latin typeface="Arial"/>
                <a:cs typeface="Arial"/>
              </a:rPr>
              <a:t>This query identifies the highest wicket-takers across each IPL season by aggregating total dismissals per bowler. It highlights bowlers with consistent match-winning impact. For RCB, such insights are crucial in evaluating past performers and targeting top wicket-takers for strengthening the bowling unit in upcoming auctions.</a:t>
            </a:r>
            <a:endParaRPr lang="en-US" sz="1400"/>
          </a:p>
          <a:p>
            <a:pPr marL="0" indent="0">
              <a:lnSpc>
                <a:spcPct val="110000"/>
              </a:lnSpc>
              <a:buNone/>
            </a:pPr>
            <a:br>
              <a:rPr lang="en-US" sz="1400"/>
            </a:br>
            <a:endParaRPr lang="en-US" sz="1400"/>
          </a:p>
        </p:txBody>
      </p:sp>
      <p:pic>
        <p:nvPicPr>
          <p:cNvPr id="7" name="Picture 6" descr="A graph with numbers and a number of people&#10;&#10;AI-generated content may be incorrect.">
            <a:extLst>
              <a:ext uri="{FF2B5EF4-FFF2-40B4-BE49-F238E27FC236}">
                <a16:creationId xmlns:a16="http://schemas.microsoft.com/office/drawing/2014/main" id="{9A953F9C-0BEE-0997-53F9-39518E097490}"/>
              </a:ext>
            </a:extLst>
          </p:cNvPr>
          <p:cNvPicPr>
            <a:picLocks noChangeAspect="1"/>
          </p:cNvPicPr>
          <p:nvPr/>
        </p:nvPicPr>
        <p:blipFill>
          <a:blip r:embed="rId2"/>
          <a:stretch>
            <a:fillRect/>
          </a:stretch>
        </p:blipFill>
        <p:spPr>
          <a:xfrm>
            <a:off x="6096000" y="1882702"/>
            <a:ext cx="4953000" cy="3058476"/>
          </a:xfrm>
          <a:prstGeom prst="rect">
            <a:avLst/>
          </a:prstGeom>
        </p:spPr>
      </p:pic>
    </p:spTree>
    <p:extLst>
      <p:ext uri="{BB962C8B-B14F-4D97-AF65-F5344CB8AC3E}">
        <p14:creationId xmlns:p14="http://schemas.microsoft.com/office/powerpoint/2010/main" val="25763838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2AA3712-C5CA-A663-E80E-253CE0930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7A627A-17B3-1564-7E74-991265C7773B}"/>
              </a:ext>
            </a:extLst>
          </p:cNvPr>
          <p:cNvSpPr>
            <a:spLocks noGrp="1"/>
          </p:cNvSpPr>
          <p:nvPr>
            <p:ph type="title"/>
          </p:nvPr>
        </p:nvSpPr>
        <p:spPr>
          <a:xfrm>
            <a:off x="1066800" y="1142999"/>
            <a:ext cx="4173416" cy="1257299"/>
          </a:xfrm>
        </p:spPr>
        <p:txBody>
          <a:bodyPr anchor="ctr">
            <a:normAutofit/>
          </a:bodyPr>
          <a:lstStyle/>
          <a:p>
            <a:r>
              <a:rPr lang="en-US">
                <a:latin typeface="Montserrat"/>
                <a:cs typeface="Times New Roman"/>
              </a:rPr>
              <a:t>Runs scored per match</a:t>
            </a:r>
          </a:p>
          <a:p>
            <a:endParaRPr lang="en-US" dirty="0"/>
          </a:p>
        </p:txBody>
      </p:sp>
      <p:sp>
        <p:nvSpPr>
          <p:cNvPr id="5" name="Content Placeholder 4">
            <a:extLst>
              <a:ext uri="{FF2B5EF4-FFF2-40B4-BE49-F238E27FC236}">
                <a16:creationId xmlns:a16="http://schemas.microsoft.com/office/drawing/2014/main" id="{786C1EB2-ED04-4120-4905-BE74AB4F9820}"/>
              </a:ext>
            </a:extLst>
          </p:cNvPr>
          <p:cNvSpPr>
            <a:spLocks noGrp="1"/>
          </p:cNvSpPr>
          <p:nvPr>
            <p:ph idx="1"/>
          </p:nvPr>
        </p:nvSpPr>
        <p:spPr>
          <a:xfrm>
            <a:off x="1066797" y="2736850"/>
            <a:ext cx="4173415" cy="2978152"/>
          </a:xfrm>
        </p:spPr>
        <p:txBody>
          <a:bodyPr vert="horz" lIns="91440" tIns="45720" rIns="91440" bIns="45720" rtlCol="0" anchor="t">
            <a:normAutofit/>
          </a:bodyPr>
          <a:lstStyle/>
          <a:p>
            <a:pPr marL="0" indent="0">
              <a:lnSpc>
                <a:spcPct val="110000"/>
              </a:lnSpc>
              <a:buNone/>
            </a:pPr>
            <a:r>
              <a:rPr lang="en-US" sz="1300" u="sng">
                <a:latin typeface="Arial"/>
                <a:cs typeface="Arial"/>
              </a:rPr>
              <a:t>Average Runs per match:</a:t>
            </a:r>
            <a:endParaRPr lang="en-US" sz="1300"/>
          </a:p>
          <a:p>
            <a:pPr marL="0" indent="0">
              <a:lnSpc>
                <a:spcPct val="110000"/>
              </a:lnSpc>
              <a:buNone/>
            </a:pPr>
            <a:r>
              <a:rPr lang="en-US" sz="1300" dirty="0">
                <a:latin typeface="Times New Roman"/>
                <a:cs typeface="Times New Roman"/>
              </a:rPr>
              <a:t>This analysis evaluates RCB batsmen based on their </a:t>
            </a:r>
            <a:r>
              <a:rPr lang="en-US" sz="1300">
                <a:latin typeface="Times New Roman"/>
                <a:cs typeface="Times New Roman"/>
              </a:rPr>
              <a:t>average runs per match across all IPL seasons. It helps </a:t>
            </a:r>
            <a:r>
              <a:rPr lang="en-US" sz="1300" dirty="0">
                <a:latin typeface="Times New Roman"/>
                <a:cs typeface="Times New Roman"/>
              </a:rPr>
              <a:t>identify consistent performers who could be valuable assets in future auctions. Players with higher averages demonstrate reliability and the potential to anchor, innings making them strong contenders for retention or strategic bidding</a:t>
            </a:r>
            <a:r>
              <a:rPr lang="en-US" sz="1300" dirty="0">
                <a:latin typeface="Arial"/>
                <a:cs typeface="Arial"/>
              </a:rPr>
              <a:t>.</a:t>
            </a:r>
            <a:endParaRPr lang="en-US" sz="1300" dirty="0"/>
          </a:p>
          <a:p>
            <a:pPr marL="0" indent="0">
              <a:lnSpc>
                <a:spcPct val="110000"/>
              </a:lnSpc>
              <a:buNone/>
            </a:pPr>
            <a:endParaRPr lang="en-US" sz="1300"/>
          </a:p>
          <a:p>
            <a:pPr marL="0" indent="0">
              <a:lnSpc>
                <a:spcPct val="110000"/>
              </a:lnSpc>
              <a:buNone/>
            </a:pPr>
            <a:r>
              <a:rPr lang="en-US" sz="1300" b="1">
                <a:latin typeface="Times New Roman"/>
                <a:cs typeface="Times New Roman"/>
              </a:rPr>
              <a:t>Batting Average = Total Runs / matches Played</a:t>
            </a:r>
            <a:br>
              <a:rPr lang="en-US" sz="1300" dirty="0"/>
            </a:br>
            <a:endParaRPr lang="en-US" sz="1300"/>
          </a:p>
        </p:txBody>
      </p:sp>
      <p:pic>
        <p:nvPicPr>
          <p:cNvPr id="8" name="Picture 7" descr="A graph with blue bars&#10;&#10;AI-generated content may be incorrect.">
            <a:extLst>
              <a:ext uri="{FF2B5EF4-FFF2-40B4-BE49-F238E27FC236}">
                <a16:creationId xmlns:a16="http://schemas.microsoft.com/office/drawing/2014/main" id="{7ACC99AD-F953-D9CE-845C-E2F7B665D7FF}"/>
              </a:ext>
            </a:extLst>
          </p:cNvPr>
          <p:cNvPicPr>
            <a:picLocks noChangeAspect="1"/>
          </p:cNvPicPr>
          <p:nvPr/>
        </p:nvPicPr>
        <p:blipFill>
          <a:blip r:embed="rId2"/>
          <a:stretch>
            <a:fillRect/>
          </a:stretch>
        </p:blipFill>
        <p:spPr>
          <a:xfrm>
            <a:off x="6096000" y="1882702"/>
            <a:ext cx="4953000" cy="3058476"/>
          </a:xfrm>
          <a:prstGeom prst="rect">
            <a:avLst/>
          </a:prstGeom>
        </p:spPr>
      </p:pic>
    </p:spTree>
    <p:extLst>
      <p:ext uri="{BB962C8B-B14F-4D97-AF65-F5344CB8AC3E}">
        <p14:creationId xmlns:p14="http://schemas.microsoft.com/office/powerpoint/2010/main" val="14827903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2AA3712-C5CA-A663-E80E-253CE0930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4EEF86-44AB-5615-047E-9AAAF22D7263}"/>
              </a:ext>
            </a:extLst>
          </p:cNvPr>
          <p:cNvSpPr>
            <a:spLocks noGrp="1"/>
          </p:cNvSpPr>
          <p:nvPr>
            <p:ph type="title"/>
          </p:nvPr>
        </p:nvSpPr>
        <p:spPr>
          <a:xfrm>
            <a:off x="1066800" y="1142999"/>
            <a:ext cx="4173416" cy="1257299"/>
          </a:xfrm>
        </p:spPr>
        <p:txBody>
          <a:bodyPr anchor="ctr">
            <a:normAutofit/>
          </a:bodyPr>
          <a:lstStyle/>
          <a:p>
            <a:r>
              <a:rPr lang="en-US" dirty="0">
                <a:latin typeface="Montserrat"/>
              </a:rPr>
              <a:t>Toss Decision Impact</a:t>
            </a:r>
          </a:p>
        </p:txBody>
      </p:sp>
      <p:sp>
        <p:nvSpPr>
          <p:cNvPr id="3" name="Content Placeholder 2">
            <a:extLst>
              <a:ext uri="{FF2B5EF4-FFF2-40B4-BE49-F238E27FC236}">
                <a16:creationId xmlns:a16="http://schemas.microsoft.com/office/drawing/2014/main" id="{C756A454-98DB-F53D-288E-BB072D6D9CE4}"/>
              </a:ext>
            </a:extLst>
          </p:cNvPr>
          <p:cNvSpPr>
            <a:spLocks noGrp="1"/>
          </p:cNvSpPr>
          <p:nvPr>
            <p:ph idx="1"/>
          </p:nvPr>
        </p:nvSpPr>
        <p:spPr>
          <a:xfrm>
            <a:off x="1066797" y="2736850"/>
            <a:ext cx="4173415" cy="2978152"/>
          </a:xfrm>
        </p:spPr>
        <p:txBody>
          <a:bodyPr vert="horz" lIns="91440" tIns="45720" rIns="91440" bIns="45720" rtlCol="0">
            <a:normAutofit/>
          </a:bodyPr>
          <a:lstStyle/>
          <a:p>
            <a:pPr marL="0" indent="0">
              <a:lnSpc>
                <a:spcPct val="110000"/>
              </a:lnSpc>
              <a:buNone/>
            </a:pPr>
            <a:r>
              <a:rPr lang="en-US" sz="1400" b="1" u="sng">
                <a:latin typeface="Arial"/>
                <a:cs typeface="Arial"/>
              </a:rPr>
              <a:t>Impact of Toss Decision on Match Decision</a:t>
            </a:r>
            <a:endParaRPr lang="en-US" sz="1400"/>
          </a:p>
          <a:p>
            <a:pPr marL="0" indent="0">
              <a:lnSpc>
                <a:spcPct val="110000"/>
              </a:lnSpc>
              <a:buNone/>
            </a:pPr>
            <a:r>
              <a:rPr lang="en-US" sz="1400">
                <a:latin typeface="Arial"/>
                <a:cs typeface="Arial"/>
              </a:rPr>
              <a:t>This analyzes how toss decisions (bat or field first) influence match outcomes across different venues. It calculates the percentage of matches won by teams that won the toss. These insights help RCB optimize match-day strategies based on venue-specific trends and inform decisions during high-pressure toss moments.</a:t>
            </a:r>
            <a:endParaRPr lang="en-US" sz="1400"/>
          </a:p>
          <a:p>
            <a:pPr marL="0" indent="0">
              <a:lnSpc>
                <a:spcPct val="110000"/>
              </a:lnSpc>
              <a:buNone/>
            </a:pPr>
            <a:br>
              <a:rPr lang="en-US" sz="1400"/>
            </a:br>
            <a:endParaRPr lang="en-US" sz="1400"/>
          </a:p>
        </p:txBody>
      </p:sp>
      <p:pic>
        <p:nvPicPr>
          <p:cNvPr id="4" name="Picture 3" descr="A graph with different colored bars&#10;&#10;AI-generated content may be incorrect.">
            <a:extLst>
              <a:ext uri="{FF2B5EF4-FFF2-40B4-BE49-F238E27FC236}">
                <a16:creationId xmlns:a16="http://schemas.microsoft.com/office/drawing/2014/main" id="{693B43B6-8BA9-D1C9-60DC-FA1A8B125753}"/>
              </a:ext>
            </a:extLst>
          </p:cNvPr>
          <p:cNvPicPr>
            <a:picLocks noChangeAspect="1"/>
          </p:cNvPicPr>
          <p:nvPr/>
        </p:nvPicPr>
        <p:blipFill>
          <a:blip r:embed="rId2"/>
          <a:stretch>
            <a:fillRect/>
          </a:stretch>
        </p:blipFill>
        <p:spPr>
          <a:xfrm>
            <a:off x="6096000" y="1696965"/>
            <a:ext cx="4953000" cy="3429951"/>
          </a:xfrm>
          <a:prstGeom prst="rect">
            <a:avLst/>
          </a:prstGeom>
        </p:spPr>
      </p:pic>
    </p:spTree>
    <p:extLst>
      <p:ext uri="{BB962C8B-B14F-4D97-AF65-F5344CB8AC3E}">
        <p14:creationId xmlns:p14="http://schemas.microsoft.com/office/powerpoint/2010/main" val="11526202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D287130B-8857-727B-18D5-BAD81BCD9C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129567-DF7C-6F36-0143-96962D4FE9B3}"/>
              </a:ext>
            </a:extLst>
          </p:cNvPr>
          <p:cNvSpPr>
            <a:spLocks noGrp="1"/>
          </p:cNvSpPr>
          <p:nvPr>
            <p:ph type="title"/>
          </p:nvPr>
        </p:nvSpPr>
        <p:spPr>
          <a:xfrm>
            <a:off x="1066799" y="1142999"/>
            <a:ext cx="5029201" cy="1257299"/>
          </a:xfrm>
        </p:spPr>
        <p:txBody>
          <a:bodyPr anchor="ctr">
            <a:normAutofit/>
          </a:bodyPr>
          <a:lstStyle/>
          <a:p>
            <a:r>
              <a:rPr lang="en-US" dirty="0">
                <a:latin typeface="Montserrat"/>
              </a:rPr>
              <a:t>Team Insights: RCB Performance Analysis</a:t>
            </a:r>
            <a:endParaRPr lang="en-US">
              <a:latin typeface="Montserrat"/>
            </a:endParaRPr>
          </a:p>
        </p:txBody>
      </p:sp>
      <p:sp>
        <p:nvSpPr>
          <p:cNvPr id="3" name="Content Placeholder 2">
            <a:extLst>
              <a:ext uri="{FF2B5EF4-FFF2-40B4-BE49-F238E27FC236}">
                <a16:creationId xmlns:a16="http://schemas.microsoft.com/office/drawing/2014/main" id="{BBA57858-CE4B-D7BC-0FE9-C5C37147D930}"/>
              </a:ext>
            </a:extLst>
          </p:cNvPr>
          <p:cNvSpPr>
            <a:spLocks noGrp="1"/>
          </p:cNvSpPr>
          <p:nvPr>
            <p:ph idx="1"/>
          </p:nvPr>
        </p:nvSpPr>
        <p:spPr>
          <a:xfrm>
            <a:off x="1066798" y="2736850"/>
            <a:ext cx="5029202" cy="2978152"/>
          </a:xfrm>
        </p:spPr>
        <p:txBody>
          <a:bodyPr vert="horz" lIns="91440" tIns="45720" rIns="91440" bIns="45720" rtlCol="0">
            <a:normAutofit/>
          </a:bodyPr>
          <a:lstStyle/>
          <a:p>
            <a:pPr marL="0" indent="0">
              <a:lnSpc>
                <a:spcPct val="110000"/>
              </a:lnSpc>
              <a:buNone/>
            </a:pPr>
            <a:r>
              <a:rPr lang="en-US" sz="1400" b="1" u="sng">
                <a:latin typeface="Montserrat"/>
                <a:cs typeface="Arial"/>
              </a:rPr>
              <a:t>RCB's Seasonal Performance Overview (2013–2016):</a:t>
            </a:r>
            <a:endParaRPr lang="en-US" sz="1400">
              <a:latin typeface="Montserrat"/>
            </a:endParaRPr>
          </a:p>
          <a:p>
            <a:pPr marL="0" indent="0">
              <a:lnSpc>
                <a:spcPct val="110000"/>
              </a:lnSpc>
              <a:buNone/>
            </a:pPr>
            <a:r>
              <a:rPr lang="en-US" sz="1400">
                <a:latin typeface="Montserrat"/>
                <a:cs typeface="Arial"/>
              </a:rPr>
              <a:t>This analysis tracks RCB’s win percentage across IPL seasons from 2013 to 2016. The data reveals consistently average</a:t>
            </a:r>
            <a:r>
              <a:rPr lang="en-US" sz="1400" b="1">
                <a:latin typeface="Montserrat"/>
                <a:cs typeface="Arial"/>
              </a:rPr>
              <a:t> performance</a:t>
            </a:r>
            <a:r>
              <a:rPr lang="en-US" sz="1400">
                <a:latin typeface="Montserrat"/>
                <a:cs typeface="Arial"/>
              </a:rPr>
              <a:t>, with the </a:t>
            </a:r>
            <a:r>
              <a:rPr lang="en-US" sz="1400" b="1">
                <a:latin typeface="Montserrat"/>
                <a:cs typeface="Arial"/>
              </a:rPr>
              <a:t>highest win rate at just 56.25% in 2013</a:t>
            </a:r>
            <a:r>
              <a:rPr lang="en-US" sz="1400">
                <a:latin typeface="Montserrat"/>
                <a:cs typeface="Arial"/>
              </a:rPr>
              <a:t> (9 wins in 16 matches) and </a:t>
            </a:r>
            <a:r>
              <a:rPr lang="en-US" sz="1400" b="1">
                <a:latin typeface="Montserrat"/>
                <a:cs typeface="Arial"/>
              </a:rPr>
              <a:t>5 wins in 2014</a:t>
            </a:r>
            <a:r>
              <a:rPr lang="en-US" sz="1400">
                <a:latin typeface="Montserrat"/>
                <a:cs typeface="Arial"/>
              </a:rPr>
              <a:t>. Such underwhelming outcomes highlight the need for major strategic overhauls—particularly in team selection and leadership—when preparing for future auctions and squad rebuilding.</a:t>
            </a:r>
            <a:endParaRPr lang="en-US" sz="1400">
              <a:latin typeface="Montserrat"/>
            </a:endParaRPr>
          </a:p>
          <a:p>
            <a:pPr marL="0" indent="0">
              <a:lnSpc>
                <a:spcPct val="110000"/>
              </a:lnSpc>
              <a:buNone/>
            </a:pPr>
            <a:endParaRPr lang="en-US" sz="1400"/>
          </a:p>
        </p:txBody>
      </p:sp>
      <p:pic>
        <p:nvPicPr>
          <p:cNvPr id="6" name="Picture 5" descr="A graph showing different colored lines&#10;&#10;AI-generated content may be incorrect.">
            <a:extLst>
              <a:ext uri="{FF2B5EF4-FFF2-40B4-BE49-F238E27FC236}">
                <a16:creationId xmlns:a16="http://schemas.microsoft.com/office/drawing/2014/main" id="{8289C2F5-FCD2-65D6-7167-3612E768AD19}"/>
              </a:ext>
            </a:extLst>
          </p:cNvPr>
          <p:cNvPicPr>
            <a:picLocks noChangeAspect="1"/>
          </p:cNvPicPr>
          <p:nvPr/>
        </p:nvPicPr>
        <p:blipFill>
          <a:blip r:embed="rId2"/>
          <a:stretch>
            <a:fillRect/>
          </a:stretch>
        </p:blipFill>
        <p:spPr>
          <a:xfrm>
            <a:off x="7241284" y="1144508"/>
            <a:ext cx="4196305" cy="2514881"/>
          </a:xfrm>
          <a:prstGeom prst="rect">
            <a:avLst/>
          </a:prstGeom>
        </p:spPr>
      </p:pic>
      <p:pic>
        <p:nvPicPr>
          <p:cNvPr id="7" name="Picture 6" descr="A screenshot of a match&#10;&#10;AI-generated content may be incorrect.">
            <a:extLst>
              <a:ext uri="{FF2B5EF4-FFF2-40B4-BE49-F238E27FC236}">
                <a16:creationId xmlns:a16="http://schemas.microsoft.com/office/drawing/2014/main" id="{74AC6C5A-2C11-D73D-F805-5DD467DF2739}"/>
              </a:ext>
            </a:extLst>
          </p:cNvPr>
          <p:cNvPicPr>
            <a:picLocks noChangeAspect="1"/>
          </p:cNvPicPr>
          <p:nvPr/>
        </p:nvPicPr>
        <p:blipFill>
          <a:blip r:embed="rId3"/>
          <a:stretch>
            <a:fillRect/>
          </a:stretch>
        </p:blipFill>
        <p:spPr>
          <a:xfrm>
            <a:off x="7430869" y="4081212"/>
            <a:ext cx="3810002" cy="894733"/>
          </a:xfrm>
          <a:prstGeom prst="rect">
            <a:avLst/>
          </a:prstGeom>
        </p:spPr>
      </p:pic>
    </p:spTree>
    <p:extLst>
      <p:ext uri="{BB962C8B-B14F-4D97-AF65-F5344CB8AC3E}">
        <p14:creationId xmlns:p14="http://schemas.microsoft.com/office/powerpoint/2010/main" val="14683562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D287130B-8857-727B-18D5-BAD81BCD9C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F57A03-3B01-3DB7-34B5-F5456A61CC5D}"/>
              </a:ext>
            </a:extLst>
          </p:cNvPr>
          <p:cNvSpPr>
            <a:spLocks noGrp="1"/>
          </p:cNvSpPr>
          <p:nvPr>
            <p:ph type="title"/>
          </p:nvPr>
        </p:nvSpPr>
        <p:spPr>
          <a:xfrm>
            <a:off x="1066799" y="1142999"/>
            <a:ext cx="5029201" cy="1257299"/>
          </a:xfrm>
        </p:spPr>
        <p:txBody>
          <a:bodyPr anchor="ctr">
            <a:normAutofit/>
          </a:bodyPr>
          <a:lstStyle/>
          <a:p>
            <a:r>
              <a:rPr lang="en-US">
                <a:latin typeface="Montserrat"/>
              </a:rPr>
              <a:t>All – Rounder &amp; Consistent Performers</a:t>
            </a:r>
            <a:endParaRPr lang="en-US"/>
          </a:p>
        </p:txBody>
      </p:sp>
      <p:sp>
        <p:nvSpPr>
          <p:cNvPr id="3" name="Content Placeholder 2">
            <a:extLst>
              <a:ext uri="{FF2B5EF4-FFF2-40B4-BE49-F238E27FC236}">
                <a16:creationId xmlns:a16="http://schemas.microsoft.com/office/drawing/2014/main" id="{B1B81E96-60C7-4ECA-FB69-10C11ED86C72}"/>
              </a:ext>
            </a:extLst>
          </p:cNvPr>
          <p:cNvSpPr>
            <a:spLocks noGrp="1"/>
          </p:cNvSpPr>
          <p:nvPr>
            <p:ph idx="1"/>
          </p:nvPr>
        </p:nvSpPr>
        <p:spPr>
          <a:xfrm>
            <a:off x="1066798" y="2736850"/>
            <a:ext cx="5029202" cy="2978152"/>
          </a:xfrm>
        </p:spPr>
        <p:txBody>
          <a:bodyPr vert="horz" lIns="91440" tIns="45720" rIns="91440" bIns="45720" rtlCol="0">
            <a:normAutofit/>
          </a:bodyPr>
          <a:lstStyle/>
          <a:p>
            <a:pPr marL="0" indent="0">
              <a:lnSpc>
                <a:spcPct val="110000"/>
              </a:lnSpc>
              <a:buNone/>
            </a:pPr>
            <a:r>
              <a:rPr lang="en-US" sz="1500" b="1" u="sng">
                <a:latin typeface="Arial"/>
                <a:cs typeface="Arial"/>
              </a:rPr>
              <a:t>Top All-Rounders </a:t>
            </a:r>
            <a:endParaRPr lang="en-US" sz="1500"/>
          </a:p>
          <a:p>
            <a:pPr>
              <a:lnSpc>
                <a:spcPct val="110000"/>
              </a:lnSpc>
            </a:pPr>
            <a:r>
              <a:rPr lang="en-US" sz="1500">
                <a:latin typeface="Times New Roman"/>
                <a:cs typeface="Times New Roman"/>
              </a:rPr>
              <a:t>Players who have contributed significantly with both bat and ball are – S Watson, A Russell, K Pollard, J Kallis, Shakib Al Hasan.</a:t>
            </a:r>
            <a:endParaRPr lang="en-US" sz="1500"/>
          </a:p>
          <a:p>
            <a:pPr>
              <a:lnSpc>
                <a:spcPct val="110000"/>
              </a:lnSpc>
            </a:pPr>
            <a:r>
              <a:rPr lang="en-US" sz="1500">
                <a:latin typeface="Times New Roman"/>
                <a:cs typeface="Times New Roman"/>
              </a:rPr>
              <a:t>These players can be classified as all-rounders and will provide balance to the team.</a:t>
            </a:r>
            <a:endParaRPr lang="en-US" sz="1500"/>
          </a:p>
          <a:p>
            <a:pPr>
              <a:lnSpc>
                <a:spcPct val="110000"/>
              </a:lnSpc>
            </a:pPr>
            <a:r>
              <a:rPr lang="en-US" sz="1500">
                <a:latin typeface="Times New Roman"/>
                <a:cs typeface="Times New Roman"/>
              </a:rPr>
              <a:t>These players have batting average greater than overall batting average and wickets taken greater than overall wicket average.</a:t>
            </a:r>
            <a:endParaRPr lang="en-US" sz="1500"/>
          </a:p>
          <a:p>
            <a:pPr>
              <a:lnSpc>
                <a:spcPct val="110000"/>
              </a:lnSpc>
            </a:pPr>
            <a:endParaRPr lang="en-US" sz="1500"/>
          </a:p>
        </p:txBody>
      </p:sp>
      <p:pic>
        <p:nvPicPr>
          <p:cNvPr id="7" name="Picture 6" descr="A graph with numbers and text&#10;&#10;AI-generated content may be incorrect.">
            <a:extLst>
              <a:ext uri="{FF2B5EF4-FFF2-40B4-BE49-F238E27FC236}">
                <a16:creationId xmlns:a16="http://schemas.microsoft.com/office/drawing/2014/main" id="{8CC4B4DA-1C39-500B-8885-6967435C3B9A}"/>
              </a:ext>
            </a:extLst>
          </p:cNvPr>
          <p:cNvPicPr>
            <a:picLocks noChangeAspect="1"/>
          </p:cNvPicPr>
          <p:nvPr/>
        </p:nvPicPr>
        <p:blipFill>
          <a:blip r:embed="rId2"/>
          <a:srcRect l="557" t="4021" r="-704" b="4819"/>
          <a:stretch>
            <a:fillRect/>
          </a:stretch>
        </p:blipFill>
        <p:spPr>
          <a:xfrm>
            <a:off x="7240141" y="671644"/>
            <a:ext cx="3762316" cy="2682524"/>
          </a:xfrm>
          <a:prstGeom prst="rect">
            <a:avLst/>
          </a:prstGeom>
        </p:spPr>
      </p:pic>
      <p:pic>
        <p:nvPicPr>
          <p:cNvPr id="6" name="Picture 5">
            <a:extLst>
              <a:ext uri="{FF2B5EF4-FFF2-40B4-BE49-F238E27FC236}">
                <a16:creationId xmlns:a16="http://schemas.microsoft.com/office/drawing/2014/main" id="{A168C546-7B82-8018-7236-7A0266FFD95A}"/>
              </a:ext>
            </a:extLst>
          </p:cNvPr>
          <p:cNvPicPr>
            <a:picLocks noChangeAspect="1"/>
          </p:cNvPicPr>
          <p:nvPr/>
        </p:nvPicPr>
        <p:blipFill>
          <a:blip r:embed="rId3"/>
          <a:srcRect b="4553"/>
          <a:stretch>
            <a:fillRect/>
          </a:stretch>
        </p:blipFill>
        <p:spPr>
          <a:xfrm>
            <a:off x="7238998" y="3494637"/>
            <a:ext cx="3764692" cy="2218853"/>
          </a:xfrm>
          <a:prstGeom prst="rect">
            <a:avLst/>
          </a:prstGeom>
        </p:spPr>
      </p:pic>
    </p:spTree>
    <p:extLst>
      <p:ext uri="{BB962C8B-B14F-4D97-AF65-F5344CB8AC3E}">
        <p14:creationId xmlns:p14="http://schemas.microsoft.com/office/powerpoint/2010/main" val="23136419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80300B1B-B85E-D514-C6B4-30126EBBCD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8C248155-68EB-D74C-5577-DA97D48E35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540000" flipV="1">
            <a:off x="-58916" y="-105868"/>
            <a:ext cx="12309832" cy="7069736"/>
          </a:xfrm>
          <a:custGeom>
            <a:avLst/>
            <a:gdLst>
              <a:gd name="connsiteX0" fmla="*/ 119689 w 12309832"/>
              <a:gd name="connsiteY0" fmla="*/ 7069736 h 7069736"/>
              <a:gd name="connsiteX1" fmla="*/ 12309832 w 12309832"/>
              <a:gd name="connsiteY1" fmla="*/ 6856956 h 7069736"/>
              <a:gd name="connsiteX2" fmla="*/ 12190143 w 12309832"/>
              <a:gd name="connsiteY2" fmla="*/ 0 h 7069736"/>
              <a:gd name="connsiteX3" fmla="*/ 0 w 12309832"/>
              <a:gd name="connsiteY3" fmla="*/ 212780 h 7069736"/>
            </a:gdLst>
            <a:ahLst/>
            <a:cxnLst>
              <a:cxn ang="0">
                <a:pos x="connsiteX0" y="connsiteY0"/>
              </a:cxn>
              <a:cxn ang="0">
                <a:pos x="connsiteX1" y="connsiteY1"/>
              </a:cxn>
              <a:cxn ang="0">
                <a:pos x="connsiteX2" y="connsiteY2"/>
              </a:cxn>
              <a:cxn ang="0">
                <a:pos x="connsiteX3" y="connsiteY3"/>
              </a:cxn>
            </a:cxnLst>
            <a:rect l="l" t="t" r="r" b="b"/>
            <a:pathLst>
              <a:path w="12309832" h="7069736">
                <a:moveTo>
                  <a:pt x="119689" y="7069736"/>
                </a:moveTo>
                <a:lnTo>
                  <a:pt x="12309832" y="6856956"/>
                </a:lnTo>
                <a:lnTo>
                  <a:pt x="12190143" y="0"/>
                </a:lnTo>
                <a:lnTo>
                  <a:pt x="0" y="212780"/>
                </a:lnTo>
                <a:close/>
              </a:path>
            </a:pathLst>
          </a:custGeom>
          <a:gradFill>
            <a:gsLst>
              <a:gs pos="32000">
                <a:schemeClr val="bg2"/>
              </a:gs>
              <a:gs pos="100000">
                <a:schemeClr val="accent1">
                  <a:lumMod val="60000"/>
                  <a:lumOff val="4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6" name="Rectangle 15">
            <a:extLst>
              <a:ext uri="{FF2B5EF4-FFF2-40B4-BE49-F238E27FC236}">
                <a16:creationId xmlns:a16="http://schemas.microsoft.com/office/drawing/2014/main" id="{D30E628A-07F0-331A-DE0B-CCD7FB90A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2571" y="734156"/>
            <a:ext cx="10617872" cy="538161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91B8F5-D7F4-A469-4227-1E2F1F15558A}"/>
              </a:ext>
            </a:extLst>
          </p:cNvPr>
          <p:cNvSpPr>
            <a:spLocks noGrp="1"/>
          </p:cNvSpPr>
          <p:nvPr>
            <p:ph type="title"/>
          </p:nvPr>
        </p:nvSpPr>
        <p:spPr>
          <a:xfrm>
            <a:off x="1327918" y="2061769"/>
            <a:ext cx="3019575" cy="2737375"/>
          </a:xfrm>
        </p:spPr>
        <p:txBody>
          <a:bodyPr anchor="ctr">
            <a:normAutofit/>
          </a:bodyPr>
          <a:lstStyle/>
          <a:p>
            <a:r>
              <a:rPr lang="en-US" sz="2800" dirty="0">
                <a:latin typeface="Montserrat"/>
              </a:rPr>
              <a:t>Strategic KPIs for Team Success</a:t>
            </a:r>
            <a:endParaRPr lang="en-US" sz="2800" dirty="0"/>
          </a:p>
        </p:txBody>
      </p:sp>
      <p:graphicFrame>
        <p:nvGraphicFramePr>
          <p:cNvPr id="18" name="Content Placeholder 2">
            <a:extLst>
              <a:ext uri="{FF2B5EF4-FFF2-40B4-BE49-F238E27FC236}">
                <a16:creationId xmlns:a16="http://schemas.microsoft.com/office/drawing/2014/main" id="{F733AE84-7E07-AEF7-828A-AD7F2E1F4BE2}"/>
              </a:ext>
            </a:extLst>
          </p:cNvPr>
          <p:cNvGraphicFramePr>
            <a:graphicFrameLocks noGrp="1"/>
          </p:cNvGraphicFramePr>
          <p:nvPr>
            <p:ph idx="1"/>
            <p:extLst>
              <p:ext uri="{D42A27DB-BD31-4B8C-83A1-F6EECF244321}">
                <p14:modId xmlns:p14="http://schemas.microsoft.com/office/powerpoint/2010/main" val="2274451695"/>
              </p:ext>
            </p:extLst>
          </p:nvPr>
        </p:nvGraphicFramePr>
        <p:xfrm>
          <a:off x="4677295" y="1389163"/>
          <a:ext cx="6109130" cy="40806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780374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2AA3712-C5CA-A663-E80E-253CE0930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D20513-F087-2FF5-3A50-AEE3F5DF5380}"/>
              </a:ext>
            </a:extLst>
          </p:cNvPr>
          <p:cNvSpPr>
            <a:spLocks noGrp="1"/>
          </p:cNvSpPr>
          <p:nvPr>
            <p:ph type="title"/>
          </p:nvPr>
        </p:nvSpPr>
        <p:spPr>
          <a:xfrm>
            <a:off x="1066800" y="1142999"/>
            <a:ext cx="4173416" cy="1257299"/>
          </a:xfrm>
        </p:spPr>
        <p:txBody>
          <a:bodyPr anchor="ctr">
            <a:normAutofit/>
          </a:bodyPr>
          <a:lstStyle/>
          <a:p>
            <a:r>
              <a:rPr lang="en-US" sz="3000">
                <a:latin typeface="Montserrat"/>
              </a:rPr>
              <a:t>Data-driven Player Recommendations</a:t>
            </a:r>
            <a:endParaRPr lang="en-US" sz="3000"/>
          </a:p>
        </p:txBody>
      </p:sp>
      <p:sp>
        <p:nvSpPr>
          <p:cNvPr id="3" name="Content Placeholder 2">
            <a:extLst>
              <a:ext uri="{FF2B5EF4-FFF2-40B4-BE49-F238E27FC236}">
                <a16:creationId xmlns:a16="http://schemas.microsoft.com/office/drawing/2014/main" id="{B3CD10AC-7583-5964-943A-5482E1E77F6F}"/>
              </a:ext>
            </a:extLst>
          </p:cNvPr>
          <p:cNvSpPr>
            <a:spLocks noGrp="1"/>
          </p:cNvSpPr>
          <p:nvPr>
            <p:ph idx="1"/>
          </p:nvPr>
        </p:nvSpPr>
        <p:spPr>
          <a:xfrm>
            <a:off x="1066797" y="2736850"/>
            <a:ext cx="4173415" cy="2978152"/>
          </a:xfrm>
        </p:spPr>
        <p:txBody>
          <a:bodyPr vert="horz" lIns="91440" tIns="45720" rIns="91440" bIns="45720" rtlCol="0" anchor="t">
            <a:normAutofit lnSpcReduction="10000"/>
          </a:bodyPr>
          <a:lstStyle/>
          <a:p>
            <a:pPr marL="0" indent="0">
              <a:lnSpc>
                <a:spcPct val="110000"/>
              </a:lnSpc>
              <a:buNone/>
            </a:pPr>
            <a:r>
              <a:rPr lang="en-US" sz="1300" b="1" u="sng" dirty="0">
                <a:latin typeface="Montserrat"/>
                <a:cs typeface="Arial"/>
              </a:rPr>
              <a:t>Player-wise Seasonal Batting Trends:</a:t>
            </a:r>
            <a:endParaRPr lang="en-US" sz="1300" dirty="0">
              <a:latin typeface="Montserrat"/>
            </a:endParaRPr>
          </a:p>
          <a:p>
            <a:pPr marL="0" indent="0">
              <a:lnSpc>
                <a:spcPct val="110000"/>
              </a:lnSpc>
              <a:buNone/>
            </a:pPr>
            <a:r>
              <a:rPr lang="en-US" sz="1300" dirty="0">
                <a:latin typeface="Montserrat"/>
                <a:cs typeface="Arial"/>
              </a:rPr>
              <a:t>The season-wise batting performance highlights Virat Kohli as the top run-scorer with 2,472 runs, showcasing exceptional consistency across multiple seasons. Close behind, David Warner (2,348 runs) and AB de Villiers (1,968 runs) also demonstrated strong, reliable form. Rohit Sharma and Robin Uthappa, each crossing 1,800 runs, underline their value as experienced contributors. These trends not only spotlight key performers but also help identify stable batting pillars for future team planning and auction strategies.</a:t>
            </a:r>
            <a:endParaRPr lang="en-US" sz="1300" dirty="0">
              <a:latin typeface="Montserrat"/>
            </a:endParaRPr>
          </a:p>
        </p:txBody>
      </p:sp>
      <p:graphicFrame>
        <p:nvGraphicFramePr>
          <p:cNvPr id="7" name="Table 6">
            <a:extLst>
              <a:ext uri="{FF2B5EF4-FFF2-40B4-BE49-F238E27FC236}">
                <a16:creationId xmlns:a16="http://schemas.microsoft.com/office/drawing/2014/main" id="{61409F44-5D7D-A544-0741-F43BD1E29D2A}"/>
              </a:ext>
            </a:extLst>
          </p:cNvPr>
          <p:cNvGraphicFramePr>
            <a:graphicFrameLocks noGrp="1"/>
          </p:cNvGraphicFramePr>
          <p:nvPr/>
        </p:nvGraphicFramePr>
        <p:xfrm>
          <a:off x="6096000" y="2078596"/>
          <a:ext cx="4953001" cy="2666693"/>
        </p:xfrm>
        <a:graphic>
          <a:graphicData uri="http://schemas.openxmlformats.org/drawingml/2006/table">
            <a:tbl>
              <a:tblPr firstRow="1" bandRow="1">
                <a:tableStyleId>{5C22544A-7EE6-4342-B048-85BDC9FD1C3A}</a:tableStyleId>
              </a:tblPr>
              <a:tblGrid>
                <a:gridCol w="1835980">
                  <a:extLst>
                    <a:ext uri="{9D8B030D-6E8A-4147-A177-3AD203B41FA5}">
                      <a16:colId xmlns:a16="http://schemas.microsoft.com/office/drawing/2014/main" val="396537884"/>
                    </a:ext>
                  </a:extLst>
                </a:gridCol>
                <a:gridCol w="3117021">
                  <a:extLst>
                    <a:ext uri="{9D8B030D-6E8A-4147-A177-3AD203B41FA5}">
                      <a16:colId xmlns:a16="http://schemas.microsoft.com/office/drawing/2014/main" val="3067484034"/>
                    </a:ext>
                  </a:extLst>
                </a:gridCol>
              </a:tblGrid>
              <a:tr h="453308">
                <a:tc>
                  <a:txBody>
                    <a:bodyPr/>
                    <a:lstStyle/>
                    <a:p>
                      <a:pPr algn="ctr" rtl="0" fontAlgn="t">
                        <a:buNone/>
                      </a:pPr>
                      <a:r>
                        <a:rPr lang="en-US" sz="2000" b="1">
                          <a:solidFill>
                            <a:srgbClr val="FFFFFF"/>
                          </a:solidFill>
                          <a:effectLst/>
                          <a:latin typeface="Aptos" panose="020B0004020202020204" pitchFamily="34" charset="0"/>
                        </a:rPr>
                        <a:t>Player Name</a:t>
                      </a:r>
                      <a:endParaRPr lang="en-US" sz="2000">
                        <a:effectLst/>
                      </a:endParaRPr>
                    </a:p>
                  </a:txBody>
                  <a:tcPr marL="106310" marR="106310" marT="53155" marB="53155">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9398A"/>
                    </a:solidFill>
                  </a:tcPr>
                </a:tc>
                <a:tc>
                  <a:txBody>
                    <a:bodyPr/>
                    <a:lstStyle/>
                    <a:p>
                      <a:pPr algn="ctr" rtl="0" fontAlgn="t">
                        <a:buNone/>
                      </a:pPr>
                      <a:r>
                        <a:rPr lang="en-US" sz="2000" b="1">
                          <a:solidFill>
                            <a:srgbClr val="FFFFFF"/>
                          </a:solidFill>
                          <a:effectLst/>
                          <a:latin typeface="Aptos" panose="020B0004020202020204" pitchFamily="34" charset="0"/>
                        </a:rPr>
                        <a:t>Total Runs (all Seasons)</a:t>
                      </a:r>
                      <a:endParaRPr lang="en-US" sz="2000">
                        <a:effectLst/>
                      </a:endParaRPr>
                    </a:p>
                  </a:txBody>
                  <a:tcPr marL="106310" marR="106310" marT="53155" marB="53155">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9398A"/>
                    </a:solidFill>
                  </a:tcPr>
                </a:tc>
                <a:extLst>
                  <a:ext uri="{0D108BD9-81ED-4DB2-BD59-A6C34878D82A}">
                    <a16:rowId xmlns:a16="http://schemas.microsoft.com/office/drawing/2014/main" val="3870258662"/>
                  </a:ext>
                </a:extLst>
              </a:tr>
              <a:tr h="442677">
                <a:tc>
                  <a:txBody>
                    <a:bodyPr/>
                    <a:lstStyle/>
                    <a:p>
                      <a:pPr algn="ctr" rtl="0" fontAlgn="b">
                        <a:buNone/>
                      </a:pPr>
                      <a:r>
                        <a:rPr lang="en-US" sz="2200">
                          <a:effectLst/>
                          <a:latin typeface="Calibri" panose="020F0502020204030204" pitchFamily="34" charset="0"/>
                        </a:rPr>
                        <a:t>Virat Kohli</a:t>
                      </a:r>
                      <a:endParaRPr lang="en-US" sz="2000">
                        <a:effectLst/>
                      </a:endParaRPr>
                    </a:p>
                  </a:txBody>
                  <a:tcPr marL="10631" marR="10631" marT="10631" marB="51029" anchor="b">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CBCCD9"/>
                    </a:solidFill>
                  </a:tcPr>
                </a:tc>
                <a:tc>
                  <a:txBody>
                    <a:bodyPr/>
                    <a:lstStyle/>
                    <a:p>
                      <a:pPr algn="ctr" rtl="0" fontAlgn="b">
                        <a:buNone/>
                      </a:pPr>
                      <a:r>
                        <a:rPr lang="en-US" sz="2200">
                          <a:effectLst/>
                          <a:latin typeface="Calibri" panose="020F0502020204030204" pitchFamily="34" charset="0"/>
                        </a:rPr>
                        <a:t>2472</a:t>
                      </a:r>
                      <a:endParaRPr lang="en-US" sz="2000">
                        <a:effectLst/>
                      </a:endParaRPr>
                    </a:p>
                  </a:txBody>
                  <a:tcPr marL="10631" marR="10631" marT="10631" marB="51029" anchor="b">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CBCCD9"/>
                    </a:solidFill>
                  </a:tcPr>
                </a:tc>
                <a:extLst>
                  <a:ext uri="{0D108BD9-81ED-4DB2-BD59-A6C34878D82A}">
                    <a16:rowId xmlns:a16="http://schemas.microsoft.com/office/drawing/2014/main" val="4065071681"/>
                  </a:ext>
                </a:extLst>
              </a:tr>
              <a:tr h="442677">
                <a:tc>
                  <a:txBody>
                    <a:bodyPr/>
                    <a:lstStyle/>
                    <a:p>
                      <a:pPr algn="ctr" rtl="0" fontAlgn="b">
                        <a:buNone/>
                      </a:pPr>
                      <a:r>
                        <a:rPr lang="en-US" sz="2200">
                          <a:effectLst/>
                          <a:latin typeface="Calibri" panose="020F0502020204030204" pitchFamily="34" charset="0"/>
                        </a:rPr>
                        <a:t>DA Warner</a:t>
                      </a:r>
                      <a:endParaRPr lang="en-US" sz="2000">
                        <a:effectLst/>
                      </a:endParaRPr>
                    </a:p>
                  </a:txBody>
                  <a:tcPr marL="10631" marR="10631" marT="10631" marB="51029" anchor="b">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E7E7ED"/>
                    </a:solidFill>
                  </a:tcPr>
                </a:tc>
                <a:tc>
                  <a:txBody>
                    <a:bodyPr/>
                    <a:lstStyle/>
                    <a:p>
                      <a:pPr algn="ctr" rtl="0" fontAlgn="b">
                        <a:buNone/>
                      </a:pPr>
                      <a:r>
                        <a:rPr lang="en-US" sz="2200">
                          <a:effectLst/>
                          <a:latin typeface="Calibri" panose="020F0502020204030204" pitchFamily="34" charset="0"/>
                        </a:rPr>
                        <a:t>2348</a:t>
                      </a:r>
                      <a:endParaRPr lang="en-US" sz="2000">
                        <a:effectLst/>
                      </a:endParaRPr>
                    </a:p>
                  </a:txBody>
                  <a:tcPr marL="10631" marR="10631" marT="10631" marB="51029" anchor="b">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E7E7ED"/>
                    </a:solidFill>
                  </a:tcPr>
                </a:tc>
                <a:extLst>
                  <a:ext uri="{0D108BD9-81ED-4DB2-BD59-A6C34878D82A}">
                    <a16:rowId xmlns:a16="http://schemas.microsoft.com/office/drawing/2014/main" val="2670152239"/>
                  </a:ext>
                </a:extLst>
              </a:tr>
              <a:tr h="442677">
                <a:tc>
                  <a:txBody>
                    <a:bodyPr/>
                    <a:lstStyle/>
                    <a:p>
                      <a:pPr algn="ctr" rtl="0" fontAlgn="b">
                        <a:buNone/>
                      </a:pPr>
                      <a:r>
                        <a:rPr lang="en-US" sz="2200">
                          <a:effectLst/>
                          <a:latin typeface="Calibri" panose="020F0502020204030204" pitchFamily="34" charset="0"/>
                        </a:rPr>
                        <a:t>AB de Villiers</a:t>
                      </a:r>
                      <a:endParaRPr lang="en-US" sz="2000">
                        <a:effectLst/>
                      </a:endParaRPr>
                    </a:p>
                  </a:txBody>
                  <a:tcPr marL="10631" marR="10631" marT="10631" marB="51029" anchor="b">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CBCCD9"/>
                    </a:solidFill>
                  </a:tcPr>
                </a:tc>
                <a:tc>
                  <a:txBody>
                    <a:bodyPr/>
                    <a:lstStyle/>
                    <a:p>
                      <a:pPr algn="ctr" rtl="0" fontAlgn="b">
                        <a:buNone/>
                      </a:pPr>
                      <a:r>
                        <a:rPr lang="en-US" sz="2200">
                          <a:effectLst/>
                          <a:latin typeface="Calibri" panose="020F0502020204030204" pitchFamily="34" charset="0"/>
                        </a:rPr>
                        <a:t>1968</a:t>
                      </a:r>
                      <a:endParaRPr lang="en-US" sz="2000">
                        <a:effectLst/>
                      </a:endParaRPr>
                    </a:p>
                  </a:txBody>
                  <a:tcPr marL="10631" marR="10631" marT="10631" marB="51029" anchor="b">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CBCCD9"/>
                    </a:solidFill>
                  </a:tcPr>
                </a:tc>
                <a:extLst>
                  <a:ext uri="{0D108BD9-81ED-4DB2-BD59-A6C34878D82A}">
                    <a16:rowId xmlns:a16="http://schemas.microsoft.com/office/drawing/2014/main" val="2935471358"/>
                  </a:ext>
                </a:extLst>
              </a:tr>
              <a:tr h="442677">
                <a:tc>
                  <a:txBody>
                    <a:bodyPr/>
                    <a:lstStyle/>
                    <a:p>
                      <a:pPr algn="ctr" rtl="0" fontAlgn="b">
                        <a:buNone/>
                      </a:pPr>
                      <a:r>
                        <a:rPr lang="en-US" sz="2200">
                          <a:effectLst/>
                          <a:latin typeface="Calibri" panose="020F0502020204030204" pitchFamily="34" charset="0"/>
                        </a:rPr>
                        <a:t>RG Sharma</a:t>
                      </a:r>
                      <a:endParaRPr lang="en-US" sz="2000">
                        <a:effectLst/>
                      </a:endParaRPr>
                    </a:p>
                  </a:txBody>
                  <a:tcPr marL="10631" marR="10631" marT="10631" marB="51029" anchor="b">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E7E7ED"/>
                    </a:solidFill>
                  </a:tcPr>
                </a:tc>
                <a:tc>
                  <a:txBody>
                    <a:bodyPr/>
                    <a:lstStyle/>
                    <a:p>
                      <a:pPr algn="ctr" rtl="0" fontAlgn="b">
                        <a:buNone/>
                      </a:pPr>
                      <a:r>
                        <a:rPr lang="en-US" sz="2200">
                          <a:effectLst/>
                          <a:latin typeface="Calibri" panose="020F0502020204030204" pitchFamily="34" charset="0"/>
                        </a:rPr>
                        <a:t>1899</a:t>
                      </a:r>
                      <a:endParaRPr lang="en-US" sz="2000">
                        <a:effectLst/>
                      </a:endParaRPr>
                    </a:p>
                  </a:txBody>
                  <a:tcPr marL="10631" marR="10631" marT="10631" marB="51029" anchor="b">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E7E7ED"/>
                    </a:solidFill>
                  </a:tcPr>
                </a:tc>
                <a:extLst>
                  <a:ext uri="{0D108BD9-81ED-4DB2-BD59-A6C34878D82A}">
                    <a16:rowId xmlns:a16="http://schemas.microsoft.com/office/drawing/2014/main" val="3783388797"/>
                  </a:ext>
                </a:extLst>
              </a:tr>
              <a:tr h="442677">
                <a:tc>
                  <a:txBody>
                    <a:bodyPr/>
                    <a:lstStyle/>
                    <a:p>
                      <a:pPr algn="ctr" rtl="0" fontAlgn="b">
                        <a:buNone/>
                      </a:pPr>
                      <a:r>
                        <a:rPr lang="en-US" sz="2200">
                          <a:effectLst/>
                          <a:latin typeface="Calibri" panose="020F0502020204030204" pitchFamily="34" charset="0"/>
                        </a:rPr>
                        <a:t>RV Uthappa</a:t>
                      </a:r>
                      <a:endParaRPr lang="en-US" sz="2000">
                        <a:effectLst/>
                      </a:endParaRPr>
                    </a:p>
                  </a:txBody>
                  <a:tcPr marL="10631" marR="10631" marT="10631" marB="51029" anchor="b">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CBCCD9"/>
                    </a:solidFill>
                  </a:tcPr>
                </a:tc>
                <a:tc>
                  <a:txBody>
                    <a:bodyPr/>
                    <a:lstStyle/>
                    <a:p>
                      <a:pPr algn="ctr" rtl="0" fontAlgn="b">
                        <a:buNone/>
                      </a:pPr>
                      <a:r>
                        <a:rPr lang="en-US" sz="2200">
                          <a:effectLst/>
                          <a:latin typeface="Calibri" panose="020F0502020204030204" pitchFamily="34" charset="0"/>
                        </a:rPr>
                        <a:t>1852</a:t>
                      </a:r>
                      <a:endParaRPr lang="en-US" sz="2000">
                        <a:effectLst/>
                      </a:endParaRPr>
                    </a:p>
                  </a:txBody>
                  <a:tcPr marL="10631" marR="10631" marT="10631" marB="51029" anchor="b">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CBCCD9"/>
                    </a:solidFill>
                  </a:tcPr>
                </a:tc>
                <a:extLst>
                  <a:ext uri="{0D108BD9-81ED-4DB2-BD59-A6C34878D82A}">
                    <a16:rowId xmlns:a16="http://schemas.microsoft.com/office/drawing/2014/main" val="3778131998"/>
                  </a:ext>
                </a:extLst>
              </a:tr>
            </a:tbl>
          </a:graphicData>
        </a:graphic>
      </p:graphicFrame>
    </p:spTree>
    <p:extLst>
      <p:ext uri="{BB962C8B-B14F-4D97-AF65-F5344CB8AC3E}">
        <p14:creationId xmlns:p14="http://schemas.microsoft.com/office/powerpoint/2010/main" val="360762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72AA3712-C5CA-A663-E80E-253CE0930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16E441-31EA-AC7F-9EBF-D1939E2966EC}"/>
              </a:ext>
            </a:extLst>
          </p:cNvPr>
          <p:cNvSpPr>
            <a:spLocks noGrp="1"/>
          </p:cNvSpPr>
          <p:nvPr>
            <p:ph type="title"/>
          </p:nvPr>
        </p:nvSpPr>
        <p:spPr>
          <a:xfrm>
            <a:off x="1066800" y="1142999"/>
            <a:ext cx="4173416" cy="1257299"/>
          </a:xfrm>
        </p:spPr>
        <p:txBody>
          <a:bodyPr anchor="ctr">
            <a:normAutofit/>
          </a:bodyPr>
          <a:lstStyle/>
          <a:p>
            <a:r>
              <a:rPr lang="en-US" sz="3000" dirty="0">
                <a:latin typeface="Montserrat"/>
              </a:rPr>
              <a:t>Data-driven Player Recommendations</a:t>
            </a:r>
            <a:endParaRPr lang="en-US" sz="3000" dirty="0"/>
          </a:p>
        </p:txBody>
      </p:sp>
      <p:sp>
        <p:nvSpPr>
          <p:cNvPr id="3" name="Content Placeholder 2">
            <a:extLst>
              <a:ext uri="{FF2B5EF4-FFF2-40B4-BE49-F238E27FC236}">
                <a16:creationId xmlns:a16="http://schemas.microsoft.com/office/drawing/2014/main" id="{6B18DB72-5DFD-8907-CE68-E3F4CE0FA8BE}"/>
              </a:ext>
            </a:extLst>
          </p:cNvPr>
          <p:cNvSpPr>
            <a:spLocks noGrp="1"/>
          </p:cNvSpPr>
          <p:nvPr>
            <p:ph idx="1"/>
          </p:nvPr>
        </p:nvSpPr>
        <p:spPr>
          <a:xfrm>
            <a:off x="1066797" y="2736850"/>
            <a:ext cx="4173415" cy="2978152"/>
          </a:xfrm>
        </p:spPr>
        <p:txBody>
          <a:bodyPr vert="horz" lIns="91440" tIns="45720" rIns="91440" bIns="45720" rtlCol="0" anchor="t">
            <a:normAutofit/>
          </a:bodyPr>
          <a:lstStyle/>
          <a:p>
            <a:pPr marL="0" indent="0">
              <a:lnSpc>
                <a:spcPct val="110000"/>
              </a:lnSpc>
              <a:buNone/>
            </a:pPr>
            <a:r>
              <a:rPr lang="en-US" sz="1200" b="1" u="sng" dirty="0">
                <a:latin typeface="Montserrat"/>
                <a:cs typeface="Arial"/>
              </a:rPr>
              <a:t>Bowling Performance Insights Across Seasons:</a:t>
            </a:r>
            <a:endParaRPr lang="en-US" sz="1200">
              <a:latin typeface="Montserrat"/>
            </a:endParaRPr>
          </a:p>
          <a:p>
            <a:pPr marL="0" indent="0">
              <a:lnSpc>
                <a:spcPct val="110000"/>
              </a:lnSpc>
              <a:buNone/>
            </a:pPr>
            <a:r>
              <a:rPr lang="en-US" sz="1200" dirty="0">
                <a:latin typeface="Montserrat"/>
                <a:cs typeface="Arial"/>
              </a:rPr>
              <a:t>The multi-season wicket trends reveal Dwayne Bravo as the most impactful bowler with 81 wickets, consistently performing across all four seasons. Mohit Sharma (78) and Bhuvneshwar Kumar (77) follow closely, showing strong year-on-year contributions. Sunil Narine and Harbhajan Singh, with 68 and 67 wickets respectively, demonstrate their long-term effectiveness. The visual progression highlights players like Bravo and Kumar sustaining peak form, making them critical bowling assets for any team’s strategy.</a:t>
            </a:r>
            <a:br>
              <a:rPr lang="en-US" sz="1200" dirty="0">
                <a:latin typeface="Montserrat"/>
              </a:rPr>
            </a:br>
            <a:endParaRPr lang="en-US" sz="1100"/>
          </a:p>
        </p:txBody>
      </p:sp>
      <p:graphicFrame>
        <p:nvGraphicFramePr>
          <p:cNvPr id="5" name="Table 4">
            <a:extLst>
              <a:ext uri="{FF2B5EF4-FFF2-40B4-BE49-F238E27FC236}">
                <a16:creationId xmlns:a16="http://schemas.microsoft.com/office/drawing/2014/main" id="{0F2900E6-08FC-C6BF-BB7C-EC766B38C523}"/>
              </a:ext>
            </a:extLst>
          </p:cNvPr>
          <p:cNvGraphicFramePr>
            <a:graphicFrameLocks noGrp="1"/>
          </p:cNvGraphicFramePr>
          <p:nvPr/>
        </p:nvGraphicFramePr>
        <p:xfrm>
          <a:off x="6096000" y="1741453"/>
          <a:ext cx="4953000" cy="3340979"/>
        </p:xfrm>
        <a:graphic>
          <a:graphicData uri="http://schemas.openxmlformats.org/drawingml/2006/table">
            <a:tbl>
              <a:tblPr firstRow="1" bandRow="1">
                <a:tableStyleId>{5C22544A-7EE6-4342-B048-85BDC9FD1C3A}</a:tableStyleId>
              </a:tblPr>
              <a:tblGrid>
                <a:gridCol w="2322179">
                  <a:extLst>
                    <a:ext uri="{9D8B030D-6E8A-4147-A177-3AD203B41FA5}">
                      <a16:colId xmlns:a16="http://schemas.microsoft.com/office/drawing/2014/main" val="1693490718"/>
                    </a:ext>
                  </a:extLst>
                </a:gridCol>
                <a:gridCol w="2630821">
                  <a:extLst>
                    <a:ext uri="{9D8B030D-6E8A-4147-A177-3AD203B41FA5}">
                      <a16:colId xmlns:a16="http://schemas.microsoft.com/office/drawing/2014/main" val="805055317"/>
                    </a:ext>
                  </a:extLst>
                </a:gridCol>
              </a:tblGrid>
              <a:tr h="853524">
                <a:tc>
                  <a:txBody>
                    <a:bodyPr/>
                    <a:lstStyle/>
                    <a:p>
                      <a:pPr algn="ctr" rtl="0" fontAlgn="t">
                        <a:buNone/>
                      </a:pPr>
                      <a:r>
                        <a:rPr lang="en-US" sz="2300" b="1">
                          <a:solidFill>
                            <a:srgbClr val="FFFFFF"/>
                          </a:solidFill>
                          <a:effectLst/>
                          <a:latin typeface="Aptos" panose="020B0004020202020204" pitchFamily="34" charset="0"/>
                        </a:rPr>
                        <a:t>Player Name</a:t>
                      </a:r>
                      <a:endParaRPr lang="en-US" sz="2300">
                        <a:effectLst/>
                      </a:endParaRPr>
                    </a:p>
                  </a:txBody>
                  <a:tcPr marL="119474" marR="119474" marT="59737" marB="59737">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9398A"/>
                    </a:solidFill>
                  </a:tcPr>
                </a:tc>
                <a:tc>
                  <a:txBody>
                    <a:bodyPr/>
                    <a:lstStyle/>
                    <a:p>
                      <a:pPr algn="ctr" rtl="0" fontAlgn="t">
                        <a:buNone/>
                      </a:pPr>
                      <a:r>
                        <a:rPr lang="en-US" sz="2300" b="1">
                          <a:solidFill>
                            <a:srgbClr val="FFFFFF"/>
                          </a:solidFill>
                          <a:effectLst/>
                          <a:latin typeface="Aptos" panose="020B0004020202020204" pitchFamily="34" charset="0"/>
                        </a:rPr>
                        <a:t>Total Wickets (all Seasons)</a:t>
                      </a:r>
                      <a:endParaRPr lang="en-US" sz="2300">
                        <a:effectLst/>
                      </a:endParaRPr>
                    </a:p>
                  </a:txBody>
                  <a:tcPr marL="119474" marR="119474" marT="59737" marB="59737">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19398A"/>
                    </a:solidFill>
                  </a:tcPr>
                </a:tc>
                <a:extLst>
                  <a:ext uri="{0D108BD9-81ED-4DB2-BD59-A6C34878D82A}">
                    <a16:rowId xmlns:a16="http://schemas.microsoft.com/office/drawing/2014/main" val="1088435346"/>
                  </a:ext>
                </a:extLst>
              </a:tr>
              <a:tr h="497491">
                <a:tc>
                  <a:txBody>
                    <a:bodyPr/>
                    <a:lstStyle/>
                    <a:p>
                      <a:pPr algn="ctr" rtl="0" fontAlgn="b">
                        <a:buNone/>
                      </a:pPr>
                      <a:r>
                        <a:rPr lang="en-US" sz="2500">
                          <a:effectLst/>
                          <a:latin typeface="Calibri" panose="020F0502020204030204" pitchFamily="34" charset="0"/>
                        </a:rPr>
                        <a:t>DJ Bravo</a:t>
                      </a:r>
                      <a:endParaRPr lang="en-US" sz="2300">
                        <a:effectLst/>
                      </a:endParaRPr>
                    </a:p>
                  </a:txBody>
                  <a:tcPr marL="11947" marR="11947" marT="11947" marB="57348" anchor="b">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CBCCD9"/>
                    </a:solidFill>
                  </a:tcPr>
                </a:tc>
                <a:tc>
                  <a:txBody>
                    <a:bodyPr/>
                    <a:lstStyle/>
                    <a:p>
                      <a:pPr algn="ctr" rtl="0" fontAlgn="b">
                        <a:buNone/>
                      </a:pPr>
                      <a:r>
                        <a:rPr lang="en-US" sz="2500">
                          <a:effectLst/>
                          <a:latin typeface="Calibri" panose="020F0502020204030204" pitchFamily="34" charset="0"/>
                        </a:rPr>
                        <a:t>81</a:t>
                      </a:r>
                      <a:endParaRPr lang="en-US" sz="2300">
                        <a:effectLst/>
                      </a:endParaRPr>
                    </a:p>
                  </a:txBody>
                  <a:tcPr marL="11947" marR="11947" marT="11947" marB="57348" anchor="b">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CBCCD9"/>
                    </a:solidFill>
                  </a:tcPr>
                </a:tc>
                <a:extLst>
                  <a:ext uri="{0D108BD9-81ED-4DB2-BD59-A6C34878D82A}">
                    <a16:rowId xmlns:a16="http://schemas.microsoft.com/office/drawing/2014/main" val="1752483643"/>
                  </a:ext>
                </a:extLst>
              </a:tr>
              <a:tr h="497491">
                <a:tc>
                  <a:txBody>
                    <a:bodyPr/>
                    <a:lstStyle/>
                    <a:p>
                      <a:pPr algn="ctr" rtl="0" fontAlgn="b">
                        <a:buNone/>
                      </a:pPr>
                      <a:r>
                        <a:rPr lang="en-US" sz="2500">
                          <a:effectLst/>
                          <a:latin typeface="Calibri" panose="020F0502020204030204" pitchFamily="34" charset="0"/>
                        </a:rPr>
                        <a:t>MM Sharma</a:t>
                      </a:r>
                      <a:endParaRPr lang="en-US" sz="2300">
                        <a:effectLst/>
                      </a:endParaRPr>
                    </a:p>
                  </a:txBody>
                  <a:tcPr marL="11947" marR="11947" marT="11947" marB="57348" anchor="b">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E7E7ED"/>
                    </a:solidFill>
                  </a:tcPr>
                </a:tc>
                <a:tc>
                  <a:txBody>
                    <a:bodyPr/>
                    <a:lstStyle/>
                    <a:p>
                      <a:pPr algn="ctr" rtl="0" fontAlgn="b">
                        <a:buNone/>
                      </a:pPr>
                      <a:r>
                        <a:rPr lang="en-US" sz="2500">
                          <a:effectLst/>
                          <a:latin typeface="Calibri" panose="020F0502020204030204" pitchFamily="34" charset="0"/>
                        </a:rPr>
                        <a:t>78</a:t>
                      </a:r>
                      <a:endParaRPr lang="en-US" sz="2300">
                        <a:effectLst/>
                      </a:endParaRPr>
                    </a:p>
                  </a:txBody>
                  <a:tcPr marL="11947" marR="11947" marT="11947" marB="57348" anchor="b">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E7E7ED"/>
                    </a:solidFill>
                  </a:tcPr>
                </a:tc>
                <a:extLst>
                  <a:ext uri="{0D108BD9-81ED-4DB2-BD59-A6C34878D82A}">
                    <a16:rowId xmlns:a16="http://schemas.microsoft.com/office/drawing/2014/main" val="680556984"/>
                  </a:ext>
                </a:extLst>
              </a:tr>
              <a:tr h="497491">
                <a:tc>
                  <a:txBody>
                    <a:bodyPr/>
                    <a:lstStyle/>
                    <a:p>
                      <a:pPr algn="ctr" rtl="0" fontAlgn="b">
                        <a:buNone/>
                      </a:pPr>
                      <a:r>
                        <a:rPr lang="en-US" sz="2500">
                          <a:effectLst/>
                          <a:latin typeface="Calibri" panose="020F0502020204030204" pitchFamily="34" charset="0"/>
                        </a:rPr>
                        <a:t>B Kumar</a:t>
                      </a:r>
                      <a:endParaRPr lang="en-US" sz="2300">
                        <a:effectLst/>
                      </a:endParaRPr>
                    </a:p>
                  </a:txBody>
                  <a:tcPr marL="11947" marR="11947" marT="11947" marB="57348" anchor="b">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CBCCD9"/>
                    </a:solidFill>
                  </a:tcPr>
                </a:tc>
                <a:tc>
                  <a:txBody>
                    <a:bodyPr/>
                    <a:lstStyle/>
                    <a:p>
                      <a:pPr algn="ctr" rtl="0" fontAlgn="b">
                        <a:buNone/>
                      </a:pPr>
                      <a:r>
                        <a:rPr lang="en-US" sz="2500">
                          <a:effectLst/>
                          <a:latin typeface="Calibri" panose="020F0502020204030204" pitchFamily="34" charset="0"/>
                        </a:rPr>
                        <a:t>77</a:t>
                      </a:r>
                      <a:endParaRPr lang="en-US" sz="2300">
                        <a:effectLst/>
                      </a:endParaRPr>
                    </a:p>
                  </a:txBody>
                  <a:tcPr marL="11947" marR="11947" marT="11947" marB="57348" anchor="b">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CBCCD9"/>
                    </a:solidFill>
                  </a:tcPr>
                </a:tc>
                <a:extLst>
                  <a:ext uri="{0D108BD9-81ED-4DB2-BD59-A6C34878D82A}">
                    <a16:rowId xmlns:a16="http://schemas.microsoft.com/office/drawing/2014/main" val="1669549685"/>
                  </a:ext>
                </a:extLst>
              </a:tr>
              <a:tr h="497491">
                <a:tc>
                  <a:txBody>
                    <a:bodyPr/>
                    <a:lstStyle/>
                    <a:p>
                      <a:pPr algn="ctr" rtl="0" fontAlgn="b">
                        <a:buNone/>
                      </a:pPr>
                      <a:r>
                        <a:rPr lang="en-US" sz="2500">
                          <a:effectLst/>
                          <a:latin typeface="Calibri" panose="020F0502020204030204" pitchFamily="34" charset="0"/>
                        </a:rPr>
                        <a:t>SP Narine</a:t>
                      </a:r>
                      <a:endParaRPr lang="en-US" sz="2300">
                        <a:effectLst/>
                      </a:endParaRPr>
                    </a:p>
                  </a:txBody>
                  <a:tcPr marL="11947" marR="11947" marT="11947" marB="57348" anchor="b">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E7E7ED"/>
                    </a:solidFill>
                  </a:tcPr>
                </a:tc>
                <a:tc>
                  <a:txBody>
                    <a:bodyPr/>
                    <a:lstStyle/>
                    <a:p>
                      <a:pPr algn="ctr" rtl="0" fontAlgn="b">
                        <a:buNone/>
                      </a:pPr>
                      <a:r>
                        <a:rPr lang="en-US" sz="2500">
                          <a:effectLst/>
                          <a:latin typeface="Calibri" panose="020F0502020204030204" pitchFamily="34" charset="0"/>
                        </a:rPr>
                        <a:t>68</a:t>
                      </a:r>
                      <a:endParaRPr lang="en-US" sz="2300">
                        <a:effectLst/>
                      </a:endParaRPr>
                    </a:p>
                  </a:txBody>
                  <a:tcPr marL="11947" marR="11947" marT="11947" marB="57348" anchor="b">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E7E7ED"/>
                    </a:solidFill>
                  </a:tcPr>
                </a:tc>
                <a:extLst>
                  <a:ext uri="{0D108BD9-81ED-4DB2-BD59-A6C34878D82A}">
                    <a16:rowId xmlns:a16="http://schemas.microsoft.com/office/drawing/2014/main" val="1640902585"/>
                  </a:ext>
                </a:extLst>
              </a:tr>
              <a:tr h="497491">
                <a:tc>
                  <a:txBody>
                    <a:bodyPr/>
                    <a:lstStyle/>
                    <a:p>
                      <a:pPr algn="ctr" rtl="0" fontAlgn="b">
                        <a:buNone/>
                      </a:pPr>
                      <a:r>
                        <a:rPr lang="en-US" sz="2500">
                          <a:effectLst/>
                          <a:latin typeface="Calibri" panose="020F0502020204030204" pitchFamily="34" charset="0"/>
                        </a:rPr>
                        <a:t>Harbhajan Singh</a:t>
                      </a:r>
                      <a:endParaRPr lang="en-US" sz="2300">
                        <a:effectLst/>
                      </a:endParaRPr>
                    </a:p>
                  </a:txBody>
                  <a:tcPr marL="11947" marR="11947" marT="11947" marB="57348" anchor="b">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CBCCD9"/>
                    </a:solidFill>
                  </a:tcPr>
                </a:tc>
                <a:tc>
                  <a:txBody>
                    <a:bodyPr/>
                    <a:lstStyle/>
                    <a:p>
                      <a:pPr algn="ctr" rtl="0" fontAlgn="b">
                        <a:buNone/>
                      </a:pPr>
                      <a:r>
                        <a:rPr lang="en-US" sz="2500">
                          <a:effectLst/>
                          <a:latin typeface="Calibri" panose="020F0502020204030204" pitchFamily="34" charset="0"/>
                        </a:rPr>
                        <a:t>67</a:t>
                      </a:r>
                      <a:endParaRPr lang="en-US" sz="2300">
                        <a:effectLst/>
                      </a:endParaRPr>
                    </a:p>
                  </a:txBody>
                  <a:tcPr marL="11947" marR="11947" marT="11947" marB="57348" anchor="b">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CBCCD9"/>
                    </a:solidFill>
                  </a:tcPr>
                </a:tc>
                <a:extLst>
                  <a:ext uri="{0D108BD9-81ED-4DB2-BD59-A6C34878D82A}">
                    <a16:rowId xmlns:a16="http://schemas.microsoft.com/office/drawing/2014/main" val="54039629"/>
                  </a:ext>
                </a:extLst>
              </a:tr>
            </a:tbl>
          </a:graphicData>
        </a:graphic>
      </p:graphicFrame>
    </p:spTree>
    <p:extLst>
      <p:ext uri="{BB962C8B-B14F-4D97-AF65-F5344CB8AC3E}">
        <p14:creationId xmlns:p14="http://schemas.microsoft.com/office/powerpoint/2010/main" val="42617663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80300B1B-B85E-D514-C6B4-30126EBBCD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Shape 42">
            <a:extLst>
              <a:ext uri="{FF2B5EF4-FFF2-40B4-BE49-F238E27FC236}">
                <a16:creationId xmlns:a16="http://schemas.microsoft.com/office/drawing/2014/main" id="{C9F9C007-0D35-3681-697A-24E1673AAD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540000" flipV="1">
            <a:off x="-23526" y="-55243"/>
            <a:ext cx="6407229" cy="3479258"/>
          </a:xfrm>
          <a:custGeom>
            <a:avLst/>
            <a:gdLst>
              <a:gd name="connsiteX0" fmla="*/ 53408 w 6407229"/>
              <a:gd name="connsiteY0" fmla="*/ 3479258 h 3479258"/>
              <a:gd name="connsiteX1" fmla="*/ 6407229 w 6407229"/>
              <a:gd name="connsiteY1" fmla="*/ 3368352 h 3479258"/>
              <a:gd name="connsiteX2" fmla="*/ 2513111 w 6407229"/>
              <a:gd name="connsiteY2" fmla="*/ 401274 h 3479258"/>
              <a:gd name="connsiteX3" fmla="*/ 2468202 w 6407229"/>
              <a:gd name="connsiteY3" fmla="*/ 369022 h 3479258"/>
              <a:gd name="connsiteX4" fmla="*/ 1321050 w 6407229"/>
              <a:gd name="connsiteY4" fmla="*/ 613 h 3479258"/>
              <a:gd name="connsiteX5" fmla="*/ 1196752 w 6407229"/>
              <a:gd name="connsiteY5" fmla="*/ 1245 h 3479258"/>
              <a:gd name="connsiteX6" fmla="*/ 56027 w 6407229"/>
              <a:gd name="connsiteY6" fmla="*/ 376720 h 3479258"/>
              <a:gd name="connsiteX7" fmla="*/ 0 w 6407229"/>
              <a:gd name="connsiteY7" fmla="*/ 419528 h 3479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07229" h="3479258">
                <a:moveTo>
                  <a:pt x="53408" y="3479258"/>
                </a:moveTo>
                <a:lnTo>
                  <a:pt x="6407229" y="3368352"/>
                </a:lnTo>
                <a:lnTo>
                  <a:pt x="2513111" y="401274"/>
                </a:lnTo>
                <a:lnTo>
                  <a:pt x="2468202" y="369022"/>
                </a:lnTo>
                <a:cubicBezTo>
                  <a:pt x="2117855" y="130665"/>
                  <a:pt x="1719063" y="10130"/>
                  <a:pt x="1321050" y="613"/>
                </a:cubicBezTo>
                <a:cubicBezTo>
                  <a:pt x="1279590" y="-379"/>
                  <a:pt x="1238139" y="-165"/>
                  <a:pt x="1196752" y="1245"/>
                </a:cubicBezTo>
                <a:cubicBezTo>
                  <a:pt x="793227" y="14995"/>
                  <a:pt x="395796" y="142529"/>
                  <a:pt x="56027" y="376720"/>
                </a:cubicBezTo>
                <a:lnTo>
                  <a:pt x="0" y="419528"/>
                </a:lnTo>
                <a:close/>
              </a:path>
            </a:pathLst>
          </a:custGeom>
          <a:gradFill>
            <a:gsLst>
              <a:gs pos="32000">
                <a:schemeClr val="bg2"/>
              </a:gs>
              <a:gs pos="100000">
                <a:schemeClr val="accent1">
                  <a:lumMod val="60000"/>
                  <a:lumOff val="4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4705971-601E-2D15-E199-C8F31503D6EA}"/>
              </a:ext>
            </a:extLst>
          </p:cNvPr>
          <p:cNvSpPr>
            <a:spLocks noGrp="1"/>
          </p:cNvSpPr>
          <p:nvPr>
            <p:ph type="title"/>
          </p:nvPr>
        </p:nvSpPr>
        <p:spPr>
          <a:xfrm>
            <a:off x="1066800" y="1442904"/>
            <a:ext cx="3354198" cy="3037701"/>
          </a:xfrm>
        </p:spPr>
        <p:txBody>
          <a:bodyPr anchor="t">
            <a:normAutofit/>
          </a:bodyPr>
          <a:lstStyle/>
          <a:p>
            <a:pPr algn="r"/>
            <a:r>
              <a:rPr lang="en-US">
                <a:latin typeface="Montserrat"/>
              </a:rPr>
              <a:t>Key Findings &amp; Conclusion</a:t>
            </a:r>
            <a:endParaRPr lang="en-US"/>
          </a:p>
        </p:txBody>
      </p:sp>
      <p:sp>
        <p:nvSpPr>
          <p:cNvPr id="44" name="Content Placeholder 2">
            <a:extLst>
              <a:ext uri="{FF2B5EF4-FFF2-40B4-BE49-F238E27FC236}">
                <a16:creationId xmlns:a16="http://schemas.microsoft.com/office/drawing/2014/main" id="{B505CB38-7114-7E4B-8EAC-59676CB00640}"/>
              </a:ext>
            </a:extLst>
          </p:cNvPr>
          <p:cNvSpPr>
            <a:spLocks noGrp="1"/>
          </p:cNvSpPr>
          <p:nvPr>
            <p:ph idx="1"/>
          </p:nvPr>
        </p:nvSpPr>
        <p:spPr>
          <a:xfrm>
            <a:off x="5152845" y="1451294"/>
            <a:ext cx="5896155" cy="4263705"/>
          </a:xfrm>
        </p:spPr>
        <p:txBody>
          <a:bodyPr vert="horz" lIns="91440" tIns="45720" rIns="91440" bIns="45720" rtlCol="0" anchor="t">
            <a:normAutofit/>
          </a:bodyPr>
          <a:lstStyle/>
          <a:p>
            <a:pPr marL="0" indent="0">
              <a:lnSpc>
                <a:spcPct val="110000"/>
              </a:lnSpc>
              <a:buNone/>
            </a:pPr>
            <a:r>
              <a:rPr lang="en-US" sz="1200" b="1" dirty="0">
                <a:latin typeface="Montserrat"/>
              </a:rPr>
              <a:t>Key Data Insights</a:t>
            </a:r>
            <a:br>
              <a:rPr lang="en-US" sz="1200" dirty="0">
                <a:latin typeface="Montserrat"/>
              </a:rPr>
            </a:br>
            <a:endParaRPr lang="en-US" sz="1200">
              <a:latin typeface="Montserrat"/>
            </a:endParaRPr>
          </a:p>
          <a:p>
            <a:pPr>
              <a:lnSpc>
                <a:spcPct val="110000"/>
              </a:lnSpc>
            </a:pPr>
            <a:r>
              <a:rPr lang="en-US" sz="1200" b="1" dirty="0">
                <a:latin typeface="Montserrat"/>
                <a:cs typeface="Arial"/>
              </a:rPr>
              <a:t>Top Performer Highlights</a:t>
            </a:r>
            <a:br>
              <a:rPr lang="en-US" sz="1200" b="1" dirty="0">
                <a:latin typeface="Montserrat"/>
                <a:cs typeface="Arial"/>
              </a:rPr>
            </a:br>
            <a:r>
              <a:rPr lang="en-US" sz="1200" b="1" dirty="0">
                <a:latin typeface="Montserrat"/>
                <a:cs typeface="Arial"/>
              </a:rPr>
              <a:t>V. Kohli (39.87 avg), AB de Villiers, and DJ Bravo (81 wickets) stood out as consistent match-winners.</a:t>
            </a:r>
            <a:br>
              <a:rPr lang="en-US" sz="1200" dirty="0">
                <a:latin typeface="Montserrat"/>
              </a:rPr>
            </a:br>
            <a:endParaRPr lang="en-US" sz="1200">
              <a:latin typeface="Montserrat"/>
            </a:endParaRPr>
          </a:p>
          <a:p>
            <a:pPr>
              <a:lnSpc>
                <a:spcPct val="110000"/>
              </a:lnSpc>
            </a:pPr>
            <a:r>
              <a:rPr lang="en-US" sz="1200" b="1" dirty="0">
                <a:latin typeface="Montserrat"/>
                <a:cs typeface="Arial"/>
              </a:rPr>
              <a:t>All-Rounder Impact Identified</a:t>
            </a:r>
            <a:br>
              <a:rPr lang="en-US" sz="1200" b="1" dirty="0">
                <a:latin typeface="Montserrat"/>
                <a:cs typeface="Arial"/>
              </a:rPr>
            </a:br>
            <a:r>
              <a:rPr lang="en-US" sz="1200" b="1" dirty="0">
                <a:latin typeface="Montserrat"/>
                <a:cs typeface="Arial"/>
              </a:rPr>
              <a:t>Players like SR Watson (1315 runs, 54 wickets) and RA Jadeja (670 runs, 56 wickets) offer immense auction value.</a:t>
            </a:r>
            <a:br>
              <a:rPr lang="en-US" sz="1200" dirty="0">
                <a:latin typeface="Montserrat"/>
              </a:rPr>
            </a:br>
            <a:endParaRPr lang="en-US" sz="1200">
              <a:latin typeface="Montserrat"/>
            </a:endParaRPr>
          </a:p>
          <a:p>
            <a:pPr>
              <a:lnSpc>
                <a:spcPct val="110000"/>
              </a:lnSpc>
            </a:pPr>
            <a:r>
              <a:rPr lang="en-US" sz="1200" b="1" dirty="0">
                <a:latin typeface="Montserrat"/>
                <a:cs typeface="Arial"/>
              </a:rPr>
              <a:t>Venue-Specific Trends Matter</a:t>
            </a:r>
            <a:br>
              <a:rPr lang="en-US" sz="1200" b="1" dirty="0">
                <a:latin typeface="Montserrat"/>
                <a:cs typeface="Arial"/>
              </a:rPr>
            </a:br>
            <a:r>
              <a:rPr lang="en-US" sz="1200" b="1" dirty="0">
                <a:latin typeface="Montserrat"/>
                <a:cs typeface="Arial"/>
              </a:rPr>
              <a:t>RCB excels at M. </a:t>
            </a:r>
            <a:r>
              <a:rPr lang="en-US" sz="1200" b="1" err="1">
                <a:latin typeface="Montserrat"/>
                <a:cs typeface="Arial"/>
              </a:rPr>
              <a:t>Chinnaswamy</a:t>
            </a:r>
            <a:r>
              <a:rPr lang="en-US" sz="1200" b="1" dirty="0">
                <a:latin typeface="Montserrat"/>
                <a:cs typeface="Arial"/>
              </a:rPr>
              <a:t> (55.17%-win rate), but struggles at venues like Wankhede and Uppal.</a:t>
            </a:r>
            <a:br>
              <a:rPr lang="en-US" sz="1200" dirty="0">
                <a:latin typeface="Montserrat"/>
              </a:rPr>
            </a:br>
            <a:endParaRPr lang="en-US" sz="1200">
              <a:latin typeface="Montserrat"/>
            </a:endParaRPr>
          </a:p>
          <a:p>
            <a:pPr>
              <a:lnSpc>
                <a:spcPct val="110000"/>
              </a:lnSpc>
            </a:pPr>
            <a:r>
              <a:rPr lang="en-US" sz="1200" b="1" dirty="0">
                <a:latin typeface="Montserrat"/>
                <a:cs typeface="Arial"/>
              </a:rPr>
              <a:t>Toss Decisions Drive Outcomes</a:t>
            </a:r>
            <a:br>
              <a:rPr lang="en-US" sz="1200" b="1" dirty="0">
                <a:latin typeface="Montserrat"/>
                <a:cs typeface="Arial"/>
              </a:rPr>
            </a:br>
            <a:r>
              <a:rPr lang="en-US" sz="1200" b="1" dirty="0">
                <a:latin typeface="Montserrat"/>
                <a:cs typeface="Arial"/>
              </a:rPr>
              <a:t>Toss advantage evident at MA Chidambaram (72.73% win when batting first) – a key strategy factor.</a:t>
            </a:r>
            <a:endParaRPr lang="en-US" sz="1200">
              <a:latin typeface="Montserrat"/>
            </a:endParaRPr>
          </a:p>
          <a:p>
            <a:pPr>
              <a:lnSpc>
                <a:spcPct val="110000"/>
              </a:lnSpc>
            </a:pPr>
            <a:endParaRPr lang="en-US" sz="1100"/>
          </a:p>
        </p:txBody>
      </p:sp>
    </p:spTree>
    <p:extLst>
      <p:ext uri="{BB962C8B-B14F-4D97-AF65-F5344CB8AC3E}">
        <p14:creationId xmlns:p14="http://schemas.microsoft.com/office/powerpoint/2010/main" val="11669889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80300B1B-B85E-D514-C6B4-30126EBBCD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676B30C7-A5EB-62EB-4D41-ED75213FAE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540000" flipV="1">
            <a:off x="-23526" y="-55243"/>
            <a:ext cx="6407229" cy="3479258"/>
          </a:xfrm>
          <a:custGeom>
            <a:avLst/>
            <a:gdLst>
              <a:gd name="connsiteX0" fmla="*/ 53408 w 6407229"/>
              <a:gd name="connsiteY0" fmla="*/ 3479258 h 3479258"/>
              <a:gd name="connsiteX1" fmla="*/ 6407229 w 6407229"/>
              <a:gd name="connsiteY1" fmla="*/ 3368352 h 3479258"/>
              <a:gd name="connsiteX2" fmla="*/ 2513111 w 6407229"/>
              <a:gd name="connsiteY2" fmla="*/ 401274 h 3479258"/>
              <a:gd name="connsiteX3" fmla="*/ 2468202 w 6407229"/>
              <a:gd name="connsiteY3" fmla="*/ 369022 h 3479258"/>
              <a:gd name="connsiteX4" fmla="*/ 1321050 w 6407229"/>
              <a:gd name="connsiteY4" fmla="*/ 613 h 3479258"/>
              <a:gd name="connsiteX5" fmla="*/ 1196752 w 6407229"/>
              <a:gd name="connsiteY5" fmla="*/ 1245 h 3479258"/>
              <a:gd name="connsiteX6" fmla="*/ 56027 w 6407229"/>
              <a:gd name="connsiteY6" fmla="*/ 376720 h 3479258"/>
              <a:gd name="connsiteX7" fmla="*/ 0 w 6407229"/>
              <a:gd name="connsiteY7" fmla="*/ 419528 h 3479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07229" h="3479258">
                <a:moveTo>
                  <a:pt x="53408" y="3479258"/>
                </a:moveTo>
                <a:lnTo>
                  <a:pt x="6407229" y="3368352"/>
                </a:lnTo>
                <a:lnTo>
                  <a:pt x="2513111" y="401274"/>
                </a:lnTo>
                <a:lnTo>
                  <a:pt x="2468202" y="369022"/>
                </a:lnTo>
                <a:cubicBezTo>
                  <a:pt x="2117855" y="130665"/>
                  <a:pt x="1719063" y="10130"/>
                  <a:pt x="1321050" y="613"/>
                </a:cubicBezTo>
                <a:cubicBezTo>
                  <a:pt x="1279590" y="-379"/>
                  <a:pt x="1238139" y="-165"/>
                  <a:pt x="1196752" y="1245"/>
                </a:cubicBezTo>
                <a:cubicBezTo>
                  <a:pt x="793227" y="14995"/>
                  <a:pt x="395796" y="142529"/>
                  <a:pt x="56027" y="376720"/>
                </a:cubicBezTo>
                <a:lnTo>
                  <a:pt x="0" y="419528"/>
                </a:lnTo>
                <a:close/>
              </a:path>
            </a:pathLst>
          </a:custGeom>
          <a:gradFill>
            <a:gsLst>
              <a:gs pos="32000">
                <a:schemeClr val="bg2"/>
              </a:gs>
              <a:gs pos="100000">
                <a:schemeClr val="accent1">
                  <a:lumMod val="60000"/>
                  <a:lumOff val="4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B693F7A-97F8-B003-764B-0806B016F377}"/>
              </a:ext>
            </a:extLst>
          </p:cNvPr>
          <p:cNvSpPr>
            <a:spLocks noGrp="1"/>
          </p:cNvSpPr>
          <p:nvPr>
            <p:ph type="title"/>
          </p:nvPr>
        </p:nvSpPr>
        <p:spPr>
          <a:xfrm>
            <a:off x="1066800" y="1335509"/>
            <a:ext cx="4766932" cy="3151535"/>
          </a:xfrm>
        </p:spPr>
        <p:txBody>
          <a:bodyPr anchor="t">
            <a:normAutofit/>
          </a:bodyPr>
          <a:lstStyle/>
          <a:p>
            <a:r>
              <a:rPr lang="en-US" dirty="0">
                <a:latin typeface="Montserrat"/>
              </a:rPr>
              <a:t>Key Findings &amp; Conclusion</a:t>
            </a:r>
            <a:endParaRPr lang="en-US"/>
          </a:p>
        </p:txBody>
      </p:sp>
      <p:sp>
        <p:nvSpPr>
          <p:cNvPr id="31" name="Content Placeholder 2">
            <a:extLst>
              <a:ext uri="{FF2B5EF4-FFF2-40B4-BE49-F238E27FC236}">
                <a16:creationId xmlns:a16="http://schemas.microsoft.com/office/drawing/2014/main" id="{D25E3572-2810-6DE4-7C05-A8A37DDA03C4}"/>
              </a:ext>
            </a:extLst>
          </p:cNvPr>
          <p:cNvSpPr>
            <a:spLocks noGrp="1"/>
          </p:cNvSpPr>
          <p:nvPr>
            <p:ph idx="1"/>
          </p:nvPr>
        </p:nvSpPr>
        <p:spPr>
          <a:xfrm>
            <a:off x="6976732" y="1451294"/>
            <a:ext cx="4532757" cy="4263705"/>
          </a:xfrm>
        </p:spPr>
        <p:txBody>
          <a:bodyPr vert="horz" lIns="91440" tIns="45720" rIns="91440" bIns="45720" rtlCol="0" anchor="b">
            <a:noAutofit/>
          </a:bodyPr>
          <a:lstStyle/>
          <a:p>
            <a:pPr marL="0" indent="0">
              <a:lnSpc>
                <a:spcPct val="110000"/>
              </a:lnSpc>
              <a:buNone/>
            </a:pPr>
            <a:r>
              <a:rPr lang="en-US" sz="1200" b="1" dirty="0">
                <a:latin typeface="Montserrat"/>
              </a:rPr>
              <a:t>Future-Ready Strategy Recommendations</a:t>
            </a:r>
            <a:endParaRPr lang="en-US" sz="1200" dirty="0">
              <a:latin typeface="Montserrat"/>
            </a:endParaRPr>
          </a:p>
          <a:p>
            <a:pPr marL="0" indent="0">
              <a:lnSpc>
                <a:spcPct val="110000"/>
              </a:lnSpc>
              <a:buNone/>
            </a:pPr>
            <a:endParaRPr lang="en-US" sz="1200" dirty="0">
              <a:latin typeface="Montserrat"/>
            </a:endParaRPr>
          </a:p>
          <a:p>
            <a:pPr>
              <a:lnSpc>
                <a:spcPct val="110000"/>
              </a:lnSpc>
            </a:pPr>
            <a:r>
              <a:rPr lang="en-US" sz="1200" b="1" dirty="0">
                <a:latin typeface="Montserrat"/>
                <a:cs typeface="Arial"/>
              </a:rPr>
              <a:t>Prioritize All-Rounders in Auctions:</a:t>
            </a:r>
            <a:br>
              <a:rPr lang="en-US" sz="1200" b="1" dirty="0">
                <a:latin typeface="Montserrat"/>
                <a:cs typeface="Arial"/>
              </a:rPr>
            </a:br>
            <a:r>
              <a:rPr lang="en-US" sz="1200" dirty="0">
                <a:latin typeface="Montserrat"/>
                <a:cs typeface="Arial"/>
              </a:rPr>
              <a:t>Build a balanced squad with flexible options across departments.</a:t>
            </a:r>
            <a:endParaRPr lang="en-US" sz="1200" dirty="0">
              <a:latin typeface="Montserrat"/>
            </a:endParaRPr>
          </a:p>
          <a:p>
            <a:pPr>
              <a:lnSpc>
                <a:spcPct val="110000"/>
              </a:lnSpc>
            </a:pPr>
            <a:r>
              <a:rPr lang="en-US" sz="1200" b="1" dirty="0">
                <a:latin typeface="Montserrat"/>
                <a:cs typeface="Arial"/>
              </a:rPr>
              <a:t>Strengthen Bowling Attack:</a:t>
            </a:r>
            <a:br>
              <a:rPr lang="en-US" sz="1200" b="1" dirty="0">
                <a:latin typeface="Montserrat"/>
                <a:cs typeface="Arial"/>
              </a:rPr>
            </a:br>
            <a:r>
              <a:rPr lang="en-US" sz="1200" dirty="0">
                <a:latin typeface="Montserrat"/>
                <a:cs typeface="Arial"/>
              </a:rPr>
              <a:t>Focus on death-overs and spin talent to reduce run leakage and boost wicket-taking consistency.</a:t>
            </a:r>
            <a:br>
              <a:rPr lang="en-US" sz="1200" dirty="0">
                <a:latin typeface="Montserrat"/>
              </a:rPr>
            </a:br>
            <a:endParaRPr lang="en-US" sz="1200" dirty="0">
              <a:latin typeface="Montserrat"/>
            </a:endParaRPr>
          </a:p>
          <a:p>
            <a:pPr>
              <a:lnSpc>
                <a:spcPct val="110000"/>
              </a:lnSpc>
            </a:pPr>
            <a:r>
              <a:rPr lang="en-US" sz="1200" b="1" dirty="0">
                <a:latin typeface="Montserrat"/>
                <a:cs typeface="Arial"/>
              </a:rPr>
              <a:t>Adopt Venue-Based Squad Rotation:</a:t>
            </a:r>
            <a:br>
              <a:rPr lang="en-US" sz="1200" b="1" dirty="0">
                <a:latin typeface="Montserrat"/>
                <a:cs typeface="Arial"/>
              </a:rPr>
            </a:br>
            <a:r>
              <a:rPr lang="en-US" sz="1200" dirty="0">
                <a:latin typeface="Montserrat"/>
                <a:cs typeface="Arial"/>
              </a:rPr>
              <a:t>Tailor lineups to pitch and performance history across stadiums.</a:t>
            </a:r>
            <a:br>
              <a:rPr lang="en-US" sz="1200" dirty="0">
                <a:latin typeface="Montserrat"/>
              </a:rPr>
            </a:br>
            <a:endParaRPr lang="en-US" sz="1200" dirty="0">
              <a:latin typeface="Montserrat"/>
            </a:endParaRPr>
          </a:p>
          <a:p>
            <a:pPr>
              <a:lnSpc>
                <a:spcPct val="110000"/>
              </a:lnSpc>
            </a:pPr>
            <a:r>
              <a:rPr lang="en-US" sz="1200" b="1" dirty="0">
                <a:latin typeface="Montserrat"/>
                <a:cs typeface="Arial"/>
              </a:rPr>
              <a:t>Enhance Tactical Decisions Using Data:</a:t>
            </a:r>
            <a:br>
              <a:rPr lang="en-US" sz="1200" b="1" dirty="0">
                <a:latin typeface="Montserrat"/>
                <a:cs typeface="Arial"/>
              </a:rPr>
            </a:br>
            <a:r>
              <a:rPr lang="en-US" sz="1200" dirty="0">
                <a:latin typeface="Montserrat"/>
                <a:cs typeface="Arial"/>
              </a:rPr>
              <a:t>Leverage win percentage, match-ups, and toss analysis to optimize on-field choices.</a:t>
            </a:r>
          </a:p>
          <a:p>
            <a:pPr>
              <a:lnSpc>
                <a:spcPct val="110000"/>
              </a:lnSpc>
            </a:pPr>
            <a:r>
              <a:rPr lang="en-US" sz="1200" b="1" dirty="0">
                <a:latin typeface="Montserrat"/>
                <a:cs typeface="Arial"/>
              </a:rPr>
              <a:t>Integrate Advanced Analytics in Planning:</a:t>
            </a:r>
            <a:br>
              <a:rPr lang="en-US" sz="1200" b="1" dirty="0">
                <a:latin typeface="Montserrat"/>
                <a:cs typeface="Arial"/>
              </a:rPr>
            </a:br>
            <a:r>
              <a:rPr lang="en-US" sz="1200" dirty="0">
                <a:latin typeface="Montserrat"/>
                <a:cs typeface="Arial"/>
              </a:rPr>
              <a:t>Prepare for real-time strategy tools, predictive modeling, and opposition-based planning as outlined in the roadmap.</a:t>
            </a:r>
          </a:p>
          <a:p>
            <a:pPr>
              <a:lnSpc>
                <a:spcPct val="110000"/>
              </a:lnSpc>
            </a:pPr>
            <a:endParaRPr lang="en-US" sz="1200" dirty="0">
              <a:latin typeface="Montserrat"/>
            </a:endParaRPr>
          </a:p>
        </p:txBody>
      </p:sp>
    </p:spTree>
    <p:extLst>
      <p:ext uri="{BB962C8B-B14F-4D97-AF65-F5344CB8AC3E}">
        <p14:creationId xmlns:p14="http://schemas.microsoft.com/office/powerpoint/2010/main" val="40939466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48D7368D-31D9-8101-473D-CD39E706FD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6401" y="3378954"/>
            <a:ext cx="6394567" cy="3479046"/>
          </a:xfrm>
          <a:custGeom>
            <a:avLst/>
            <a:gdLst/>
            <a:ahLst/>
            <a:cxnLst/>
            <a:rect l="l" t="t" r="r" b="b"/>
            <a:pathLst>
              <a:path w="6394567" h="3479046">
                <a:moveTo>
                  <a:pt x="5171297" y="284"/>
                </a:moveTo>
                <a:cubicBezTo>
                  <a:pt x="5607674" y="7531"/>
                  <a:pt x="6039042" y="153650"/>
                  <a:pt x="6394290" y="430072"/>
                </a:cubicBezTo>
                <a:lnTo>
                  <a:pt x="6394567" y="430316"/>
                </a:lnTo>
                <a:lnTo>
                  <a:pt x="6394567" y="3479046"/>
                </a:lnTo>
                <a:lnTo>
                  <a:pt x="0" y="3479046"/>
                </a:lnTo>
                <a:lnTo>
                  <a:pt x="3916974" y="405504"/>
                </a:lnTo>
                <a:lnTo>
                  <a:pt x="3959456" y="373857"/>
                </a:lnTo>
                <a:cubicBezTo>
                  <a:pt x="4291086" y="139664"/>
                  <a:pt x="4671097" y="17528"/>
                  <a:pt x="5052215" y="1756"/>
                </a:cubicBezTo>
                <a:cubicBezTo>
                  <a:pt x="5091916" y="114"/>
                  <a:pt x="5131627" y="-375"/>
                  <a:pt x="5171297" y="284"/>
                </a:cubicBezTo>
                <a:close/>
              </a:path>
            </a:pathLst>
          </a:custGeom>
          <a:gradFill>
            <a:gsLst>
              <a:gs pos="39000">
                <a:schemeClr val="bg2"/>
              </a:gs>
              <a:gs pos="100000">
                <a:schemeClr val="accent1">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0" name="Rectangle 9">
            <a:extLst>
              <a:ext uri="{FF2B5EF4-FFF2-40B4-BE49-F238E27FC236}">
                <a16:creationId xmlns:a16="http://schemas.microsoft.com/office/drawing/2014/main" id="{8630C961-0799-6F2C-F4A0-764ED342E6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77B0CBB1-5421-8AB0-8BD6-C8F8859F94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0" y="0"/>
            <a:ext cx="4291463" cy="1828798"/>
          </a:xfrm>
          <a:custGeom>
            <a:avLst/>
            <a:gdLst>
              <a:gd name="connsiteX0" fmla="*/ 4291463 w 4291463"/>
              <a:gd name="connsiteY0" fmla="*/ 1828798 h 1828798"/>
              <a:gd name="connsiteX1" fmla="*/ 0 w 4291463"/>
              <a:gd name="connsiteY1" fmla="*/ 1828798 h 1828798"/>
              <a:gd name="connsiteX2" fmla="*/ 1813870 w 4291463"/>
              <a:gd name="connsiteY2" fmla="*/ 405504 h 1828798"/>
              <a:gd name="connsiteX3" fmla="*/ 1856352 w 4291463"/>
              <a:gd name="connsiteY3" fmla="*/ 373857 h 1828798"/>
              <a:gd name="connsiteX4" fmla="*/ 2949111 w 4291463"/>
              <a:gd name="connsiteY4" fmla="*/ 1756 h 1828798"/>
              <a:gd name="connsiteX5" fmla="*/ 3068193 w 4291463"/>
              <a:gd name="connsiteY5" fmla="*/ 284 h 1828798"/>
              <a:gd name="connsiteX6" fmla="*/ 4291186 w 4291463"/>
              <a:gd name="connsiteY6" fmla="*/ 430072 h 1828798"/>
              <a:gd name="connsiteX7" fmla="*/ 4291463 w 4291463"/>
              <a:gd name="connsiteY7" fmla="*/ 430316 h 1828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91463" h="1828798">
                <a:moveTo>
                  <a:pt x="4291463" y="1828798"/>
                </a:moveTo>
                <a:lnTo>
                  <a:pt x="0" y="1828798"/>
                </a:lnTo>
                <a:lnTo>
                  <a:pt x="1813870" y="405504"/>
                </a:lnTo>
                <a:lnTo>
                  <a:pt x="1856352" y="373857"/>
                </a:lnTo>
                <a:cubicBezTo>
                  <a:pt x="2187982" y="139664"/>
                  <a:pt x="2567993" y="17528"/>
                  <a:pt x="2949111" y="1756"/>
                </a:cubicBezTo>
                <a:cubicBezTo>
                  <a:pt x="2988812" y="114"/>
                  <a:pt x="3028523" y="-375"/>
                  <a:pt x="3068193" y="284"/>
                </a:cubicBezTo>
                <a:cubicBezTo>
                  <a:pt x="3504570" y="7531"/>
                  <a:pt x="3935938" y="153650"/>
                  <a:pt x="4291186" y="430072"/>
                </a:cubicBezTo>
                <a:lnTo>
                  <a:pt x="4291463" y="430316"/>
                </a:lnTo>
                <a:close/>
              </a:path>
            </a:pathLst>
          </a:custGeom>
          <a:gradFill>
            <a:gsLst>
              <a:gs pos="28000">
                <a:schemeClr val="bg2"/>
              </a:gs>
              <a:gs pos="100000">
                <a:schemeClr val="accent1">
                  <a:lumMod val="60000"/>
                  <a:lumOff val="40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F8CBFC43-B5A1-1ADD-90E0-C5427EC753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000" flipH="1">
            <a:off x="4620200" y="2812310"/>
            <a:ext cx="7602366" cy="4111195"/>
          </a:xfrm>
          <a:custGeom>
            <a:avLst/>
            <a:gdLst>
              <a:gd name="connsiteX0" fmla="*/ 1266091 w 7602366"/>
              <a:gd name="connsiteY0" fmla="*/ 1707 h 4111195"/>
              <a:gd name="connsiteX1" fmla="*/ 36097 w 7602366"/>
              <a:gd name="connsiteY1" fmla="*/ 317762 h 4111195"/>
              <a:gd name="connsiteX2" fmla="*/ 0 w 7602366"/>
              <a:gd name="connsiteY2" fmla="*/ 337363 h 4111195"/>
              <a:gd name="connsiteX3" fmla="*/ 65872 w 7602366"/>
              <a:gd name="connsiteY3" fmla="*/ 4111195 h 4111195"/>
              <a:gd name="connsiteX4" fmla="*/ 7602366 w 7602366"/>
              <a:gd name="connsiteY4" fmla="*/ 3979645 h 4111195"/>
              <a:gd name="connsiteX5" fmla="*/ 3071280 w 7602366"/>
              <a:gd name="connsiteY5" fmla="*/ 550286 h 4111195"/>
              <a:gd name="connsiteX6" fmla="*/ 3009694 w 7602366"/>
              <a:gd name="connsiteY6" fmla="*/ 506058 h 4111195"/>
              <a:gd name="connsiteX7" fmla="*/ 1436547 w 7602366"/>
              <a:gd name="connsiteY7" fmla="*/ 840 h 4111195"/>
              <a:gd name="connsiteX8" fmla="*/ 1266091 w 7602366"/>
              <a:gd name="connsiteY8" fmla="*/ 1707 h 4111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2366" h="4111195">
                <a:moveTo>
                  <a:pt x="1266091" y="1707"/>
                </a:moveTo>
                <a:cubicBezTo>
                  <a:pt x="840419" y="16212"/>
                  <a:pt x="419691" y="123046"/>
                  <a:pt x="36097" y="317762"/>
                </a:cubicBezTo>
                <a:lnTo>
                  <a:pt x="0" y="337363"/>
                </a:lnTo>
                <a:lnTo>
                  <a:pt x="65872" y="4111195"/>
                </a:lnTo>
                <a:lnTo>
                  <a:pt x="7602366" y="3979645"/>
                </a:lnTo>
                <a:lnTo>
                  <a:pt x="3071280" y="550286"/>
                </a:lnTo>
                <a:lnTo>
                  <a:pt x="3009694" y="506058"/>
                </a:lnTo>
                <a:cubicBezTo>
                  <a:pt x="2529246" y="179187"/>
                  <a:pt x="1982362" y="13891"/>
                  <a:pt x="1436547" y="840"/>
                </a:cubicBezTo>
                <a:cubicBezTo>
                  <a:pt x="1379692" y="-519"/>
                  <a:pt x="1322847" y="-227"/>
                  <a:pt x="1266091" y="1707"/>
                </a:cubicBezTo>
                <a:close/>
              </a:path>
            </a:pathLst>
          </a:custGeom>
          <a:gradFill>
            <a:gsLst>
              <a:gs pos="32000">
                <a:schemeClr val="bg2"/>
              </a:gs>
              <a:gs pos="100000">
                <a:schemeClr val="accent1">
                  <a:lumMod val="60000"/>
                  <a:lumOff val="4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131516F-97A3-F1E6-C9A1-96F123895EFD}"/>
              </a:ext>
            </a:extLst>
          </p:cNvPr>
          <p:cNvSpPr>
            <a:spLocks noGrp="1"/>
          </p:cNvSpPr>
          <p:nvPr>
            <p:ph type="title"/>
          </p:nvPr>
        </p:nvSpPr>
        <p:spPr>
          <a:xfrm>
            <a:off x="1066801" y="1985313"/>
            <a:ext cx="5029200" cy="2392655"/>
          </a:xfrm>
        </p:spPr>
        <p:txBody>
          <a:bodyPr vert="horz" lIns="91440" tIns="45720" rIns="91440" bIns="45720" rtlCol="0" anchor="b">
            <a:normAutofit/>
          </a:bodyPr>
          <a:lstStyle/>
          <a:p>
            <a:pPr>
              <a:lnSpc>
                <a:spcPct val="100000"/>
              </a:lnSpc>
            </a:pPr>
            <a:r>
              <a:rPr lang="en-US" sz="3600"/>
              <a:t>THANK YOU</a:t>
            </a:r>
          </a:p>
        </p:txBody>
      </p:sp>
    </p:spTree>
    <p:extLst>
      <p:ext uri="{BB962C8B-B14F-4D97-AF65-F5344CB8AC3E}">
        <p14:creationId xmlns:p14="http://schemas.microsoft.com/office/powerpoint/2010/main" val="1804971724"/>
      </p:ext>
    </p:extLst>
  </p:cSld>
  <p:clrMapOvr>
    <a:masterClrMapping/>
  </p:clrMapOvr>
</p:sld>
</file>

<file path=ppt/theme/theme1.xml><?xml version="1.0" encoding="utf-8"?>
<a:theme xmlns:a="http://schemas.openxmlformats.org/drawingml/2006/main" name="SwellVTI">
  <a:themeElements>
    <a:clrScheme name="Swell">
      <a:dk1>
        <a:sysClr val="windowText" lastClr="000000"/>
      </a:dk1>
      <a:lt1>
        <a:sysClr val="window" lastClr="FFFFFF"/>
      </a:lt1>
      <a:dk2>
        <a:srgbClr val="233B47"/>
      </a:dk2>
      <a:lt2>
        <a:srgbClr val="FEEFD9"/>
      </a:lt2>
      <a:accent1>
        <a:srgbClr val="16AEA7"/>
      </a:accent1>
      <a:accent2>
        <a:srgbClr val="618F88"/>
      </a:accent2>
      <a:accent3>
        <a:srgbClr val="7A9973"/>
      </a:accent3>
      <a:accent4>
        <a:srgbClr val="8AAE8E"/>
      </a:accent4>
      <a:accent5>
        <a:srgbClr val="EB8F60"/>
      </a:accent5>
      <a:accent6>
        <a:srgbClr val="E57A6F"/>
      </a:accent6>
      <a:hlink>
        <a:srgbClr val="13968F"/>
      </a:hlink>
      <a:folHlink>
        <a:srgbClr val="E56152"/>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wellVTI" id="{8361A04D-931A-43DC-973B-1B0B1DD5DECC}" vid="{6DDB23E8-D18E-4BDA-98D6-324466149EBD}"/>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SwellVTI</vt:lpstr>
      <vt:lpstr>SQL Project: RCB - IPL Strategy  </vt:lpstr>
      <vt:lpstr>Problem Statement</vt:lpstr>
      <vt:lpstr>    Objective </vt:lpstr>
      <vt:lpstr>Data Description</vt:lpstr>
      <vt:lpstr>Data Description</vt:lpstr>
      <vt:lpstr>Data Description</vt:lpstr>
      <vt:lpstr>Data Description</vt:lpstr>
      <vt:lpstr>Database Schema</vt:lpstr>
      <vt:lpstr>  Methodology</vt:lpstr>
      <vt:lpstr>Methodology</vt:lpstr>
      <vt:lpstr>Wickets Taken per Season</vt:lpstr>
      <vt:lpstr>Runs scored per match </vt:lpstr>
      <vt:lpstr>Toss Decision Impact</vt:lpstr>
      <vt:lpstr>Team Insights: RCB Performance Analysis</vt:lpstr>
      <vt:lpstr>All – Rounder &amp; Consistent Performers</vt:lpstr>
      <vt:lpstr>Strategic KPIs for Team Success</vt:lpstr>
      <vt:lpstr>Data-driven Player Recommendations</vt:lpstr>
      <vt:lpstr>Data-driven Player Recommendations</vt:lpstr>
      <vt:lpstr>Key Findings &amp; Conclusion</vt:lpstr>
      <vt:lpstr>Key Findings &amp; 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753</cp:revision>
  <dcterms:created xsi:type="dcterms:W3CDTF">2025-12-30T07:18:54Z</dcterms:created>
  <dcterms:modified xsi:type="dcterms:W3CDTF">2026-01-02T05:39:25Z</dcterms:modified>
</cp:coreProperties>
</file>